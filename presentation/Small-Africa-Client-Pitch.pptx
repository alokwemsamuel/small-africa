
<file path=[Content_Types].xml><?xml version="1.0" encoding="utf-8"?>
<Types xmlns="http://schemas.openxmlformats.org/package/2006/content-types">
  <Default Extension="fntdata" ContentType="application/x-fontdata"/>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embeddedFontLst>
    <p:embeddedFont>
      <p:font typeface="Calibri" panose="020F0502020204030204" pitchFamily="34" charset="0"/>
      <p:regular r:id="rId21"/>
      <p:bold r:id="rId22"/>
      <p:italic r:id="rId23"/>
      <p:boldItalic r:id="rId24"/>
    </p:embeddedFont>
    <p:embeddedFont>
      <p:font typeface="Cormorant Garamond SemiBold" pitchFamily="2" charset="0"/>
      <p:bold r:id="rId25"/>
      <p:boldItalic r:id="rId26"/>
    </p:embeddedFont>
    <p:embeddedFont>
      <p:font typeface="Italiana" pitchFamily="2" charset="0"/>
      <p:regular r:id="rId27"/>
    </p:embeddedFont>
    <p:embeddedFont>
      <p:font typeface="Manrope" pitchFamily="2" charset="0"/>
      <p:regular r:id="rId28"/>
    </p:embeddedFont>
    <p:embeddedFont>
      <p:font typeface="Manrope SemiBold" pitchFamily="2" charset="0"/>
      <p:bold r:id="rId2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7289F63-D204-2F05-3C79-54B41AEE60A5}">
          <p14:sldIdLst>
            <p14:sldId id="256"/>
            <p14:sldId id="257"/>
            <p14:sldId id="258"/>
            <p14:sldId id="259"/>
          </p14:sldIdLst>
        </p14:section>
        <p14:section name="The guest experience" id="{C504AA39-371B-AE74-681B-B305AB21DCA8}">
          <p14:sldIdLst>
            <p14:sldId id="260"/>
            <p14:sldId id="261"/>
            <p14:sldId id="262"/>
            <p14:sldId id="263"/>
            <p14:sldId id="264"/>
            <p14:sldId id="265"/>
          </p14:sldIdLst>
        </p14:section>
        <p14:section name="Running the restaurant" id="{1D42FF4A-DE1A-74D9-24D2-E4F37C47ADD8}">
          <p14:sldIdLst>
            <p14:sldId id="266"/>
            <p14:sldId id="267"/>
            <p14:sldId id="268"/>
          </p14:sldIdLst>
        </p14:section>
        <p14:section name="Launch &amp; beyond" id="{56B39339-FE6D-00A6-6AD7-C2FDC9E70EB1}">
          <p14:sldIdLst>
            <p14:sldId id="269"/>
            <p14:sldId id="270"/>
            <p14:sldId id="271"/>
          </p14:sldIdLst>
        </p14:section>
        <p14:section name="Close" id="{78DC1F57-A119-24B0-682A-5B98007CED0A}">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8518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thank everyone for their time. Introduce yourself in one line. Say the purpose: in the next 15 minutes you will show the finished Small Africa platform: the website, ordering and payments, reservations, the Interest Account loyalty programme and the admin panel. Mention that everything they will see is working software, not a mock-up, and that they can try it on their own phones at the end (QR code on slide 17).</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vision in one sentence: the most talked-about table in Lagos, and the easiest one to book. Nobody else in Lagos puts Nigerian, Polish and Continental cooking at this level in one room, which is the story the brand and the website tell. Point to the three kitchens and their colours: they appear everywhere in the site, from the menu filters to the admin charts.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problems the platform solves. Ask the client which one costs them most today; usually it is bookings and repeat visits. Keep it short: one sentence per card. The next slide shows the answer.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the restaurant needs is in one system that the team controls. No separate booking tool, no separate loyalty app. Each of the five items gets its own slide and a live demo in a moment.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brand was designed first, then the website was built from it. Obsidian and gold for luxury; a colour for each kitchen. Three typefaces: Cormorant Garamond for headings, Manrope for everything you read, and Italiana only for the tagline. Show the dark and light themes: the site follows the guest’s phone setting or their choice. The brand guide PDF, Instagram templates and an A4 menu card are in the design folder.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journey left to right. The important point is the last step: “Return”. The Interest Account and points turn a first visit into a habit. Because orders and bookings happen on the restaurant’s own site, Small Africa keeps the customer relationship and pays no commission.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open the menu, filter by Polish, then tick “No pork”: an important filter for many Lagos guests. Open Smoky Party Jollof to show a dish page. Every dish has its own page, so Google can find “pierogi in Lagos” or “party jollof Victoria Island”. The kitchen changes prices and marks dishes sold out from the admin, with no developer needed.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pick tomorrow, four guests, the Terrace, and a time. The booking appears straight away in the front-desk view in the admin. Capacity is set per area and time slot, so the site never offers a table that isn’t there. Weddings, corporate events and private dining come in through the Events page as enquiries.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add Jollof and Pierogi, check out for pickup later today, apply WELCOME10, and pay in the Paystack window. In the demo the Paystack window is simulated; on the live site it is the real one. Card details never touch our server, and an order is only confirmed after the payment is verified with Paystack.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sign in as the guest member: Gold tier, ₦68,500 balance, 2,340 points. Top up ₦50,000 and show the bonus. Explain simply: guests put money on their account, get a bonus, and every month balances of ₦20,000 or more earn 2% as extra dining credit, capped at ₦5,000. Money on account brings them back. Be clear it is dining credit, not a savings product; we recommend a lawyer reviews the Rewards Terms before launch. Also mention the live order tracking page.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admin window. The dashboard is the manager’s morning screen: revenue, orders per kitchen and busy hours. Open the order you just placed and move it to “Preparing”. Then show the menu manager and the Interest Account manager, including “Simulate month-end interest” (demo only). Roles: Super Admin, Manager, front desk and kitchen. The kitchen can’t see revenue and the front desk can’t change prices. Every change is recorded in the audit log.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Reassure, don’t lecture. Card details never reach our server. Staff accounts use two-factor sign-in. Each role only sees what it needs, and the audit log records who changed what. Interest Account balances are calculated from ledgers that are never edited, only added to, and a reconcile check confirms every balance matches them. The code is covered by 321 automated tests. The privacy policy follows Nigeria’s Data Protection Act 2023.</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Lighthouse is Google’s own test for speed, accessibility, good practice and search. These are the lowest scores across every public page, so every page is at least this good. Mobile is the hard one: Lighthouse simulates a mid-range phone on a slow 4G connection. The public pages are pre-built as ready-made pages, so they appear straight away. Hold up your phone and open the live demo now.</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plan is in docs/MARKETING_PLAN.md, with a day-by-day 30-day calendar. Highlights: Google Business Profile first, because that is how Lagos finds restaurants. Influencers each get their own coupon code, so the admin panel shows exactly which creator brought orders. The Polish community is a unique audience nobody else serves. Corporate lunches fill the quiet weekday hours. The goal: 1,000 Interest Account members and 100 Google reviews in 90 days.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software is ready. What remains depends mostly on the client: business details, Paystack verification (usually a few days), domain and hosting, and a lawyer’s review of the Rewards Terms. Four weeks to launch is realistic if those come in quickly. The “Grow” items are suggestions for after launch, quoted separately.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packages, from “keep it safe and running” to “a digital team on call”. Recommend Growth for the first six months: launch always brings small changes. Prices are in the written proposal; talk through them there rather than on screen. New features (for example gift cards or delivery-app integration) are quoted separately.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everyone to scan the QR code. Nothing they do can break it: it runs on invented data in their own browser, and “Reset demo data” in the ribbon starts it over. The member and admin sign-ins are on screen and on the sign-in page under “Demo credentials”. Give them a minute to explore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them, then open for questions. The presentation guide (docs/PRESENTATION_GUIDE.md) lists the questions clients usually ask, with answers. Close by agreeing the four next steps on screen and who owns each one, and leave the go-live checklist with them.</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A_CONTENT">
    <p:bg>
      <p:bgPr>
        <a:solidFill>
          <a:schemeClr val="bg1"/>
        </a:solidFill>
        <a:effectLst/>
      </p:bgPr>
    </p:bg>
    <p:spTree>
      <p:nvGrpSpPr>
        <p:cNvPr id="1" name=""/>
        <p:cNvGrpSpPr/>
        <p:nvPr/>
      </p:nvGrpSpPr>
      <p:grpSpPr>
        <a:xfrm>
          <a:off x="0" y="0"/>
          <a:ext cx="0" cy="0"/>
          <a:chOff x="0" y="0"/>
          <a:chExt cx="0" cy="0"/>
        </a:xfrm>
      </p:grpSpPr>
      <p:pic>
        <p:nvPicPr>
          <p:cNvPr id="2" name="Image 0" descr="C:\xampp\htdocs\SmallAfrica\design\logo\small-africa-mark-gold-512.png"/>
          <p:cNvPicPr>
            <a:picLocks noChangeAspect="1"/>
          </p:cNvPicPr>
          <p:nvPr/>
        </p:nvPicPr>
        <p:blipFill>
          <a:blip r:embed="rId2"/>
          <a:stretch>
            <a:fillRect/>
          </a:stretch>
        </p:blipFill>
        <p:spPr>
          <a:xfrm>
            <a:off x="11332159" y="6272784"/>
            <a:ext cx="310896" cy="310896"/>
          </a:xfrm>
          <a:prstGeom prst="rect">
            <a:avLst/>
          </a:prstGeom>
        </p:spPr>
      </p:pic>
      <p:sp>
        <p:nvSpPr>
          <p:cNvPr id="3" name="Text 0"/>
          <p:cNvSpPr>
            <a:spLocks noGrp="1"/>
          </p:cNvSpPr>
          <p:nvPr>
            <p:ph type="body" idx="101" hasCustomPrompt="1"/>
          </p:nvPr>
        </p:nvSpPr>
        <p:spPr>
          <a:xfrm>
            <a:off x="548640" y="384048"/>
            <a:ext cx="8229600" cy="310896"/>
          </a:xfrm>
          <a:prstGeom prst="rect">
            <a:avLst/>
          </a:prstGeom>
          <a:noFill/>
          <a:ln/>
        </p:spPr>
        <p:txBody>
          <a:bodyPr wrap="square" rtlCol="0"/>
          <a:lstStyle>
            <a:lvl1pPr marL="0" indent="0">
              <a:buNone/>
              <a:defRPr lang="en-US" sz="1200" kern="0" spc="300" dirty="0">
                <a:solidFill>
                  <a:schemeClr val="accent1"/>
                </a:solidFill>
                <a:latin typeface="Manrope SemiBold" pitchFamily="34" charset="0"/>
                <a:ea typeface="Manrope SemiBold" pitchFamily="34" charset="-122"/>
                <a:cs typeface="Manrope SemiBold" pitchFamily="34" charset="-120"/>
              </a:defRPr>
            </a:lvl1pPr>
          </a:lstStyle>
          <a:p>
            <a:pPr marL="0" indent="0">
              <a:buNone/>
            </a:pPr>
            <a:endParaRPr lang="en-US" sz="1200" dirty="0"/>
          </a:p>
        </p:txBody>
      </p:sp>
      <p:sp>
        <p:nvSpPr>
          <p:cNvPr id="4" name="Text 0"/>
          <p:cNvSpPr>
            <a:spLocks noGrp="1"/>
          </p:cNvSpPr>
          <p:nvPr>
            <p:ph type="title" idx="102" hasCustomPrompt="1"/>
          </p:nvPr>
        </p:nvSpPr>
        <p:spPr>
          <a:xfrm>
            <a:off x="548640" y="676656"/>
            <a:ext cx="11094415" cy="786384"/>
          </a:xfrm>
          <a:prstGeom prst="rect">
            <a:avLst/>
          </a:prstGeom>
          <a:noFill/>
          <a:ln/>
        </p:spPr>
        <p:txBody>
          <a:bodyPr wrap="square" rtlCol="0"/>
          <a:lstStyle>
            <a:lvl1pPr marL="0" indent="0" algn="l">
              <a:buNone/>
              <a:defRPr lang="en-US" sz="3800" dirty="0">
                <a:solidFill>
                  <a:schemeClr val="tx1"/>
                </a:solidFill>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10500055" y="6309360"/>
            <a:ext cx="73152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Manrope"/>
                <a:ea typeface="Manrope"/>
                <a:cs typeface="Manrope"/>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A_COVER">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500055" y="6309360"/>
            <a:ext cx="73152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Manrope"/>
                <a:ea typeface="Manrope"/>
                <a:cs typeface="Manrope"/>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jpg"/></Relationships>
</file>

<file path=ppt/slides/_rels/slide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7.jp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hyperlink" Target="https://alokwemsamuel.github.io/small-africa/" TargetMode="Externa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photo" descr="The chandelier room"/>
          <p:cNvPicPr>
            <a:picLocks noChangeAspect="1"/>
          </p:cNvPicPr>
          <p:nvPr/>
        </p:nvPicPr>
        <p:blipFill>
          <a:blip r:embed="rId3"/>
          <a:srcRect/>
          <a:stretch/>
        </p:blipFill>
        <p:spPr>
          <a:xfrm>
            <a:off x="0" y="0"/>
            <a:ext cx="12191695" cy="6858000"/>
          </a:xfrm>
          <a:prstGeom prst="rect">
            <a:avLst/>
          </a:prstGeom>
        </p:spPr>
      </p:pic>
      <p:sp>
        <p:nvSpPr>
          <p:cNvPr id="3" name="cover-shade"/>
          <p:cNvSpPr/>
          <p:nvPr/>
        </p:nvSpPr>
        <p:spPr>
          <a:xfrm>
            <a:off x="0" y="0"/>
            <a:ext cx="12191695" cy="6858000"/>
          </a:xfrm>
          <a:prstGeom prst="rect">
            <a:avLst/>
          </a:prstGeom>
          <a:solidFill>
            <a:schemeClr val="bg1">
              <a:alpha val="70000"/>
            </a:schemeClr>
          </a:solidFill>
          <a:ln w="12700">
            <a:solidFill>
              <a:schemeClr val="bg1">
                <a:alpha val="0"/>
              </a:schemeClr>
            </a:solidFill>
            <a:prstDash val="solid"/>
          </a:ln>
        </p:spPr>
      </p:sp>
      <p:pic>
        <p:nvPicPr>
          <p:cNvPr id="4" name="logo" descr="Small Africa logo"/>
          <p:cNvPicPr>
            <a:picLocks noChangeAspect="1"/>
          </p:cNvPicPr>
          <p:nvPr/>
        </p:nvPicPr>
        <p:blipFill>
          <a:blip r:embed="rId4"/>
          <a:stretch>
            <a:fillRect/>
          </a:stretch>
        </p:blipFill>
        <p:spPr>
          <a:xfrm>
            <a:off x="548640" y="640080"/>
            <a:ext cx="3108960" cy="919811"/>
          </a:xfrm>
          <a:prstGeom prst="rect">
            <a:avLst/>
          </a:prstGeom>
        </p:spPr>
      </p:pic>
      <p:sp>
        <p:nvSpPr>
          <p:cNvPr id="5" name="text-1"/>
          <p:cNvSpPr txBox="1"/>
          <p:nvPr/>
        </p:nvSpPr>
        <p:spPr>
          <a:xfrm>
            <a:off x="548640" y="2331720"/>
            <a:ext cx="8229600" cy="914400"/>
          </a:xfrm>
          <a:prstGeom prst="rect">
            <a:avLst/>
          </a:prstGeom>
          <a:noFill/>
          <a:ln/>
        </p:spPr>
        <p:txBody>
          <a:bodyPr wrap="square" lIns="0" tIns="0" rIns="0" bIns="0" rtlCol="0" anchor="t"/>
          <a:lstStyle/>
          <a:p>
            <a:pPr marL="0" indent="0">
              <a:buNone/>
            </a:pPr>
            <a:r>
              <a:rPr lang="en-US" sz="6000" dirty="0">
                <a:solidFill>
                  <a:schemeClr val="tx1"/>
                </a:solidFill>
                <a:latin typeface="Cormorant Garamond SemiBold" pitchFamily="34" charset="0"/>
                <a:ea typeface="Cormorant Garamond SemiBold" pitchFamily="34" charset="-122"/>
                <a:cs typeface="Cormorant Garamond SemiBold" pitchFamily="34" charset="-120"/>
              </a:rPr>
              <a:t>Three kitchens.</a:t>
            </a:r>
            <a:endParaRPr lang="en-US" sz="6000" dirty="0"/>
          </a:p>
        </p:txBody>
      </p:sp>
      <p:sp>
        <p:nvSpPr>
          <p:cNvPr id="6" name="text-2"/>
          <p:cNvSpPr txBox="1"/>
          <p:nvPr/>
        </p:nvSpPr>
        <p:spPr>
          <a:xfrm>
            <a:off x="548640" y="3154680"/>
            <a:ext cx="8229600" cy="914400"/>
          </a:xfrm>
          <a:prstGeom prst="rect">
            <a:avLst/>
          </a:prstGeom>
          <a:noFill/>
          <a:ln/>
        </p:spPr>
        <p:txBody>
          <a:bodyPr wrap="square" lIns="0" tIns="0" rIns="0" bIns="0" rtlCol="0" anchor="t"/>
          <a:lstStyle/>
          <a:p>
            <a:pPr marL="0" indent="0">
              <a:buNone/>
            </a:pPr>
            <a:r>
              <a:rPr lang="en-US" sz="5600" dirty="0">
                <a:solidFill>
                  <a:schemeClr val="accent6"/>
                </a:solidFill>
                <a:latin typeface="Italiana" pitchFamily="34" charset="0"/>
                <a:ea typeface="Italiana" pitchFamily="34" charset="-122"/>
                <a:cs typeface="Italiana" pitchFamily="34" charset="-120"/>
              </a:rPr>
              <a:t>One table.</a:t>
            </a:r>
            <a:endParaRPr lang="en-US" sz="5600" dirty="0"/>
          </a:p>
        </p:txBody>
      </p:sp>
      <p:sp>
        <p:nvSpPr>
          <p:cNvPr id="7" name="text-3"/>
          <p:cNvSpPr txBox="1"/>
          <p:nvPr/>
        </p:nvSpPr>
        <p:spPr>
          <a:xfrm>
            <a:off x="548640" y="4343400"/>
            <a:ext cx="6766560" cy="822960"/>
          </a:xfrm>
          <a:prstGeom prst="rect">
            <a:avLst/>
          </a:prstGeom>
          <a:noFill/>
          <a:ln/>
        </p:spPr>
        <p:txBody>
          <a:bodyPr wrap="square" lIns="0" tIns="0" rIns="0" bIns="0" rtlCol="0" anchor="t"/>
          <a:lstStyle/>
          <a:p>
            <a:pPr marL="0" indent="0">
              <a:buNone/>
            </a:pPr>
            <a:r>
              <a:rPr lang="en-US" sz="1800" dirty="0">
                <a:solidFill>
                  <a:schemeClr val="tx2"/>
                </a:solidFill>
              </a:rPr>
              <a:t>Website, online ordering, reservations and the Interest Account for Lagos’s Nigerian, Polish and Continental restaurant</a:t>
            </a:r>
            <a:endParaRPr lang="en-US" sz="1800" dirty="0"/>
          </a:p>
        </p:txBody>
      </p:sp>
      <p:sp>
        <p:nvSpPr>
          <p:cNvPr id="8" name="text-4"/>
          <p:cNvSpPr txBox="1"/>
          <p:nvPr/>
        </p:nvSpPr>
        <p:spPr>
          <a:xfrm>
            <a:off x="548640" y="5989320"/>
            <a:ext cx="5486400" cy="274320"/>
          </a:xfrm>
          <a:prstGeom prst="rect">
            <a:avLst/>
          </a:prstGeom>
          <a:noFill/>
          <a:ln/>
        </p:spPr>
        <p:txBody>
          <a:bodyPr wrap="square" lIns="0" tIns="0" rIns="0" bIns="0" rtlCol="0" anchor="t"/>
          <a:lstStyle/>
          <a:p>
            <a:pPr marL="0" indent="0">
              <a:buNone/>
            </a:pPr>
            <a:r>
              <a:rPr lang="en-US" sz="1200" kern="0" spc="300" dirty="0">
                <a:solidFill>
                  <a:schemeClr val="accent1"/>
                </a:solidFill>
                <a:latin typeface="Manrope SemiBold" pitchFamily="34" charset="0"/>
                <a:ea typeface="Manrope SemiBold" pitchFamily="34" charset="-122"/>
                <a:cs typeface="Manrope SemiBold" pitchFamily="34" charset="-120"/>
              </a:rPr>
              <a:t>CLIENT PRESENTATION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84048"/>
            <a:ext cx="8229600" cy="310896"/>
          </a:xfrm>
          <a:prstGeom prst="rect">
            <a:avLst/>
          </a:prstGeom>
          <a:noFill/>
          <a:ln/>
        </p:spPr>
        <p:txBody>
          <a:bodyPr wrap="square" lIns="0" tIns="0" rIns="0" bIns="0" rtlCol="0"/>
          <a:lstStyle/>
          <a:p>
            <a:pPr marL="0" indent="0">
              <a:buNone/>
            </a:pPr>
            <a:r>
              <a:rPr lang="en-US" sz="1200" kern="0" spc="300" dirty="0">
                <a:solidFill>
                  <a:schemeClr val="accent1"/>
                </a:solidFill>
                <a:latin typeface="Manrope SemiBold" pitchFamily="34" charset="0"/>
                <a:ea typeface="Manrope SemiBold" pitchFamily="34" charset="-122"/>
                <a:cs typeface="Manrope SemiBold" pitchFamily="34" charset="-120"/>
              </a:rPr>
              <a:t>01 · VISION</a:t>
            </a:r>
            <a:endParaRPr lang="en-US" sz="1200" dirty="0"/>
          </a:p>
        </p:txBody>
      </p:sp>
      <p:sp>
        <p:nvSpPr>
          <p:cNvPr id="3" name="Text 0"/>
          <p:cNvSpPr>
            <a:spLocks noGrp="1"/>
          </p:cNvSpPr>
          <p:nvPr>
            <p:ph type="title" idx="102" hasCustomPrompt="1"/>
          </p:nvPr>
        </p:nvSpPr>
        <p:spPr>
          <a:xfrm>
            <a:off x="548640" y="676656"/>
            <a:ext cx="11094415" cy="786384"/>
          </a:xfrm>
          <a:prstGeom prst="rect">
            <a:avLst/>
          </a:prstGeom>
          <a:noFill/>
          <a:ln/>
        </p:spPr>
        <p:txBody>
          <a:bodyPr wrap="square" lIns="0" tIns="0" rIns="0" bIns="0" rtlCol="0" anchor="t"/>
          <a:lstStyle/>
          <a:p>
            <a:pPr marL="0" indent="0" algn="l">
              <a:buNone/>
            </a:pPr>
            <a:r>
              <a:rPr lang="en-US" sz="3800" dirty="0">
                <a:solidFill>
                  <a:schemeClr val="tx1"/>
                </a:solidFill>
              </a:rPr>
              <a:t>The table Lagos talks about, and the easiest one to book</a:t>
            </a:r>
            <a:endParaRPr lang="en-US" sz="3800" dirty="0"/>
          </a:p>
        </p:txBody>
      </p:sp>
      <p:pic>
        <p:nvPicPr>
          <p:cNvPr id="4" name="dining-photo" descr="The dining room"/>
          <p:cNvPicPr>
            <a:picLocks noChangeAspect="1"/>
          </p:cNvPicPr>
          <p:nvPr/>
        </p:nvPicPr>
        <p:blipFill>
          <a:blip r:embed="rId3"/>
          <a:srcRect/>
          <a:stretch/>
        </p:blipFill>
        <p:spPr>
          <a:xfrm>
            <a:off x="6720840" y="1783080"/>
            <a:ext cx="4919472" cy="4206240"/>
          </a:xfrm>
          <a:prstGeom prst="rect">
            <a:avLst/>
          </a:prstGeom>
        </p:spPr>
      </p:pic>
      <p:sp>
        <p:nvSpPr>
          <p:cNvPr id="5" name="text-5"/>
          <p:cNvSpPr txBox="1"/>
          <p:nvPr/>
        </p:nvSpPr>
        <p:spPr>
          <a:xfrm>
            <a:off x="548640" y="1828800"/>
            <a:ext cx="5669280" cy="1463040"/>
          </a:xfrm>
          <a:prstGeom prst="rect">
            <a:avLst/>
          </a:prstGeom>
          <a:noFill/>
          <a:ln/>
        </p:spPr>
        <p:txBody>
          <a:bodyPr wrap="square" lIns="0" tIns="0" rIns="0" bIns="0" rtlCol="0" anchor="t"/>
          <a:lstStyle/>
          <a:p>
            <a:pPr marL="0" indent="0">
              <a:buNone/>
            </a:pPr>
            <a:r>
              <a:rPr lang="en-US" sz="1800" dirty="0">
                <a:solidFill>
                  <a:schemeClr val="tx2"/>
                </a:solidFill>
              </a:rPr>
              <a:t>Small Africa brings three kitchens together under one roof, cooked properly and served with care. The website has to feel like the restaurant: warm, confident and luxurious. And it has to work hard.</a:t>
            </a:r>
            <a:endParaRPr lang="en-US" sz="1800" dirty="0"/>
          </a:p>
        </p:txBody>
      </p:sp>
      <p:sp>
        <p:nvSpPr>
          <p:cNvPr id="6" name="dot-6"/>
          <p:cNvSpPr/>
          <p:nvPr/>
        </p:nvSpPr>
        <p:spPr>
          <a:xfrm>
            <a:off x="548640" y="3657600"/>
            <a:ext cx="384048" cy="384048"/>
          </a:xfrm>
          <a:prstGeom prst="ellipse">
            <a:avLst/>
          </a:prstGeom>
          <a:solidFill>
            <a:schemeClr val="accent2"/>
          </a:solidFill>
          <a:ln w="12700">
            <a:solidFill>
              <a:schemeClr val="accent2"/>
            </a:solidFill>
            <a:prstDash val="solid"/>
          </a:ln>
        </p:spPr>
      </p:sp>
      <p:sp>
        <p:nvSpPr>
          <p:cNvPr id="7" name="text-7"/>
          <p:cNvSpPr txBox="1"/>
          <p:nvPr/>
        </p:nvSpPr>
        <p:spPr>
          <a:xfrm>
            <a:off x="548640" y="3657600"/>
            <a:ext cx="384048" cy="384048"/>
          </a:xfrm>
          <a:prstGeom prst="rect">
            <a:avLst/>
          </a:prstGeom>
          <a:noFill/>
          <a:ln/>
        </p:spPr>
        <p:txBody>
          <a:bodyPr wrap="square" lIns="0" tIns="0" rIns="0" bIns="0" rtlCol="0" anchor="ctr"/>
          <a:lstStyle/>
          <a:p>
            <a:pPr marL="0" indent="0" algn="ctr">
              <a:buNone/>
            </a:pPr>
            <a:r>
              <a:rPr lang="en-US" sz="1200" dirty="0">
                <a:solidFill>
                  <a:schemeClr val="tx1"/>
                </a:solidFill>
                <a:latin typeface="Manrope SemiBold" pitchFamily="34" charset="0"/>
                <a:ea typeface="Manrope SemiBold" pitchFamily="34" charset="-122"/>
                <a:cs typeface="Manrope SemiBold" pitchFamily="34" charset="-120"/>
              </a:rPr>
              <a:t>1</a:t>
            </a:r>
            <a:endParaRPr lang="en-US" sz="1200" dirty="0"/>
          </a:p>
        </p:txBody>
      </p:sp>
      <p:sp>
        <p:nvSpPr>
          <p:cNvPr id="8" name="text-8"/>
          <p:cNvSpPr txBox="1"/>
          <p:nvPr/>
        </p:nvSpPr>
        <p:spPr>
          <a:xfrm>
            <a:off x="1115568" y="3611880"/>
            <a:ext cx="4937760" cy="292608"/>
          </a:xfrm>
          <a:prstGeom prst="rect">
            <a:avLst/>
          </a:prstGeom>
          <a:noFill/>
          <a:ln/>
        </p:spPr>
        <p:txBody>
          <a:bodyPr wrap="square" lIns="0" tIns="0" rIns="0" bIns="0" rtlCol="0" anchor="t"/>
          <a:lstStyle/>
          <a:p>
            <a:pPr marL="0" indent="0">
              <a:buNone/>
            </a:pPr>
            <a:r>
              <a:rPr lang="en-US" sz="1700" dirty="0">
                <a:solidFill>
                  <a:schemeClr val="tx1"/>
                </a:solidFill>
                <a:latin typeface="Manrope SemiBold" pitchFamily="34" charset="0"/>
                <a:ea typeface="Manrope SemiBold" pitchFamily="34" charset="-122"/>
                <a:cs typeface="Manrope SemiBold" pitchFamily="34" charset="-120"/>
              </a:rPr>
              <a:t>Nigerian</a:t>
            </a:r>
            <a:endParaRPr lang="en-US" sz="1700" dirty="0"/>
          </a:p>
        </p:txBody>
      </p:sp>
      <p:sp>
        <p:nvSpPr>
          <p:cNvPr id="9" name="text-9"/>
          <p:cNvSpPr txBox="1"/>
          <p:nvPr/>
        </p:nvSpPr>
        <p:spPr>
          <a:xfrm>
            <a:off x="1115568" y="3913632"/>
            <a:ext cx="4937760" cy="292608"/>
          </a:xfrm>
          <a:prstGeom prst="rect">
            <a:avLst/>
          </a:prstGeom>
          <a:noFill/>
          <a:ln/>
        </p:spPr>
        <p:txBody>
          <a:bodyPr wrap="square" lIns="0" tIns="0" rIns="0" bIns="0" rtlCol="0" anchor="t"/>
          <a:lstStyle/>
          <a:p>
            <a:pPr marL="0" indent="0">
              <a:buNone/>
            </a:pPr>
            <a:r>
              <a:rPr lang="en-US" sz="1400" dirty="0">
                <a:solidFill>
                  <a:schemeClr val="tx2"/>
                </a:solidFill>
              </a:rPr>
              <a:t>Smoky party jollof, suya, egusi</a:t>
            </a:r>
            <a:endParaRPr lang="en-US" sz="1400" dirty="0"/>
          </a:p>
        </p:txBody>
      </p:sp>
      <p:sp>
        <p:nvSpPr>
          <p:cNvPr id="10" name="dot-10"/>
          <p:cNvSpPr/>
          <p:nvPr/>
        </p:nvSpPr>
        <p:spPr>
          <a:xfrm>
            <a:off x="548640" y="4443984"/>
            <a:ext cx="384048" cy="384048"/>
          </a:xfrm>
          <a:prstGeom prst="ellipse">
            <a:avLst/>
          </a:prstGeom>
          <a:solidFill>
            <a:schemeClr val="accent3"/>
          </a:solidFill>
          <a:ln w="12700">
            <a:solidFill>
              <a:schemeClr val="accent3"/>
            </a:solidFill>
            <a:prstDash val="solid"/>
          </a:ln>
        </p:spPr>
      </p:sp>
      <p:sp>
        <p:nvSpPr>
          <p:cNvPr id="11" name="text-11"/>
          <p:cNvSpPr txBox="1"/>
          <p:nvPr/>
        </p:nvSpPr>
        <p:spPr>
          <a:xfrm>
            <a:off x="548640" y="4443984"/>
            <a:ext cx="384048" cy="384048"/>
          </a:xfrm>
          <a:prstGeom prst="rect">
            <a:avLst/>
          </a:prstGeom>
          <a:noFill/>
          <a:ln/>
        </p:spPr>
        <p:txBody>
          <a:bodyPr wrap="square" lIns="0" tIns="0" rIns="0" bIns="0" rtlCol="0" anchor="ctr"/>
          <a:lstStyle/>
          <a:p>
            <a:pPr marL="0" indent="0" algn="ctr">
              <a:buNone/>
            </a:pPr>
            <a:r>
              <a:rPr lang="en-US" sz="1200" dirty="0">
                <a:solidFill>
                  <a:schemeClr val="tx1"/>
                </a:solidFill>
                <a:latin typeface="Manrope SemiBold" pitchFamily="34" charset="0"/>
                <a:ea typeface="Manrope SemiBold" pitchFamily="34" charset="-122"/>
                <a:cs typeface="Manrope SemiBold" pitchFamily="34" charset="-120"/>
              </a:rPr>
              <a:t>2</a:t>
            </a:r>
            <a:endParaRPr lang="en-US" sz="1200" dirty="0"/>
          </a:p>
        </p:txBody>
      </p:sp>
      <p:sp>
        <p:nvSpPr>
          <p:cNvPr id="12" name="text-12"/>
          <p:cNvSpPr txBox="1"/>
          <p:nvPr/>
        </p:nvSpPr>
        <p:spPr>
          <a:xfrm>
            <a:off x="1115568" y="4398264"/>
            <a:ext cx="4937760" cy="292608"/>
          </a:xfrm>
          <a:prstGeom prst="rect">
            <a:avLst/>
          </a:prstGeom>
          <a:noFill/>
          <a:ln/>
        </p:spPr>
        <p:txBody>
          <a:bodyPr wrap="square" lIns="0" tIns="0" rIns="0" bIns="0" rtlCol="0" anchor="t"/>
          <a:lstStyle/>
          <a:p>
            <a:pPr marL="0" indent="0">
              <a:buNone/>
            </a:pPr>
            <a:r>
              <a:rPr lang="en-US" sz="1700" dirty="0">
                <a:solidFill>
                  <a:schemeClr val="tx1"/>
                </a:solidFill>
                <a:latin typeface="Manrope SemiBold" pitchFamily="34" charset="0"/>
                <a:ea typeface="Manrope SemiBold" pitchFamily="34" charset="-122"/>
                <a:cs typeface="Manrope SemiBold" pitchFamily="34" charset="-120"/>
              </a:rPr>
              <a:t>Polish</a:t>
            </a:r>
            <a:endParaRPr lang="en-US" sz="1700" dirty="0"/>
          </a:p>
        </p:txBody>
      </p:sp>
      <p:sp>
        <p:nvSpPr>
          <p:cNvPr id="13" name="text-13"/>
          <p:cNvSpPr txBox="1"/>
          <p:nvPr/>
        </p:nvSpPr>
        <p:spPr>
          <a:xfrm>
            <a:off x="1115568" y="4700016"/>
            <a:ext cx="4937760" cy="292608"/>
          </a:xfrm>
          <a:prstGeom prst="rect">
            <a:avLst/>
          </a:prstGeom>
          <a:noFill/>
          <a:ln/>
        </p:spPr>
        <p:txBody>
          <a:bodyPr wrap="square" lIns="0" tIns="0" rIns="0" bIns="0" rtlCol="0" anchor="t"/>
          <a:lstStyle/>
          <a:p>
            <a:pPr marL="0" indent="0">
              <a:buNone/>
            </a:pPr>
            <a:r>
              <a:rPr lang="en-US" sz="1400" dirty="0">
                <a:solidFill>
                  <a:schemeClr val="tx2"/>
                </a:solidFill>
              </a:rPr>
              <a:t>Pierogi, żurek, pączki</a:t>
            </a:r>
            <a:endParaRPr lang="en-US" sz="1400" dirty="0"/>
          </a:p>
        </p:txBody>
      </p:sp>
      <p:sp>
        <p:nvSpPr>
          <p:cNvPr id="14" name="dot-14"/>
          <p:cNvSpPr/>
          <p:nvPr/>
        </p:nvSpPr>
        <p:spPr>
          <a:xfrm>
            <a:off x="548640" y="5230368"/>
            <a:ext cx="384048" cy="384048"/>
          </a:xfrm>
          <a:prstGeom prst="ellipse">
            <a:avLst/>
          </a:prstGeom>
          <a:solidFill>
            <a:schemeClr val="accent4"/>
          </a:solidFill>
          <a:ln w="12700">
            <a:solidFill>
              <a:schemeClr val="accent4"/>
            </a:solidFill>
            <a:prstDash val="solid"/>
          </a:ln>
        </p:spPr>
      </p:sp>
      <p:sp>
        <p:nvSpPr>
          <p:cNvPr id="15" name="text-15"/>
          <p:cNvSpPr txBox="1"/>
          <p:nvPr/>
        </p:nvSpPr>
        <p:spPr>
          <a:xfrm>
            <a:off x="548640" y="5230368"/>
            <a:ext cx="384048" cy="384048"/>
          </a:xfrm>
          <a:prstGeom prst="rect">
            <a:avLst/>
          </a:prstGeom>
          <a:noFill/>
          <a:ln/>
        </p:spPr>
        <p:txBody>
          <a:bodyPr wrap="square" lIns="0" tIns="0" rIns="0" bIns="0" rtlCol="0" anchor="ctr"/>
          <a:lstStyle/>
          <a:p>
            <a:pPr marL="0" indent="0" algn="ctr">
              <a:buNone/>
            </a:pPr>
            <a:r>
              <a:rPr lang="en-US" sz="1200" dirty="0">
                <a:solidFill>
                  <a:schemeClr val="tx1"/>
                </a:solidFill>
                <a:latin typeface="Manrope SemiBold" pitchFamily="34" charset="0"/>
                <a:ea typeface="Manrope SemiBold" pitchFamily="34" charset="-122"/>
                <a:cs typeface="Manrope SemiBold" pitchFamily="34" charset="-120"/>
              </a:rPr>
              <a:t>3</a:t>
            </a:r>
            <a:endParaRPr lang="en-US" sz="1200" dirty="0"/>
          </a:p>
        </p:txBody>
      </p:sp>
      <p:sp>
        <p:nvSpPr>
          <p:cNvPr id="16" name="text-16"/>
          <p:cNvSpPr txBox="1"/>
          <p:nvPr/>
        </p:nvSpPr>
        <p:spPr>
          <a:xfrm>
            <a:off x="1115568" y="5184648"/>
            <a:ext cx="4937760" cy="292608"/>
          </a:xfrm>
          <a:prstGeom prst="rect">
            <a:avLst/>
          </a:prstGeom>
          <a:noFill/>
          <a:ln/>
        </p:spPr>
        <p:txBody>
          <a:bodyPr wrap="square" lIns="0" tIns="0" rIns="0" bIns="0" rtlCol="0" anchor="t"/>
          <a:lstStyle/>
          <a:p>
            <a:pPr marL="0" indent="0">
              <a:buNone/>
            </a:pPr>
            <a:r>
              <a:rPr lang="en-US" sz="1700" dirty="0">
                <a:solidFill>
                  <a:schemeClr val="tx1"/>
                </a:solidFill>
                <a:latin typeface="Manrope SemiBold" pitchFamily="34" charset="0"/>
                <a:ea typeface="Manrope SemiBold" pitchFamily="34" charset="-122"/>
                <a:cs typeface="Manrope SemiBold" pitchFamily="34" charset="-120"/>
              </a:rPr>
              <a:t>Continental</a:t>
            </a:r>
            <a:endParaRPr lang="en-US" sz="1700" dirty="0"/>
          </a:p>
        </p:txBody>
      </p:sp>
      <p:sp>
        <p:nvSpPr>
          <p:cNvPr id="17" name="text-17"/>
          <p:cNvSpPr txBox="1"/>
          <p:nvPr/>
        </p:nvSpPr>
        <p:spPr>
          <a:xfrm>
            <a:off x="1115568" y="5486400"/>
            <a:ext cx="4937760" cy="292608"/>
          </a:xfrm>
          <a:prstGeom prst="rect">
            <a:avLst/>
          </a:prstGeom>
          <a:noFill/>
          <a:ln/>
        </p:spPr>
        <p:txBody>
          <a:bodyPr wrap="square" lIns="0" tIns="0" rIns="0" bIns="0" rtlCol="0" anchor="t"/>
          <a:lstStyle/>
          <a:p>
            <a:pPr marL="0" indent="0">
              <a:buNone/>
            </a:pPr>
            <a:r>
              <a:rPr lang="en-US" sz="1400" dirty="0">
                <a:solidFill>
                  <a:schemeClr val="tx2"/>
                </a:solidFill>
              </a:rPr>
              <a:t>Beef Wellington, lobster thermidor</a:t>
            </a:r>
            <a:endParaRPr lang="en-US" sz="1400" dirty="0"/>
          </a:p>
        </p:txBody>
      </p:sp>
      <p:sp>
        <p:nvSpPr>
          <p:cNvPr id="25" name="Slide Number Placeholder 0"/>
          <p:cNvSpPr>
            <a:spLocks noGrp="1"/>
          </p:cNvSpPr>
          <p:nvPr>
            <p:ph type="sldNum" sz="quarter" idx="4294967295"/>
          </p:nvPr>
        </p:nvSpPr>
        <p:spPr>
          <a:xfrm>
            <a:off x="10500055" y="6309360"/>
            <a:ext cx="73152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Manrope"/>
                <a:ea typeface="Manrope"/>
                <a:cs typeface="Manrope"/>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84048"/>
            <a:ext cx="8229600" cy="310896"/>
          </a:xfrm>
          <a:prstGeom prst="rect">
            <a:avLst/>
          </a:prstGeom>
          <a:noFill/>
          <a:ln/>
        </p:spPr>
        <p:txBody>
          <a:bodyPr wrap="square" lIns="0" tIns="0" rIns="0" bIns="0" rtlCol="0"/>
          <a:lstStyle/>
          <a:p>
            <a:pPr marL="0" indent="0">
              <a:buNone/>
            </a:pPr>
            <a:r>
              <a:rPr lang="en-US" sz="1200" kern="0" spc="300" dirty="0">
                <a:solidFill>
                  <a:schemeClr val="accent1"/>
                </a:solidFill>
                <a:latin typeface="Manrope SemiBold" pitchFamily="34" charset="0"/>
                <a:ea typeface="Manrope SemiBold" pitchFamily="34" charset="-122"/>
                <a:cs typeface="Manrope SemiBold" pitchFamily="34" charset="-120"/>
              </a:rPr>
              <a:t>02 · THE PROBLEM</a:t>
            </a:r>
            <a:endParaRPr lang="en-US" sz="1200" dirty="0"/>
          </a:p>
        </p:txBody>
      </p:sp>
      <p:sp>
        <p:nvSpPr>
          <p:cNvPr id="3" name="Text 0"/>
          <p:cNvSpPr>
            <a:spLocks noGrp="1"/>
          </p:cNvSpPr>
          <p:nvPr>
            <p:ph type="title" idx="102" hasCustomPrompt="1"/>
          </p:nvPr>
        </p:nvSpPr>
        <p:spPr>
          <a:xfrm>
            <a:off x="548640" y="676656"/>
            <a:ext cx="11094415" cy="786384"/>
          </a:xfrm>
          <a:prstGeom prst="rect">
            <a:avLst/>
          </a:prstGeom>
          <a:noFill/>
          <a:ln/>
        </p:spPr>
        <p:txBody>
          <a:bodyPr wrap="square" lIns="0" tIns="0" rIns="0" bIns="0" rtlCol="0" anchor="t"/>
          <a:lstStyle/>
          <a:p>
            <a:pPr marL="0" indent="0" algn="l">
              <a:buNone/>
            </a:pPr>
            <a:r>
              <a:rPr lang="en-US" sz="3800" dirty="0">
                <a:solidFill>
                  <a:schemeClr val="tx1"/>
                </a:solidFill>
              </a:rPr>
              <a:t>Great food is not enough to fill a room</a:t>
            </a:r>
            <a:endParaRPr lang="en-US" sz="3800" dirty="0"/>
          </a:p>
        </p:txBody>
      </p:sp>
      <p:sp>
        <p:nvSpPr>
          <p:cNvPr id="4" name="card-18"/>
          <p:cNvSpPr/>
          <p:nvPr/>
        </p:nvSpPr>
        <p:spPr>
          <a:xfrm>
            <a:off x="548640" y="1828800"/>
            <a:ext cx="5440680" cy="1874520"/>
          </a:xfrm>
          <a:prstGeom prst="roundRect">
            <a:avLst>
              <a:gd name="adj" fmla="val 4878"/>
            </a:avLst>
          </a:prstGeom>
          <a:solidFill>
            <a:schemeClr val="bg2"/>
          </a:solidFill>
          <a:ln w="12700">
            <a:solidFill>
              <a:schemeClr val="bg2"/>
            </a:solidFill>
            <a:prstDash val="solid"/>
          </a:ln>
        </p:spPr>
      </p:sp>
      <p:sp>
        <p:nvSpPr>
          <p:cNvPr id="5" name="dot-19"/>
          <p:cNvSpPr/>
          <p:nvPr/>
        </p:nvSpPr>
        <p:spPr>
          <a:xfrm>
            <a:off x="868680" y="2176272"/>
            <a:ext cx="457200" cy="457200"/>
          </a:xfrm>
          <a:prstGeom prst="ellipse">
            <a:avLst/>
          </a:prstGeom>
          <a:solidFill>
            <a:schemeClr val="accent1"/>
          </a:solidFill>
          <a:ln w="12700">
            <a:solidFill>
              <a:schemeClr val="accent1"/>
            </a:solidFill>
            <a:prstDash val="solid"/>
          </a:ln>
        </p:spPr>
      </p:sp>
      <p:sp>
        <p:nvSpPr>
          <p:cNvPr id="6" name="text-20"/>
          <p:cNvSpPr txBox="1"/>
          <p:nvPr/>
        </p:nvSpPr>
        <p:spPr>
          <a:xfrm>
            <a:off x="868680" y="2176272"/>
            <a:ext cx="457200" cy="457200"/>
          </a:xfrm>
          <a:prstGeom prst="rect">
            <a:avLst/>
          </a:prstGeom>
          <a:noFill/>
          <a:ln/>
        </p:spPr>
        <p:txBody>
          <a:bodyPr wrap="square" lIns="0" tIns="0" rIns="0" bIns="0" rtlCol="0" anchor="ctr"/>
          <a:lstStyle/>
          <a:p>
            <a:pPr marL="0" indent="0" algn="ctr">
              <a:buNone/>
            </a:pPr>
            <a:r>
              <a:rPr lang="en-US" sz="1200" dirty="0">
                <a:solidFill>
                  <a:schemeClr val="bg1"/>
                </a:solidFill>
                <a:latin typeface="Manrope SemiBold" pitchFamily="34" charset="0"/>
                <a:ea typeface="Manrope SemiBold" pitchFamily="34" charset="-122"/>
                <a:cs typeface="Manrope SemiBold" pitchFamily="34" charset="-120"/>
              </a:rPr>
              <a:t>1</a:t>
            </a:r>
            <a:endParaRPr lang="en-US" sz="1200" dirty="0"/>
          </a:p>
        </p:txBody>
      </p:sp>
      <p:sp>
        <p:nvSpPr>
          <p:cNvPr id="7" name="text-21"/>
          <p:cNvSpPr txBox="1"/>
          <p:nvPr/>
        </p:nvSpPr>
        <p:spPr>
          <a:xfrm>
            <a:off x="1554480" y="2176272"/>
            <a:ext cx="4206240" cy="384048"/>
          </a:xfrm>
          <a:prstGeom prst="rect">
            <a:avLst/>
          </a:prstGeom>
          <a:noFill/>
          <a:ln/>
        </p:spPr>
        <p:txBody>
          <a:bodyPr wrap="square" lIns="0" tIns="0" rIns="0" bIns="0" rtlCol="0" anchor="t"/>
          <a:lstStyle/>
          <a:p>
            <a:pPr marL="0" indent="0">
              <a:buNone/>
            </a:pPr>
            <a:r>
              <a:rPr lang="en-US" sz="1800" dirty="0">
                <a:solidFill>
                  <a:schemeClr val="tx1"/>
                </a:solidFill>
                <a:latin typeface="Manrope SemiBold" pitchFamily="34" charset="0"/>
                <a:ea typeface="Manrope SemiBold" pitchFamily="34" charset="-122"/>
                <a:cs typeface="Manrope SemiBold" pitchFamily="34" charset="-120"/>
              </a:rPr>
              <a:t>Diners decide on their phone</a:t>
            </a:r>
            <a:endParaRPr lang="en-US" sz="1800" dirty="0"/>
          </a:p>
        </p:txBody>
      </p:sp>
      <p:sp>
        <p:nvSpPr>
          <p:cNvPr id="8" name="text-22"/>
          <p:cNvSpPr txBox="1"/>
          <p:nvPr/>
        </p:nvSpPr>
        <p:spPr>
          <a:xfrm>
            <a:off x="1554480" y="2606040"/>
            <a:ext cx="4206240" cy="960120"/>
          </a:xfrm>
          <a:prstGeom prst="rect">
            <a:avLst/>
          </a:prstGeom>
          <a:noFill/>
          <a:ln/>
        </p:spPr>
        <p:txBody>
          <a:bodyPr wrap="square" lIns="0" tIns="0" rIns="0" bIns="0" rtlCol="0" anchor="t"/>
          <a:lstStyle/>
          <a:p>
            <a:pPr marL="0" indent="0">
              <a:buNone/>
            </a:pPr>
            <a:r>
              <a:rPr lang="en-US" sz="1400" dirty="0">
                <a:solidFill>
                  <a:schemeClr val="tx2"/>
                </a:solidFill>
              </a:rPr>
              <a:t>They find restaurants on Instagram and Google Maps and leave if the menu is slow, a PDF, or out of date.</a:t>
            </a:r>
            <a:endParaRPr lang="en-US" sz="1400" dirty="0"/>
          </a:p>
        </p:txBody>
      </p:sp>
      <p:sp>
        <p:nvSpPr>
          <p:cNvPr id="9" name="card-23"/>
          <p:cNvSpPr/>
          <p:nvPr/>
        </p:nvSpPr>
        <p:spPr>
          <a:xfrm>
            <a:off x="6190488" y="1828800"/>
            <a:ext cx="5440680" cy="1874520"/>
          </a:xfrm>
          <a:prstGeom prst="roundRect">
            <a:avLst>
              <a:gd name="adj" fmla="val 4878"/>
            </a:avLst>
          </a:prstGeom>
          <a:solidFill>
            <a:schemeClr val="bg2"/>
          </a:solidFill>
          <a:ln w="12700">
            <a:solidFill>
              <a:schemeClr val="bg2"/>
            </a:solidFill>
            <a:prstDash val="solid"/>
          </a:ln>
        </p:spPr>
      </p:sp>
      <p:sp>
        <p:nvSpPr>
          <p:cNvPr id="10" name="dot-24"/>
          <p:cNvSpPr/>
          <p:nvPr/>
        </p:nvSpPr>
        <p:spPr>
          <a:xfrm>
            <a:off x="6510528" y="2176272"/>
            <a:ext cx="457200" cy="457200"/>
          </a:xfrm>
          <a:prstGeom prst="ellipse">
            <a:avLst/>
          </a:prstGeom>
          <a:solidFill>
            <a:schemeClr val="accent1"/>
          </a:solidFill>
          <a:ln w="12700">
            <a:solidFill>
              <a:schemeClr val="accent1"/>
            </a:solidFill>
            <a:prstDash val="solid"/>
          </a:ln>
        </p:spPr>
      </p:sp>
      <p:sp>
        <p:nvSpPr>
          <p:cNvPr id="11" name="text-25"/>
          <p:cNvSpPr txBox="1"/>
          <p:nvPr/>
        </p:nvSpPr>
        <p:spPr>
          <a:xfrm>
            <a:off x="6510528" y="2176272"/>
            <a:ext cx="457200" cy="457200"/>
          </a:xfrm>
          <a:prstGeom prst="rect">
            <a:avLst/>
          </a:prstGeom>
          <a:noFill/>
          <a:ln/>
        </p:spPr>
        <p:txBody>
          <a:bodyPr wrap="square" lIns="0" tIns="0" rIns="0" bIns="0" rtlCol="0" anchor="ctr"/>
          <a:lstStyle/>
          <a:p>
            <a:pPr marL="0" indent="0" algn="ctr">
              <a:buNone/>
            </a:pPr>
            <a:r>
              <a:rPr lang="en-US" sz="1200" dirty="0">
                <a:solidFill>
                  <a:schemeClr val="bg1"/>
                </a:solidFill>
                <a:latin typeface="Manrope SemiBold" pitchFamily="34" charset="0"/>
                <a:ea typeface="Manrope SemiBold" pitchFamily="34" charset="-122"/>
                <a:cs typeface="Manrope SemiBold" pitchFamily="34" charset="-120"/>
              </a:rPr>
              <a:t>2</a:t>
            </a:r>
            <a:endParaRPr lang="en-US" sz="1200" dirty="0"/>
          </a:p>
        </p:txBody>
      </p:sp>
      <p:sp>
        <p:nvSpPr>
          <p:cNvPr id="12" name="text-26"/>
          <p:cNvSpPr txBox="1"/>
          <p:nvPr/>
        </p:nvSpPr>
        <p:spPr>
          <a:xfrm>
            <a:off x="7196328" y="2176272"/>
            <a:ext cx="4206240" cy="384048"/>
          </a:xfrm>
          <a:prstGeom prst="rect">
            <a:avLst/>
          </a:prstGeom>
          <a:noFill/>
          <a:ln/>
        </p:spPr>
        <p:txBody>
          <a:bodyPr wrap="square" lIns="0" tIns="0" rIns="0" bIns="0" rtlCol="0" anchor="t"/>
          <a:lstStyle/>
          <a:p>
            <a:pPr marL="0" indent="0">
              <a:buNone/>
            </a:pPr>
            <a:r>
              <a:rPr lang="en-US" sz="1800" dirty="0">
                <a:solidFill>
                  <a:schemeClr val="tx1"/>
                </a:solidFill>
                <a:latin typeface="Manrope SemiBold" pitchFamily="34" charset="0"/>
                <a:ea typeface="Manrope SemiBold" pitchFamily="34" charset="-122"/>
                <a:cs typeface="Manrope SemiBold" pitchFamily="34" charset="-120"/>
              </a:rPr>
              <a:t>Bookings get lost</a:t>
            </a:r>
            <a:endParaRPr lang="en-US" sz="1800" dirty="0"/>
          </a:p>
        </p:txBody>
      </p:sp>
      <p:sp>
        <p:nvSpPr>
          <p:cNvPr id="13" name="text-27"/>
          <p:cNvSpPr txBox="1"/>
          <p:nvPr/>
        </p:nvSpPr>
        <p:spPr>
          <a:xfrm>
            <a:off x="7196328" y="2606040"/>
            <a:ext cx="4206240" cy="960120"/>
          </a:xfrm>
          <a:prstGeom prst="rect">
            <a:avLst/>
          </a:prstGeom>
          <a:noFill/>
          <a:ln/>
        </p:spPr>
        <p:txBody>
          <a:bodyPr wrap="square" lIns="0" tIns="0" rIns="0" bIns="0" rtlCol="0" anchor="t"/>
          <a:lstStyle/>
          <a:p>
            <a:pPr marL="0" indent="0">
              <a:buNone/>
            </a:pPr>
            <a:r>
              <a:rPr lang="en-US" sz="1400" dirty="0">
                <a:solidFill>
                  <a:schemeClr val="tx2"/>
                </a:solidFill>
              </a:rPr>
              <a:t>Reservations arrive by DM, WhatsApp and phone calls. Nobody sees capacity at a glance, so tables sit empty or get double-booked.</a:t>
            </a:r>
            <a:endParaRPr lang="en-US" sz="1400" dirty="0"/>
          </a:p>
        </p:txBody>
      </p:sp>
      <p:sp>
        <p:nvSpPr>
          <p:cNvPr id="14" name="card-28"/>
          <p:cNvSpPr/>
          <p:nvPr/>
        </p:nvSpPr>
        <p:spPr>
          <a:xfrm>
            <a:off x="548640" y="3931920"/>
            <a:ext cx="5440680" cy="1874520"/>
          </a:xfrm>
          <a:prstGeom prst="roundRect">
            <a:avLst>
              <a:gd name="adj" fmla="val 4878"/>
            </a:avLst>
          </a:prstGeom>
          <a:solidFill>
            <a:schemeClr val="bg2"/>
          </a:solidFill>
          <a:ln w="12700">
            <a:solidFill>
              <a:schemeClr val="bg2"/>
            </a:solidFill>
            <a:prstDash val="solid"/>
          </a:ln>
        </p:spPr>
      </p:sp>
      <p:sp>
        <p:nvSpPr>
          <p:cNvPr id="15" name="dot-29"/>
          <p:cNvSpPr/>
          <p:nvPr/>
        </p:nvSpPr>
        <p:spPr>
          <a:xfrm>
            <a:off x="868680" y="4279392"/>
            <a:ext cx="457200" cy="457200"/>
          </a:xfrm>
          <a:prstGeom prst="ellipse">
            <a:avLst/>
          </a:prstGeom>
          <a:solidFill>
            <a:schemeClr val="accent1"/>
          </a:solidFill>
          <a:ln w="12700">
            <a:solidFill>
              <a:schemeClr val="accent1"/>
            </a:solidFill>
            <a:prstDash val="solid"/>
          </a:ln>
        </p:spPr>
      </p:sp>
      <p:sp>
        <p:nvSpPr>
          <p:cNvPr id="16" name="text-30"/>
          <p:cNvSpPr txBox="1"/>
          <p:nvPr/>
        </p:nvSpPr>
        <p:spPr>
          <a:xfrm>
            <a:off x="868680" y="4279392"/>
            <a:ext cx="457200" cy="457200"/>
          </a:xfrm>
          <a:prstGeom prst="rect">
            <a:avLst/>
          </a:prstGeom>
          <a:noFill/>
          <a:ln/>
        </p:spPr>
        <p:txBody>
          <a:bodyPr wrap="square" lIns="0" tIns="0" rIns="0" bIns="0" rtlCol="0" anchor="ctr"/>
          <a:lstStyle/>
          <a:p>
            <a:pPr marL="0" indent="0" algn="ctr">
              <a:buNone/>
            </a:pPr>
            <a:r>
              <a:rPr lang="en-US" sz="1200" dirty="0">
                <a:solidFill>
                  <a:schemeClr val="bg1"/>
                </a:solidFill>
                <a:latin typeface="Manrope SemiBold" pitchFamily="34" charset="0"/>
                <a:ea typeface="Manrope SemiBold" pitchFamily="34" charset="-122"/>
                <a:cs typeface="Manrope SemiBold" pitchFamily="34" charset="-120"/>
              </a:rPr>
              <a:t>3</a:t>
            </a:r>
            <a:endParaRPr lang="en-US" sz="1200" dirty="0"/>
          </a:p>
        </p:txBody>
      </p:sp>
      <p:sp>
        <p:nvSpPr>
          <p:cNvPr id="17" name="text-31"/>
          <p:cNvSpPr txBox="1"/>
          <p:nvPr/>
        </p:nvSpPr>
        <p:spPr>
          <a:xfrm>
            <a:off x="1554480" y="4279392"/>
            <a:ext cx="4206240" cy="384048"/>
          </a:xfrm>
          <a:prstGeom prst="rect">
            <a:avLst/>
          </a:prstGeom>
          <a:noFill/>
          <a:ln/>
        </p:spPr>
        <p:txBody>
          <a:bodyPr wrap="square" lIns="0" tIns="0" rIns="0" bIns="0" rtlCol="0" anchor="t"/>
          <a:lstStyle/>
          <a:p>
            <a:pPr marL="0" indent="0">
              <a:buNone/>
            </a:pPr>
            <a:r>
              <a:rPr lang="en-US" sz="1800" dirty="0">
                <a:solidFill>
                  <a:schemeClr val="tx1"/>
                </a:solidFill>
                <a:latin typeface="Manrope SemiBold" pitchFamily="34" charset="0"/>
                <a:ea typeface="Manrope SemiBold" pitchFamily="34" charset="-122"/>
                <a:cs typeface="Manrope SemiBold" pitchFamily="34" charset="-120"/>
              </a:rPr>
              <a:t>Delivery apps own the customer</a:t>
            </a:r>
            <a:endParaRPr lang="en-US" sz="1800" dirty="0"/>
          </a:p>
        </p:txBody>
      </p:sp>
      <p:sp>
        <p:nvSpPr>
          <p:cNvPr id="18" name="text-32"/>
          <p:cNvSpPr txBox="1"/>
          <p:nvPr/>
        </p:nvSpPr>
        <p:spPr>
          <a:xfrm>
            <a:off x="1554480" y="4709160"/>
            <a:ext cx="4206240" cy="960120"/>
          </a:xfrm>
          <a:prstGeom prst="rect">
            <a:avLst/>
          </a:prstGeom>
          <a:noFill/>
          <a:ln/>
        </p:spPr>
        <p:txBody>
          <a:bodyPr wrap="square" lIns="0" tIns="0" rIns="0" bIns="0" rtlCol="0" anchor="t"/>
          <a:lstStyle/>
          <a:p>
            <a:pPr marL="0" indent="0">
              <a:buNone/>
            </a:pPr>
            <a:r>
              <a:rPr lang="en-US" sz="1400" dirty="0">
                <a:solidFill>
                  <a:schemeClr val="tx2"/>
                </a:solidFill>
              </a:rPr>
              <a:t>They take a commission on every order and keep the customer’s details and loyalty.</a:t>
            </a:r>
            <a:endParaRPr lang="en-US" sz="1400" dirty="0"/>
          </a:p>
        </p:txBody>
      </p:sp>
      <p:sp>
        <p:nvSpPr>
          <p:cNvPr id="19" name="card-33"/>
          <p:cNvSpPr/>
          <p:nvPr/>
        </p:nvSpPr>
        <p:spPr>
          <a:xfrm>
            <a:off x="6190488" y="3931920"/>
            <a:ext cx="5440680" cy="1874520"/>
          </a:xfrm>
          <a:prstGeom prst="roundRect">
            <a:avLst>
              <a:gd name="adj" fmla="val 4878"/>
            </a:avLst>
          </a:prstGeom>
          <a:solidFill>
            <a:schemeClr val="bg2"/>
          </a:solidFill>
          <a:ln w="12700">
            <a:solidFill>
              <a:schemeClr val="bg2"/>
            </a:solidFill>
            <a:prstDash val="solid"/>
          </a:ln>
        </p:spPr>
      </p:sp>
      <p:sp>
        <p:nvSpPr>
          <p:cNvPr id="20" name="dot-34"/>
          <p:cNvSpPr/>
          <p:nvPr/>
        </p:nvSpPr>
        <p:spPr>
          <a:xfrm>
            <a:off x="6510528" y="4279392"/>
            <a:ext cx="457200" cy="457200"/>
          </a:xfrm>
          <a:prstGeom prst="ellipse">
            <a:avLst/>
          </a:prstGeom>
          <a:solidFill>
            <a:schemeClr val="accent1"/>
          </a:solidFill>
          <a:ln w="12700">
            <a:solidFill>
              <a:schemeClr val="accent1"/>
            </a:solidFill>
            <a:prstDash val="solid"/>
          </a:ln>
        </p:spPr>
      </p:sp>
      <p:sp>
        <p:nvSpPr>
          <p:cNvPr id="21" name="text-35"/>
          <p:cNvSpPr txBox="1"/>
          <p:nvPr/>
        </p:nvSpPr>
        <p:spPr>
          <a:xfrm>
            <a:off x="6510528" y="4279392"/>
            <a:ext cx="457200" cy="457200"/>
          </a:xfrm>
          <a:prstGeom prst="rect">
            <a:avLst/>
          </a:prstGeom>
          <a:noFill/>
          <a:ln/>
        </p:spPr>
        <p:txBody>
          <a:bodyPr wrap="square" lIns="0" tIns="0" rIns="0" bIns="0" rtlCol="0" anchor="ctr"/>
          <a:lstStyle/>
          <a:p>
            <a:pPr marL="0" indent="0" algn="ctr">
              <a:buNone/>
            </a:pPr>
            <a:r>
              <a:rPr lang="en-US" sz="1200" dirty="0">
                <a:solidFill>
                  <a:schemeClr val="bg1"/>
                </a:solidFill>
                <a:latin typeface="Manrope SemiBold" pitchFamily="34" charset="0"/>
                <a:ea typeface="Manrope SemiBold" pitchFamily="34" charset="-122"/>
                <a:cs typeface="Manrope SemiBold" pitchFamily="34" charset="-120"/>
              </a:rPr>
              <a:t>4</a:t>
            </a:r>
            <a:endParaRPr lang="en-US" sz="1200" dirty="0"/>
          </a:p>
        </p:txBody>
      </p:sp>
      <p:sp>
        <p:nvSpPr>
          <p:cNvPr id="22" name="text-36"/>
          <p:cNvSpPr txBox="1"/>
          <p:nvPr/>
        </p:nvSpPr>
        <p:spPr>
          <a:xfrm>
            <a:off x="7196328" y="4279392"/>
            <a:ext cx="4206240" cy="384048"/>
          </a:xfrm>
          <a:prstGeom prst="rect">
            <a:avLst/>
          </a:prstGeom>
          <a:noFill/>
          <a:ln/>
        </p:spPr>
        <p:txBody>
          <a:bodyPr wrap="square" lIns="0" tIns="0" rIns="0" bIns="0" rtlCol="0" anchor="t"/>
          <a:lstStyle/>
          <a:p>
            <a:pPr marL="0" indent="0">
              <a:buNone/>
            </a:pPr>
            <a:r>
              <a:rPr lang="en-US" sz="1800" dirty="0">
                <a:solidFill>
                  <a:schemeClr val="tx1"/>
                </a:solidFill>
                <a:latin typeface="Manrope SemiBold" pitchFamily="34" charset="0"/>
                <a:ea typeface="Manrope SemiBold" pitchFamily="34" charset="-122"/>
                <a:cs typeface="Manrope SemiBold" pitchFamily="34" charset="-120"/>
              </a:rPr>
              <a:t>No reason to come back</a:t>
            </a:r>
            <a:endParaRPr lang="en-US" sz="1800" dirty="0"/>
          </a:p>
        </p:txBody>
      </p:sp>
      <p:sp>
        <p:nvSpPr>
          <p:cNvPr id="23" name="text-37"/>
          <p:cNvSpPr txBox="1"/>
          <p:nvPr/>
        </p:nvSpPr>
        <p:spPr>
          <a:xfrm>
            <a:off x="7196328" y="4709160"/>
            <a:ext cx="4206240" cy="960120"/>
          </a:xfrm>
          <a:prstGeom prst="rect">
            <a:avLst/>
          </a:prstGeom>
          <a:noFill/>
          <a:ln/>
        </p:spPr>
        <p:txBody>
          <a:bodyPr wrap="square" lIns="0" tIns="0" rIns="0" bIns="0" rtlCol="0" anchor="t"/>
          <a:lstStyle/>
          <a:p>
            <a:pPr marL="0" indent="0">
              <a:buNone/>
            </a:pPr>
            <a:r>
              <a:rPr lang="en-US" sz="1400" dirty="0">
                <a:solidFill>
                  <a:schemeClr val="tx2"/>
                </a:solidFill>
              </a:rPr>
              <a:t>Without a loyalty programme, a great first visit doesn’t turn into a regular.</a:t>
            </a:r>
            <a:endParaRPr lang="en-US" sz="1400" dirty="0"/>
          </a:p>
        </p:txBody>
      </p:sp>
      <p:sp>
        <p:nvSpPr>
          <p:cNvPr id="25" name="Slide Number Placeholder 0"/>
          <p:cNvSpPr>
            <a:spLocks noGrp="1"/>
          </p:cNvSpPr>
          <p:nvPr>
            <p:ph type="sldNum" sz="quarter" idx="4294967295"/>
          </p:nvPr>
        </p:nvSpPr>
        <p:spPr>
          <a:xfrm>
            <a:off x="10500055" y="6309360"/>
            <a:ext cx="73152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Manrope"/>
                <a:ea typeface="Manrope"/>
                <a:cs typeface="Manrope"/>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84048"/>
            <a:ext cx="8229600" cy="310896"/>
          </a:xfrm>
          <a:prstGeom prst="rect">
            <a:avLst/>
          </a:prstGeom>
          <a:noFill/>
          <a:ln/>
        </p:spPr>
        <p:txBody>
          <a:bodyPr wrap="square" lIns="0" tIns="0" rIns="0" bIns="0" rtlCol="0"/>
          <a:lstStyle/>
          <a:p>
            <a:pPr marL="0" indent="0">
              <a:buNone/>
            </a:pPr>
            <a:r>
              <a:rPr lang="en-US" sz="1200" kern="0" spc="300" dirty="0">
                <a:solidFill>
                  <a:schemeClr val="accent1"/>
                </a:solidFill>
                <a:latin typeface="Manrope SemiBold" pitchFamily="34" charset="0"/>
                <a:ea typeface="Manrope SemiBold" pitchFamily="34" charset="-122"/>
                <a:cs typeface="Manrope SemiBold" pitchFamily="34" charset="-120"/>
              </a:rPr>
              <a:t>03 · THE SOLUTION</a:t>
            </a:r>
            <a:endParaRPr lang="en-US" sz="1200" dirty="0"/>
          </a:p>
        </p:txBody>
      </p:sp>
      <p:sp>
        <p:nvSpPr>
          <p:cNvPr id="3" name="Text 0"/>
          <p:cNvSpPr>
            <a:spLocks noGrp="1"/>
          </p:cNvSpPr>
          <p:nvPr>
            <p:ph type="title" idx="102" hasCustomPrompt="1"/>
          </p:nvPr>
        </p:nvSpPr>
        <p:spPr>
          <a:xfrm>
            <a:off x="548640" y="676656"/>
            <a:ext cx="11094415" cy="786384"/>
          </a:xfrm>
          <a:prstGeom prst="rect">
            <a:avLst/>
          </a:prstGeom>
          <a:noFill/>
          <a:ln/>
        </p:spPr>
        <p:txBody>
          <a:bodyPr wrap="square" lIns="0" tIns="0" rIns="0" bIns="0" rtlCol="0" anchor="t"/>
          <a:lstStyle/>
          <a:p>
            <a:pPr marL="0" indent="0" algn="l">
              <a:buNone/>
            </a:pPr>
            <a:r>
              <a:rPr lang="en-US" sz="3800" dirty="0">
                <a:solidFill>
                  <a:schemeClr val="tx1"/>
                </a:solidFill>
              </a:rPr>
              <a:t>One platform for the guest and the team</a:t>
            </a:r>
            <a:endParaRPr lang="en-US" sz="3800" dirty="0"/>
          </a:p>
        </p:txBody>
      </p:sp>
      <p:sp>
        <p:nvSpPr>
          <p:cNvPr id="4" name="frame-38"/>
          <p:cNvSpPr/>
          <p:nvPr/>
        </p:nvSpPr>
        <p:spPr>
          <a:xfrm>
            <a:off x="5925312" y="1810512"/>
            <a:ext cx="5751576" cy="3291269"/>
          </a:xfrm>
          <a:prstGeom prst="roundRect">
            <a:avLst>
              <a:gd name="adj" fmla="val 2778"/>
            </a:avLst>
          </a:prstGeom>
          <a:solidFill>
            <a:schemeClr val="bg2"/>
          </a:solidFill>
          <a:ln w="9525">
            <a:solidFill>
              <a:schemeClr val="accent1">
                <a:alpha val="55000"/>
              </a:schemeClr>
            </a:solidFill>
            <a:prstDash val="solid"/>
          </a:ln>
        </p:spPr>
      </p:sp>
      <p:pic>
        <p:nvPicPr>
          <p:cNvPr id="5" name="screenshot-39" descr="home kitchens"/>
          <p:cNvPicPr>
            <a:picLocks noChangeAspect="1"/>
          </p:cNvPicPr>
          <p:nvPr/>
        </p:nvPicPr>
        <p:blipFill>
          <a:blip r:embed="rId3"/>
          <a:stretch>
            <a:fillRect/>
          </a:stretch>
        </p:blipFill>
        <p:spPr>
          <a:xfrm>
            <a:off x="5989320" y="1874520"/>
            <a:ext cx="5623560" cy="3163253"/>
          </a:xfrm>
          <a:prstGeom prst="rect">
            <a:avLst/>
          </a:prstGeom>
        </p:spPr>
      </p:pic>
      <p:sp>
        <p:nvSpPr>
          <p:cNvPr id="6" name="text-40"/>
          <p:cNvSpPr txBox="1"/>
          <p:nvPr/>
        </p:nvSpPr>
        <p:spPr>
          <a:xfrm>
            <a:off x="548640" y="1783080"/>
            <a:ext cx="5029200" cy="292608"/>
          </a:xfrm>
          <a:prstGeom prst="rect">
            <a:avLst/>
          </a:prstGeom>
          <a:noFill/>
          <a:ln/>
        </p:spPr>
        <p:txBody>
          <a:bodyPr wrap="square" lIns="0" tIns="0" rIns="0" bIns="0" rtlCol="0" anchor="t"/>
          <a:lstStyle/>
          <a:p>
            <a:pPr marL="0" indent="0">
              <a:buNone/>
            </a:pPr>
            <a:r>
              <a:rPr lang="en-US" sz="1700" dirty="0">
                <a:solidFill>
                  <a:schemeClr val="tx1"/>
                </a:solidFill>
                <a:latin typeface="Manrope SemiBold" pitchFamily="34" charset="0"/>
                <a:ea typeface="Manrope SemiBold" pitchFamily="34" charset="-122"/>
                <a:cs typeface="Manrope SemiBold" pitchFamily="34" charset="-120"/>
              </a:rPr>
              <a:t>A fast, beautiful website</a:t>
            </a:r>
            <a:endParaRPr lang="en-US" sz="1700" dirty="0"/>
          </a:p>
        </p:txBody>
      </p:sp>
      <p:sp>
        <p:nvSpPr>
          <p:cNvPr id="7" name="text-41"/>
          <p:cNvSpPr txBox="1"/>
          <p:nvPr/>
        </p:nvSpPr>
        <p:spPr>
          <a:xfrm>
            <a:off x="548640" y="2084832"/>
            <a:ext cx="5029200" cy="512064"/>
          </a:xfrm>
          <a:prstGeom prst="rect">
            <a:avLst/>
          </a:prstGeom>
          <a:noFill/>
          <a:ln/>
        </p:spPr>
        <p:txBody>
          <a:bodyPr wrap="square" lIns="0" tIns="0" rIns="0" bIns="0" rtlCol="0" anchor="t"/>
          <a:lstStyle/>
          <a:p>
            <a:pPr marL="0" indent="0">
              <a:buNone/>
            </a:pPr>
            <a:r>
              <a:rPr lang="en-US" sz="1400" dirty="0">
                <a:solidFill>
                  <a:schemeClr val="tx2"/>
                </a:solidFill>
              </a:rPr>
              <a:t>Menu with photos and filters, about, gallery, events, contact, FAQ</a:t>
            </a:r>
            <a:endParaRPr lang="en-US" sz="1400" dirty="0"/>
          </a:p>
        </p:txBody>
      </p:sp>
      <p:sp>
        <p:nvSpPr>
          <p:cNvPr id="8" name="text-42"/>
          <p:cNvSpPr txBox="1"/>
          <p:nvPr/>
        </p:nvSpPr>
        <p:spPr>
          <a:xfrm>
            <a:off x="548640" y="2624328"/>
            <a:ext cx="5029200" cy="292608"/>
          </a:xfrm>
          <a:prstGeom prst="rect">
            <a:avLst/>
          </a:prstGeom>
          <a:noFill/>
          <a:ln/>
        </p:spPr>
        <p:txBody>
          <a:bodyPr wrap="square" lIns="0" tIns="0" rIns="0" bIns="0" rtlCol="0" anchor="t"/>
          <a:lstStyle/>
          <a:p>
            <a:pPr marL="0" indent="0">
              <a:buNone/>
            </a:pPr>
            <a:r>
              <a:rPr lang="en-US" sz="1700" dirty="0">
                <a:solidFill>
                  <a:schemeClr val="tx1"/>
                </a:solidFill>
                <a:latin typeface="Manrope SemiBold" pitchFamily="34" charset="0"/>
                <a:ea typeface="Manrope SemiBold" pitchFamily="34" charset="-122"/>
                <a:cs typeface="Manrope SemiBold" pitchFamily="34" charset="-120"/>
              </a:rPr>
              <a:t>Online ordering and payments</a:t>
            </a:r>
            <a:endParaRPr lang="en-US" sz="1700" dirty="0"/>
          </a:p>
        </p:txBody>
      </p:sp>
      <p:sp>
        <p:nvSpPr>
          <p:cNvPr id="9" name="text-43"/>
          <p:cNvSpPr txBox="1"/>
          <p:nvPr/>
        </p:nvSpPr>
        <p:spPr>
          <a:xfrm>
            <a:off x="548640" y="2926080"/>
            <a:ext cx="5029200" cy="512064"/>
          </a:xfrm>
          <a:prstGeom prst="rect">
            <a:avLst/>
          </a:prstGeom>
          <a:noFill/>
          <a:ln/>
        </p:spPr>
        <p:txBody>
          <a:bodyPr wrap="square" lIns="0" tIns="0" rIns="0" bIns="0" rtlCol="0" anchor="t"/>
          <a:lstStyle/>
          <a:p>
            <a:pPr marL="0" indent="0">
              <a:buNone/>
            </a:pPr>
            <a:r>
              <a:rPr lang="en-US" sz="1400" dirty="0">
                <a:solidFill>
                  <a:schemeClr val="tx2"/>
                </a:solidFill>
              </a:rPr>
              <a:t>Delivery or pickup, scheduling, coupons, Paystack</a:t>
            </a:r>
            <a:endParaRPr lang="en-US" sz="1400" dirty="0"/>
          </a:p>
        </p:txBody>
      </p:sp>
      <p:sp>
        <p:nvSpPr>
          <p:cNvPr id="10" name="text-44"/>
          <p:cNvSpPr txBox="1"/>
          <p:nvPr/>
        </p:nvSpPr>
        <p:spPr>
          <a:xfrm>
            <a:off x="548640" y="3465576"/>
            <a:ext cx="5029200" cy="292608"/>
          </a:xfrm>
          <a:prstGeom prst="rect">
            <a:avLst/>
          </a:prstGeom>
          <a:noFill/>
          <a:ln/>
        </p:spPr>
        <p:txBody>
          <a:bodyPr wrap="square" lIns="0" tIns="0" rIns="0" bIns="0" rtlCol="0" anchor="t"/>
          <a:lstStyle/>
          <a:p>
            <a:pPr marL="0" indent="0">
              <a:buNone/>
            </a:pPr>
            <a:r>
              <a:rPr lang="en-US" sz="1700" dirty="0">
                <a:solidFill>
                  <a:schemeClr val="tx1"/>
                </a:solidFill>
                <a:latin typeface="Manrope SemiBold" pitchFamily="34" charset="0"/>
                <a:ea typeface="Manrope SemiBold" pitchFamily="34" charset="-122"/>
                <a:cs typeface="Manrope SemiBold" pitchFamily="34" charset="-120"/>
              </a:rPr>
              <a:t>Reservations</a:t>
            </a:r>
            <a:endParaRPr lang="en-US" sz="1700" dirty="0"/>
          </a:p>
        </p:txBody>
      </p:sp>
      <p:sp>
        <p:nvSpPr>
          <p:cNvPr id="11" name="text-45"/>
          <p:cNvSpPr txBox="1"/>
          <p:nvPr/>
        </p:nvSpPr>
        <p:spPr>
          <a:xfrm>
            <a:off x="548640" y="3767328"/>
            <a:ext cx="5029200" cy="512064"/>
          </a:xfrm>
          <a:prstGeom prst="rect">
            <a:avLst/>
          </a:prstGeom>
          <a:noFill/>
          <a:ln/>
        </p:spPr>
        <p:txBody>
          <a:bodyPr wrap="square" lIns="0" tIns="0" rIns="0" bIns="0" rtlCol="0" anchor="t"/>
          <a:lstStyle/>
          <a:p>
            <a:pPr marL="0" indent="0">
              <a:buNone/>
            </a:pPr>
            <a:r>
              <a:rPr lang="en-US" sz="1400" dirty="0">
                <a:solidFill>
                  <a:schemeClr val="tx2"/>
                </a:solidFill>
              </a:rPr>
              <a:t>Live availability by area and time, confirmed by the front desk</a:t>
            </a:r>
            <a:endParaRPr lang="en-US" sz="1400" dirty="0"/>
          </a:p>
        </p:txBody>
      </p:sp>
      <p:sp>
        <p:nvSpPr>
          <p:cNvPr id="12" name="text-46"/>
          <p:cNvSpPr txBox="1"/>
          <p:nvPr/>
        </p:nvSpPr>
        <p:spPr>
          <a:xfrm>
            <a:off x="548640" y="4306824"/>
            <a:ext cx="5029200" cy="292608"/>
          </a:xfrm>
          <a:prstGeom prst="rect">
            <a:avLst/>
          </a:prstGeom>
          <a:noFill/>
          <a:ln/>
        </p:spPr>
        <p:txBody>
          <a:bodyPr wrap="square" lIns="0" tIns="0" rIns="0" bIns="0" rtlCol="0" anchor="t"/>
          <a:lstStyle/>
          <a:p>
            <a:pPr marL="0" indent="0">
              <a:buNone/>
            </a:pPr>
            <a:r>
              <a:rPr lang="en-US" sz="1700" dirty="0">
                <a:solidFill>
                  <a:schemeClr val="tx1"/>
                </a:solidFill>
                <a:latin typeface="Manrope SemiBold" pitchFamily="34" charset="0"/>
                <a:ea typeface="Manrope SemiBold" pitchFamily="34" charset="-122"/>
                <a:cs typeface="Manrope SemiBold" pitchFamily="34" charset="-120"/>
              </a:rPr>
              <a:t>The Interest Account</a:t>
            </a:r>
            <a:endParaRPr lang="en-US" sz="1700" dirty="0"/>
          </a:p>
        </p:txBody>
      </p:sp>
      <p:sp>
        <p:nvSpPr>
          <p:cNvPr id="13" name="text-47"/>
          <p:cNvSpPr txBox="1"/>
          <p:nvPr/>
        </p:nvSpPr>
        <p:spPr>
          <a:xfrm>
            <a:off x="548640" y="4608576"/>
            <a:ext cx="5029200" cy="512064"/>
          </a:xfrm>
          <a:prstGeom prst="rect">
            <a:avLst/>
          </a:prstGeom>
          <a:noFill/>
          <a:ln/>
        </p:spPr>
        <p:txBody>
          <a:bodyPr wrap="square" lIns="0" tIns="0" rIns="0" bIns="0" rtlCol="0" anchor="t"/>
          <a:lstStyle/>
          <a:p>
            <a:pPr marL="0" indent="0">
              <a:buNone/>
            </a:pPr>
            <a:r>
              <a:rPr lang="en-US" sz="1400" dirty="0">
                <a:solidFill>
                  <a:schemeClr val="tx2"/>
                </a:solidFill>
              </a:rPr>
              <a:t>Dining credit that earns interest, points, tiers and rewards</a:t>
            </a:r>
            <a:endParaRPr lang="en-US" sz="1400" dirty="0"/>
          </a:p>
        </p:txBody>
      </p:sp>
      <p:sp>
        <p:nvSpPr>
          <p:cNvPr id="14" name="text-48"/>
          <p:cNvSpPr txBox="1"/>
          <p:nvPr/>
        </p:nvSpPr>
        <p:spPr>
          <a:xfrm>
            <a:off x="548640" y="5148072"/>
            <a:ext cx="5029200" cy="292608"/>
          </a:xfrm>
          <a:prstGeom prst="rect">
            <a:avLst/>
          </a:prstGeom>
          <a:noFill/>
          <a:ln/>
        </p:spPr>
        <p:txBody>
          <a:bodyPr wrap="square" lIns="0" tIns="0" rIns="0" bIns="0" rtlCol="0" anchor="t"/>
          <a:lstStyle/>
          <a:p>
            <a:pPr marL="0" indent="0">
              <a:buNone/>
            </a:pPr>
            <a:r>
              <a:rPr lang="en-US" sz="1700" dirty="0">
                <a:solidFill>
                  <a:schemeClr val="tx1"/>
                </a:solidFill>
                <a:latin typeface="Manrope SemiBold" pitchFamily="34" charset="0"/>
                <a:ea typeface="Manrope SemiBold" pitchFamily="34" charset="-122"/>
                <a:cs typeface="Manrope SemiBold" pitchFamily="34" charset="-120"/>
              </a:rPr>
              <a:t>The admin panel</a:t>
            </a:r>
            <a:endParaRPr lang="en-US" sz="1700" dirty="0"/>
          </a:p>
        </p:txBody>
      </p:sp>
      <p:sp>
        <p:nvSpPr>
          <p:cNvPr id="15" name="text-49"/>
          <p:cNvSpPr txBox="1"/>
          <p:nvPr/>
        </p:nvSpPr>
        <p:spPr>
          <a:xfrm>
            <a:off x="548640" y="5449824"/>
            <a:ext cx="5029200" cy="512064"/>
          </a:xfrm>
          <a:prstGeom prst="rect">
            <a:avLst/>
          </a:prstGeom>
          <a:noFill/>
          <a:ln/>
        </p:spPr>
        <p:txBody>
          <a:bodyPr wrap="square" lIns="0" tIns="0" rIns="0" bIns="0" rtlCol="0" anchor="t"/>
          <a:lstStyle/>
          <a:p>
            <a:pPr marL="0" indent="0">
              <a:buNone/>
            </a:pPr>
            <a:r>
              <a:rPr lang="en-US" sz="1400" dirty="0">
                <a:solidFill>
                  <a:schemeClr val="tx2"/>
                </a:solidFill>
              </a:rPr>
              <a:t>Orders, kitchen, bookings, menu, customers, rewards, staff</a:t>
            </a:r>
            <a:endParaRPr lang="en-US" sz="1400" dirty="0"/>
          </a:p>
        </p:txBody>
      </p:sp>
      <p:sp>
        <p:nvSpPr>
          <p:cNvPr id="25" name="Slide Number Placeholder 0"/>
          <p:cNvSpPr>
            <a:spLocks noGrp="1"/>
          </p:cNvSpPr>
          <p:nvPr>
            <p:ph type="sldNum" sz="quarter" idx="4294967295"/>
          </p:nvPr>
        </p:nvSpPr>
        <p:spPr>
          <a:xfrm>
            <a:off x="10500055" y="6309360"/>
            <a:ext cx="73152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Manrope"/>
                <a:ea typeface="Manrope"/>
                <a:cs typeface="Manrope"/>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84048"/>
            <a:ext cx="8229600" cy="310896"/>
          </a:xfrm>
          <a:prstGeom prst="rect">
            <a:avLst/>
          </a:prstGeom>
          <a:noFill/>
          <a:ln/>
        </p:spPr>
        <p:txBody>
          <a:bodyPr wrap="square" lIns="0" tIns="0" rIns="0" bIns="0" rtlCol="0"/>
          <a:lstStyle/>
          <a:p>
            <a:pPr marL="0" indent="0">
              <a:buNone/>
            </a:pPr>
            <a:r>
              <a:rPr lang="en-US" sz="1200" kern="0" spc="300" dirty="0">
                <a:solidFill>
                  <a:schemeClr val="accent1"/>
                </a:solidFill>
                <a:latin typeface="Manrope SemiBold" pitchFamily="34" charset="0"/>
                <a:ea typeface="Manrope SemiBold" pitchFamily="34" charset="-122"/>
                <a:cs typeface="Manrope SemiBold" pitchFamily="34" charset="-120"/>
              </a:rPr>
              <a:t>04 · BRAND IDENTITY</a:t>
            </a:r>
            <a:endParaRPr lang="en-US" sz="1200" dirty="0"/>
          </a:p>
        </p:txBody>
      </p:sp>
      <p:sp>
        <p:nvSpPr>
          <p:cNvPr id="3" name="Text 0"/>
          <p:cNvSpPr>
            <a:spLocks noGrp="1"/>
          </p:cNvSpPr>
          <p:nvPr>
            <p:ph type="title" idx="102" hasCustomPrompt="1"/>
          </p:nvPr>
        </p:nvSpPr>
        <p:spPr>
          <a:xfrm>
            <a:off x="548640" y="676656"/>
            <a:ext cx="11094415" cy="786384"/>
          </a:xfrm>
          <a:prstGeom prst="rect">
            <a:avLst/>
          </a:prstGeom>
          <a:noFill/>
          <a:ln/>
        </p:spPr>
        <p:txBody>
          <a:bodyPr wrap="square" lIns="0" tIns="0" rIns="0" bIns="0" rtlCol="0" anchor="t"/>
          <a:lstStyle/>
          <a:p>
            <a:pPr marL="0" indent="0" algn="l">
              <a:buNone/>
            </a:pPr>
            <a:r>
              <a:rPr lang="en-US" sz="3800" dirty="0">
                <a:solidFill>
                  <a:schemeClr val="tx1"/>
                </a:solidFill>
              </a:rPr>
              <a:t>Gold on obsidian, with the warmth of three kitchens</a:t>
            </a:r>
            <a:endParaRPr lang="en-US" sz="3800" dirty="0"/>
          </a:p>
        </p:txBody>
      </p:sp>
      <p:sp>
        <p:nvSpPr>
          <p:cNvPr id="4" name="card-50"/>
          <p:cNvSpPr/>
          <p:nvPr/>
        </p:nvSpPr>
        <p:spPr>
          <a:xfrm>
            <a:off x="548640" y="1783080"/>
            <a:ext cx="3657600" cy="2011680"/>
          </a:xfrm>
          <a:prstGeom prst="roundRect">
            <a:avLst>
              <a:gd name="adj" fmla="val 4545"/>
            </a:avLst>
          </a:prstGeom>
          <a:solidFill>
            <a:schemeClr val="bg2"/>
          </a:solidFill>
          <a:ln w="12700">
            <a:solidFill>
              <a:schemeClr val="bg2"/>
            </a:solidFill>
            <a:prstDash val="solid"/>
          </a:ln>
        </p:spPr>
      </p:sp>
      <p:pic>
        <p:nvPicPr>
          <p:cNvPr id="5" name="brand-logo" descr="Small Africa logo"/>
          <p:cNvPicPr>
            <a:picLocks noChangeAspect="1"/>
          </p:cNvPicPr>
          <p:nvPr/>
        </p:nvPicPr>
        <p:blipFill>
          <a:blip r:embed="rId3"/>
          <a:stretch>
            <a:fillRect/>
          </a:stretch>
        </p:blipFill>
        <p:spPr>
          <a:xfrm>
            <a:off x="914400" y="2240280"/>
            <a:ext cx="2926080" cy="865704"/>
          </a:xfrm>
          <a:prstGeom prst="rect">
            <a:avLst/>
          </a:prstGeom>
        </p:spPr>
      </p:pic>
      <p:sp>
        <p:nvSpPr>
          <p:cNvPr id="6" name="text-51"/>
          <p:cNvSpPr txBox="1"/>
          <p:nvPr/>
        </p:nvSpPr>
        <p:spPr>
          <a:xfrm>
            <a:off x="914400" y="3291840"/>
            <a:ext cx="2926080" cy="274320"/>
          </a:xfrm>
          <a:prstGeom prst="rect">
            <a:avLst/>
          </a:prstGeom>
          <a:noFill/>
          <a:ln/>
        </p:spPr>
        <p:txBody>
          <a:bodyPr wrap="square" lIns="0" tIns="0" rIns="0" bIns="0" rtlCol="0" anchor="t"/>
          <a:lstStyle/>
          <a:p>
            <a:pPr marL="0" indent="0" algn="ctr">
              <a:buNone/>
            </a:pPr>
            <a:r>
              <a:rPr lang="en-US" sz="1200" dirty="0">
                <a:solidFill>
                  <a:schemeClr val="accent5"/>
                </a:solidFill>
              </a:rPr>
              <a:t>The SA monogram crest</a:t>
            </a:r>
            <a:endParaRPr lang="en-US" sz="1200" dirty="0"/>
          </a:p>
        </p:txBody>
      </p:sp>
      <p:sp>
        <p:nvSpPr>
          <p:cNvPr id="7" name="swatch-52"/>
          <p:cNvSpPr/>
          <p:nvPr/>
        </p:nvSpPr>
        <p:spPr>
          <a:xfrm>
            <a:off x="548640" y="4069080"/>
            <a:ext cx="731520" cy="566928"/>
          </a:xfrm>
          <a:prstGeom prst="roundRect">
            <a:avLst>
              <a:gd name="adj" fmla="val 12903"/>
            </a:avLst>
          </a:prstGeom>
          <a:solidFill>
            <a:srgbClr val="0E0C0A"/>
          </a:solidFill>
          <a:ln w="9525">
            <a:solidFill>
              <a:srgbClr val="3A332C"/>
            </a:solidFill>
            <a:prstDash val="solid"/>
          </a:ln>
        </p:spPr>
      </p:sp>
      <p:sp>
        <p:nvSpPr>
          <p:cNvPr id="8" name="text-53"/>
          <p:cNvSpPr txBox="1"/>
          <p:nvPr/>
        </p:nvSpPr>
        <p:spPr>
          <a:xfrm>
            <a:off x="457200" y="4672584"/>
            <a:ext cx="914400" cy="237744"/>
          </a:xfrm>
          <a:prstGeom prst="rect">
            <a:avLst/>
          </a:prstGeom>
          <a:noFill/>
          <a:ln/>
        </p:spPr>
        <p:txBody>
          <a:bodyPr wrap="square" lIns="0" tIns="0" rIns="0" bIns="0" rtlCol="0" anchor="t"/>
          <a:lstStyle/>
          <a:p>
            <a:pPr marL="0" indent="0" algn="ctr">
              <a:buNone/>
            </a:pPr>
            <a:r>
              <a:rPr lang="en-US" sz="1000" dirty="0">
                <a:solidFill>
                  <a:schemeClr val="tx2"/>
                </a:solidFill>
              </a:rPr>
              <a:t>Obsidian</a:t>
            </a:r>
            <a:endParaRPr lang="en-US" sz="1000" dirty="0"/>
          </a:p>
        </p:txBody>
      </p:sp>
      <p:sp>
        <p:nvSpPr>
          <p:cNvPr id="9" name="swatch-54"/>
          <p:cNvSpPr/>
          <p:nvPr/>
        </p:nvSpPr>
        <p:spPr>
          <a:xfrm>
            <a:off x="1463040" y="4069080"/>
            <a:ext cx="731520" cy="566928"/>
          </a:xfrm>
          <a:prstGeom prst="roundRect">
            <a:avLst>
              <a:gd name="adj" fmla="val 12903"/>
            </a:avLst>
          </a:prstGeom>
          <a:solidFill>
            <a:srgbClr val="1A1612"/>
          </a:solidFill>
          <a:ln w="9525">
            <a:solidFill>
              <a:srgbClr val="3A332C"/>
            </a:solidFill>
            <a:prstDash val="solid"/>
          </a:ln>
        </p:spPr>
      </p:sp>
      <p:sp>
        <p:nvSpPr>
          <p:cNvPr id="10" name="text-55"/>
          <p:cNvSpPr txBox="1"/>
          <p:nvPr/>
        </p:nvSpPr>
        <p:spPr>
          <a:xfrm>
            <a:off x="1371600" y="4672584"/>
            <a:ext cx="914400" cy="237744"/>
          </a:xfrm>
          <a:prstGeom prst="rect">
            <a:avLst/>
          </a:prstGeom>
          <a:noFill/>
          <a:ln/>
        </p:spPr>
        <p:txBody>
          <a:bodyPr wrap="square" lIns="0" tIns="0" rIns="0" bIns="0" rtlCol="0" anchor="t"/>
          <a:lstStyle/>
          <a:p>
            <a:pPr marL="0" indent="0" algn="ctr">
              <a:buNone/>
            </a:pPr>
            <a:r>
              <a:rPr lang="en-US" sz="1000" dirty="0">
                <a:solidFill>
                  <a:schemeClr val="tx2"/>
                </a:solidFill>
              </a:rPr>
              <a:t>Ebony</a:t>
            </a:r>
            <a:endParaRPr lang="en-US" sz="1000" dirty="0"/>
          </a:p>
        </p:txBody>
      </p:sp>
      <p:sp>
        <p:nvSpPr>
          <p:cNvPr id="11" name="swatch-56"/>
          <p:cNvSpPr/>
          <p:nvPr/>
        </p:nvSpPr>
        <p:spPr>
          <a:xfrm>
            <a:off x="2377440" y="4069080"/>
            <a:ext cx="731520" cy="566928"/>
          </a:xfrm>
          <a:prstGeom prst="roundRect">
            <a:avLst>
              <a:gd name="adj" fmla="val 12903"/>
            </a:avLst>
          </a:prstGeom>
          <a:solidFill>
            <a:srgbClr val="F6EFE3"/>
          </a:solidFill>
          <a:ln w="9525">
            <a:solidFill>
              <a:srgbClr val="3A332C"/>
            </a:solidFill>
            <a:prstDash val="solid"/>
          </a:ln>
        </p:spPr>
      </p:sp>
      <p:sp>
        <p:nvSpPr>
          <p:cNvPr id="12" name="text-57"/>
          <p:cNvSpPr txBox="1"/>
          <p:nvPr/>
        </p:nvSpPr>
        <p:spPr>
          <a:xfrm>
            <a:off x="2286000" y="4672584"/>
            <a:ext cx="914400" cy="237744"/>
          </a:xfrm>
          <a:prstGeom prst="rect">
            <a:avLst/>
          </a:prstGeom>
          <a:noFill/>
          <a:ln/>
        </p:spPr>
        <p:txBody>
          <a:bodyPr wrap="square" lIns="0" tIns="0" rIns="0" bIns="0" rtlCol="0" anchor="t"/>
          <a:lstStyle/>
          <a:p>
            <a:pPr marL="0" indent="0" algn="ctr">
              <a:buNone/>
            </a:pPr>
            <a:r>
              <a:rPr lang="en-US" sz="1000" dirty="0">
                <a:solidFill>
                  <a:schemeClr val="tx2"/>
                </a:solidFill>
              </a:rPr>
              <a:t>Ivory</a:t>
            </a:r>
            <a:endParaRPr lang="en-US" sz="1000" dirty="0"/>
          </a:p>
        </p:txBody>
      </p:sp>
      <p:sp>
        <p:nvSpPr>
          <p:cNvPr id="13" name="swatch-58"/>
          <p:cNvSpPr/>
          <p:nvPr/>
        </p:nvSpPr>
        <p:spPr>
          <a:xfrm>
            <a:off x="3291840" y="4069080"/>
            <a:ext cx="731520" cy="566928"/>
          </a:xfrm>
          <a:prstGeom prst="roundRect">
            <a:avLst>
              <a:gd name="adj" fmla="val 12903"/>
            </a:avLst>
          </a:prstGeom>
          <a:solidFill>
            <a:srgbClr val="E7D9C4"/>
          </a:solidFill>
          <a:ln w="9525">
            <a:solidFill>
              <a:srgbClr val="3A332C"/>
            </a:solidFill>
            <a:prstDash val="solid"/>
          </a:ln>
        </p:spPr>
      </p:sp>
      <p:sp>
        <p:nvSpPr>
          <p:cNvPr id="14" name="text-59"/>
          <p:cNvSpPr txBox="1"/>
          <p:nvPr/>
        </p:nvSpPr>
        <p:spPr>
          <a:xfrm>
            <a:off x="3200400" y="4672584"/>
            <a:ext cx="914400" cy="237744"/>
          </a:xfrm>
          <a:prstGeom prst="rect">
            <a:avLst/>
          </a:prstGeom>
          <a:noFill/>
          <a:ln/>
        </p:spPr>
        <p:txBody>
          <a:bodyPr wrap="square" lIns="0" tIns="0" rIns="0" bIns="0" rtlCol="0" anchor="t"/>
          <a:lstStyle/>
          <a:p>
            <a:pPr marL="0" indent="0" algn="ctr">
              <a:buNone/>
            </a:pPr>
            <a:r>
              <a:rPr lang="en-US" sz="1000" dirty="0">
                <a:solidFill>
                  <a:schemeClr val="tx2"/>
                </a:solidFill>
              </a:rPr>
              <a:t>Sand</a:t>
            </a:r>
            <a:endParaRPr lang="en-US" sz="1000" dirty="0"/>
          </a:p>
        </p:txBody>
      </p:sp>
      <p:sp>
        <p:nvSpPr>
          <p:cNvPr id="15" name="swatch-60"/>
          <p:cNvSpPr/>
          <p:nvPr/>
        </p:nvSpPr>
        <p:spPr>
          <a:xfrm>
            <a:off x="548640" y="5120640"/>
            <a:ext cx="731520" cy="566928"/>
          </a:xfrm>
          <a:prstGeom prst="roundRect">
            <a:avLst>
              <a:gd name="adj" fmla="val 12903"/>
            </a:avLst>
          </a:prstGeom>
          <a:solidFill>
            <a:srgbClr val="C9A24B"/>
          </a:solidFill>
          <a:ln w="9525">
            <a:solidFill>
              <a:srgbClr val="3A332C"/>
            </a:solidFill>
            <a:prstDash val="solid"/>
          </a:ln>
        </p:spPr>
      </p:sp>
      <p:sp>
        <p:nvSpPr>
          <p:cNvPr id="16" name="text-61"/>
          <p:cNvSpPr txBox="1"/>
          <p:nvPr/>
        </p:nvSpPr>
        <p:spPr>
          <a:xfrm>
            <a:off x="457200" y="5724144"/>
            <a:ext cx="914400" cy="237744"/>
          </a:xfrm>
          <a:prstGeom prst="rect">
            <a:avLst/>
          </a:prstGeom>
          <a:noFill/>
          <a:ln/>
        </p:spPr>
        <p:txBody>
          <a:bodyPr wrap="square" lIns="0" tIns="0" rIns="0" bIns="0" rtlCol="0" anchor="t"/>
          <a:lstStyle/>
          <a:p>
            <a:pPr marL="0" indent="0" algn="ctr">
              <a:buNone/>
            </a:pPr>
            <a:r>
              <a:rPr lang="en-US" sz="1000" dirty="0">
                <a:solidFill>
                  <a:schemeClr val="tx2"/>
                </a:solidFill>
              </a:rPr>
              <a:t>Gold</a:t>
            </a:r>
            <a:endParaRPr lang="en-US" sz="1000" dirty="0"/>
          </a:p>
        </p:txBody>
      </p:sp>
      <p:sp>
        <p:nvSpPr>
          <p:cNvPr id="17" name="swatch-62"/>
          <p:cNvSpPr/>
          <p:nvPr/>
        </p:nvSpPr>
        <p:spPr>
          <a:xfrm>
            <a:off x="1463040" y="5120640"/>
            <a:ext cx="731520" cy="566928"/>
          </a:xfrm>
          <a:prstGeom prst="roundRect">
            <a:avLst>
              <a:gd name="adj" fmla="val 12903"/>
            </a:avLst>
          </a:prstGeom>
          <a:solidFill>
            <a:srgbClr val="B4492F"/>
          </a:solidFill>
          <a:ln w="9525">
            <a:solidFill>
              <a:srgbClr val="3A332C"/>
            </a:solidFill>
            <a:prstDash val="solid"/>
          </a:ln>
        </p:spPr>
      </p:sp>
      <p:sp>
        <p:nvSpPr>
          <p:cNvPr id="18" name="text-63"/>
          <p:cNvSpPr txBox="1"/>
          <p:nvPr/>
        </p:nvSpPr>
        <p:spPr>
          <a:xfrm>
            <a:off x="1371600" y="5724144"/>
            <a:ext cx="914400" cy="237744"/>
          </a:xfrm>
          <a:prstGeom prst="rect">
            <a:avLst/>
          </a:prstGeom>
          <a:noFill/>
          <a:ln/>
        </p:spPr>
        <p:txBody>
          <a:bodyPr wrap="square" lIns="0" tIns="0" rIns="0" bIns="0" rtlCol="0" anchor="t"/>
          <a:lstStyle/>
          <a:p>
            <a:pPr marL="0" indent="0" algn="ctr">
              <a:buNone/>
            </a:pPr>
            <a:r>
              <a:rPr lang="en-US" sz="1000" dirty="0">
                <a:solidFill>
                  <a:schemeClr val="tx2"/>
                </a:solidFill>
              </a:rPr>
              <a:t>Nigerian</a:t>
            </a:r>
            <a:endParaRPr lang="en-US" sz="1000" dirty="0"/>
          </a:p>
        </p:txBody>
      </p:sp>
      <p:sp>
        <p:nvSpPr>
          <p:cNvPr id="19" name="swatch-64"/>
          <p:cNvSpPr/>
          <p:nvPr/>
        </p:nvSpPr>
        <p:spPr>
          <a:xfrm>
            <a:off x="2377440" y="5120640"/>
            <a:ext cx="731520" cy="566928"/>
          </a:xfrm>
          <a:prstGeom prst="roundRect">
            <a:avLst>
              <a:gd name="adj" fmla="val 12903"/>
            </a:avLst>
          </a:prstGeom>
          <a:solidFill>
            <a:srgbClr val="A3243B"/>
          </a:solidFill>
          <a:ln w="9525">
            <a:solidFill>
              <a:srgbClr val="3A332C"/>
            </a:solidFill>
            <a:prstDash val="solid"/>
          </a:ln>
        </p:spPr>
      </p:sp>
      <p:sp>
        <p:nvSpPr>
          <p:cNvPr id="20" name="text-65"/>
          <p:cNvSpPr txBox="1"/>
          <p:nvPr/>
        </p:nvSpPr>
        <p:spPr>
          <a:xfrm>
            <a:off x="2286000" y="5724144"/>
            <a:ext cx="914400" cy="237744"/>
          </a:xfrm>
          <a:prstGeom prst="rect">
            <a:avLst/>
          </a:prstGeom>
          <a:noFill/>
          <a:ln/>
        </p:spPr>
        <p:txBody>
          <a:bodyPr wrap="square" lIns="0" tIns="0" rIns="0" bIns="0" rtlCol="0" anchor="t"/>
          <a:lstStyle/>
          <a:p>
            <a:pPr marL="0" indent="0" algn="ctr">
              <a:buNone/>
            </a:pPr>
            <a:r>
              <a:rPr lang="en-US" sz="1000" dirty="0">
                <a:solidFill>
                  <a:schemeClr val="tx2"/>
                </a:solidFill>
              </a:rPr>
              <a:t>Polish</a:t>
            </a:r>
            <a:endParaRPr lang="en-US" sz="1000" dirty="0"/>
          </a:p>
        </p:txBody>
      </p:sp>
      <p:sp>
        <p:nvSpPr>
          <p:cNvPr id="21" name="swatch-66"/>
          <p:cNvSpPr/>
          <p:nvPr/>
        </p:nvSpPr>
        <p:spPr>
          <a:xfrm>
            <a:off x="3291840" y="5120640"/>
            <a:ext cx="731520" cy="566928"/>
          </a:xfrm>
          <a:prstGeom prst="roundRect">
            <a:avLst>
              <a:gd name="adj" fmla="val 12903"/>
            </a:avLst>
          </a:prstGeom>
          <a:solidFill>
            <a:srgbClr val="2E4A3B"/>
          </a:solidFill>
          <a:ln w="9525">
            <a:solidFill>
              <a:srgbClr val="3A332C"/>
            </a:solidFill>
            <a:prstDash val="solid"/>
          </a:ln>
        </p:spPr>
      </p:sp>
      <p:sp>
        <p:nvSpPr>
          <p:cNvPr id="22" name="text-67"/>
          <p:cNvSpPr txBox="1"/>
          <p:nvPr/>
        </p:nvSpPr>
        <p:spPr>
          <a:xfrm>
            <a:off x="3200400" y="5724144"/>
            <a:ext cx="914400" cy="237744"/>
          </a:xfrm>
          <a:prstGeom prst="rect">
            <a:avLst/>
          </a:prstGeom>
          <a:noFill/>
          <a:ln/>
        </p:spPr>
        <p:txBody>
          <a:bodyPr wrap="square" lIns="0" tIns="0" rIns="0" bIns="0" rtlCol="0" anchor="t"/>
          <a:lstStyle/>
          <a:p>
            <a:pPr marL="0" indent="0" algn="ctr">
              <a:buNone/>
            </a:pPr>
            <a:r>
              <a:rPr lang="en-US" sz="1000" dirty="0">
                <a:solidFill>
                  <a:schemeClr val="tx2"/>
                </a:solidFill>
              </a:rPr>
              <a:t>Continental</a:t>
            </a:r>
            <a:endParaRPr lang="en-US" sz="1000" dirty="0"/>
          </a:p>
        </p:txBody>
      </p:sp>
      <p:sp>
        <p:nvSpPr>
          <p:cNvPr id="23" name="text-68"/>
          <p:cNvSpPr txBox="1"/>
          <p:nvPr/>
        </p:nvSpPr>
        <p:spPr>
          <a:xfrm>
            <a:off x="4663440" y="1783080"/>
            <a:ext cx="3429000" cy="502920"/>
          </a:xfrm>
          <a:prstGeom prst="rect">
            <a:avLst/>
          </a:prstGeom>
          <a:noFill/>
          <a:ln/>
        </p:spPr>
        <p:txBody>
          <a:bodyPr wrap="square" lIns="0" tIns="0" rIns="0" bIns="0" rtlCol="0" anchor="t"/>
          <a:lstStyle/>
          <a:p>
            <a:pPr marL="0" indent="0">
              <a:buNone/>
            </a:pPr>
            <a:r>
              <a:rPr lang="en-US" sz="2600" dirty="0">
                <a:solidFill>
                  <a:schemeClr val="tx1"/>
                </a:solidFill>
                <a:latin typeface="Cormorant Garamond SemiBold" pitchFamily="34" charset="0"/>
                <a:ea typeface="Cormorant Garamond SemiBold" pitchFamily="34" charset="-122"/>
                <a:cs typeface="Cormorant Garamond SemiBold" pitchFamily="34" charset="-120"/>
              </a:rPr>
              <a:t>Cormorant Garamond</a:t>
            </a:r>
            <a:endParaRPr lang="en-US" sz="2600" dirty="0"/>
          </a:p>
        </p:txBody>
      </p:sp>
      <p:sp>
        <p:nvSpPr>
          <p:cNvPr id="24" name="text-69"/>
          <p:cNvSpPr txBox="1"/>
          <p:nvPr/>
        </p:nvSpPr>
        <p:spPr>
          <a:xfrm>
            <a:off x="4663440" y="2286000"/>
            <a:ext cx="3291840" cy="274320"/>
          </a:xfrm>
          <a:prstGeom prst="rect">
            <a:avLst/>
          </a:prstGeom>
          <a:noFill/>
          <a:ln/>
        </p:spPr>
        <p:txBody>
          <a:bodyPr wrap="square" lIns="0" tIns="0" rIns="0" bIns="0" rtlCol="0" anchor="t"/>
          <a:lstStyle/>
          <a:p>
            <a:pPr marL="0" indent="0">
              <a:buNone/>
            </a:pPr>
            <a:r>
              <a:rPr lang="en-US" sz="1200" dirty="0">
                <a:solidFill>
                  <a:schemeClr val="accent5"/>
                </a:solidFill>
              </a:rPr>
              <a:t>Headings and dish names</a:t>
            </a:r>
            <a:endParaRPr lang="en-US" sz="1200" dirty="0"/>
          </a:p>
        </p:txBody>
      </p:sp>
      <p:sp>
        <p:nvSpPr>
          <p:cNvPr id="25" name="text-70"/>
          <p:cNvSpPr txBox="1"/>
          <p:nvPr/>
        </p:nvSpPr>
        <p:spPr>
          <a:xfrm>
            <a:off x="4663440" y="2743200"/>
            <a:ext cx="3291840" cy="457200"/>
          </a:xfrm>
          <a:prstGeom prst="rect">
            <a:avLst/>
          </a:prstGeom>
          <a:noFill/>
          <a:ln/>
        </p:spPr>
        <p:txBody>
          <a:bodyPr wrap="square" lIns="0" tIns="0" rIns="0" bIns="0" rtlCol="0" anchor="t"/>
          <a:lstStyle/>
          <a:p>
            <a:pPr marL="0" indent="0">
              <a:buNone/>
            </a:pPr>
            <a:r>
              <a:rPr lang="en-US" sz="2600" dirty="0">
                <a:solidFill>
                  <a:schemeClr val="tx1"/>
                </a:solidFill>
              </a:rPr>
              <a:t>Manrope</a:t>
            </a:r>
            <a:endParaRPr lang="en-US" sz="2600" dirty="0"/>
          </a:p>
        </p:txBody>
      </p:sp>
      <p:sp>
        <p:nvSpPr>
          <p:cNvPr id="26" name="text-71"/>
          <p:cNvSpPr txBox="1"/>
          <p:nvPr/>
        </p:nvSpPr>
        <p:spPr>
          <a:xfrm>
            <a:off x="4663440" y="3200400"/>
            <a:ext cx="3291840" cy="274320"/>
          </a:xfrm>
          <a:prstGeom prst="rect">
            <a:avLst/>
          </a:prstGeom>
          <a:noFill/>
          <a:ln/>
        </p:spPr>
        <p:txBody>
          <a:bodyPr wrap="square" lIns="0" tIns="0" rIns="0" bIns="0" rtlCol="0" anchor="t"/>
          <a:lstStyle/>
          <a:p>
            <a:pPr marL="0" indent="0">
              <a:buNone/>
            </a:pPr>
            <a:r>
              <a:rPr lang="en-US" sz="1200" dirty="0">
                <a:solidFill>
                  <a:schemeClr val="accent5"/>
                </a:solidFill>
              </a:rPr>
              <a:t>Text, prices and buttons</a:t>
            </a:r>
            <a:endParaRPr lang="en-US" sz="1200" dirty="0"/>
          </a:p>
        </p:txBody>
      </p:sp>
      <p:sp>
        <p:nvSpPr>
          <p:cNvPr id="27" name="text-72"/>
          <p:cNvSpPr txBox="1"/>
          <p:nvPr/>
        </p:nvSpPr>
        <p:spPr>
          <a:xfrm>
            <a:off x="4663440" y="3657600"/>
            <a:ext cx="3291840" cy="548640"/>
          </a:xfrm>
          <a:prstGeom prst="rect">
            <a:avLst/>
          </a:prstGeom>
          <a:noFill/>
          <a:ln/>
        </p:spPr>
        <p:txBody>
          <a:bodyPr wrap="square" lIns="0" tIns="0" rIns="0" bIns="0" rtlCol="0" anchor="t"/>
          <a:lstStyle/>
          <a:p>
            <a:pPr marL="0" indent="0">
              <a:buNone/>
            </a:pPr>
            <a:r>
              <a:rPr lang="en-US" sz="3200" dirty="0">
                <a:solidFill>
                  <a:schemeClr val="accent6"/>
                </a:solidFill>
                <a:latin typeface="Italiana" pitchFamily="34" charset="0"/>
                <a:ea typeface="Italiana" pitchFamily="34" charset="-122"/>
                <a:cs typeface="Italiana" pitchFamily="34" charset="-120"/>
              </a:rPr>
              <a:t>One table.</a:t>
            </a:r>
            <a:endParaRPr lang="en-US" sz="3200" dirty="0"/>
          </a:p>
        </p:txBody>
      </p:sp>
      <p:sp>
        <p:nvSpPr>
          <p:cNvPr id="28" name="text-73"/>
          <p:cNvSpPr txBox="1"/>
          <p:nvPr/>
        </p:nvSpPr>
        <p:spPr>
          <a:xfrm>
            <a:off x="4663440" y="4206240"/>
            <a:ext cx="3291840" cy="274320"/>
          </a:xfrm>
          <a:prstGeom prst="rect">
            <a:avLst/>
          </a:prstGeom>
          <a:noFill/>
          <a:ln/>
        </p:spPr>
        <p:txBody>
          <a:bodyPr wrap="square" lIns="0" tIns="0" rIns="0" bIns="0" rtlCol="0" anchor="t"/>
          <a:lstStyle/>
          <a:p>
            <a:pPr marL="0" indent="0">
              <a:buNone/>
            </a:pPr>
            <a:r>
              <a:rPr lang="en-US" sz="1200" dirty="0">
                <a:solidFill>
                  <a:schemeClr val="accent5"/>
                </a:solidFill>
              </a:rPr>
              <a:t>Italiana, for the tagline only</a:t>
            </a:r>
            <a:endParaRPr lang="en-US" sz="1200" dirty="0"/>
          </a:p>
        </p:txBody>
      </p:sp>
      <p:sp>
        <p:nvSpPr>
          <p:cNvPr id="29" name="text-74"/>
          <p:cNvSpPr txBox="1"/>
          <p:nvPr/>
        </p:nvSpPr>
        <p:spPr>
          <a:xfrm>
            <a:off x="4663440" y="4800600"/>
            <a:ext cx="3108960" cy="1097280"/>
          </a:xfrm>
          <a:prstGeom prst="rect">
            <a:avLst/>
          </a:prstGeom>
          <a:noFill/>
          <a:ln/>
        </p:spPr>
        <p:txBody>
          <a:bodyPr wrap="square" lIns="0" tIns="0" rIns="0" bIns="0" rtlCol="0" anchor="t"/>
          <a:lstStyle/>
          <a:p>
            <a:pPr marL="0" indent="0">
              <a:buNone/>
            </a:pPr>
            <a:r>
              <a:rPr lang="en-US" sz="1400" dirty="0">
                <a:solidFill>
                  <a:schemeClr val="tx2"/>
                </a:solidFill>
              </a:rPr>
              <a:t>Dark by default, with a light theme for daytime. Guests choose, or follow their phone.</a:t>
            </a:r>
            <a:endParaRPr lang="en-US" sz="1400" dirty="0"/>
          </a:p>
        </p:txBody>
      </p:sp>
      <p:sp>
        <p:nvSpPr>
          <p:cNvPr id="30" name="frame-75"/>
          <p:cNvSpPr/>
          <p:nvPr/>
        </p:nvSpPr>
        <p:spPr>
          <a:xfrm>
            <a:off x="8165592" y="1719072"/>
            <a:ext cx="3511296" cy="2031111"/>
          </a:xfrm>
          <a:prstGeom prst="roundRect">
            <a:avLst>
              <a:gd name="adj" fmla="val 3602"/>
            </a:avLst>
          </a:prstGeom>
          <a:solidFill>
            <a:schemeClr val="bg2"/>
          </a:solidFill>
          <a:ln w="9525">
            <a:solidFill>
              <a:schemeClr val="accent1">
                <a:alpha val="55000"/>
              </a:schemeClr>
            </a:solidFill>
            <a:prstDash val="solid"/>
          </a:ln>
        </p:spPr>
      </p:sp>
      <p:pic>
        <p:nvPicPr>
          <p:cNvPr id="31" name="screenshot-76" descr="home hero"/>
          <p:cNvPicPr>
            <a:picLocks noChangeAspect="1"/>
          </p:cNvPicPr>
          <p:nvPr/>
        </p:nvPicPr>
        <p:blipFill>
          <a:blip r:embed="rId4"/>
          <a:stretch>
            <a:fillRect/>
          </a:stretch>
        </p:blipFill>
        <p:spPr>
          <a:xfrm>
            <a:off x="8229600" y="1783080"/>
            <a:ext cx="3383280" cy="1903095"/>
          </a:xfrm>
          <a:prstGeom prst="rect">
            <a:avLst/>
          </a:prstGeom>
        </p:spPr>
      </p:pic>
      <p:sp>
        <p:nvSpPr>
          <p:cNvPr id="32" name="frame-77"/>
          <p:cNvSpPr/>
          <p:nvPr/>
        </p:nvSpPr>
        <p:spPr>
          <a:xfrm>
            <a:off x="8165592" y="3913632"/>
            <a:ext cx="3511296" cy="2031111"/>
          </a:xfrm>
          <a:prstGeom prst="roundRect">
            <a:avLst>
              <a:gd name="adj" fmla="val 3602"/>
            </a:avLst>
          </a:prstGeom>
          <a:solidFill>
            <a:schemeClr val="bg2"/>
          </a:solidFill>
          <a:ln w="9525">
            <a:solidFill>
              <a:schemeClr val="accent1">
                <a:alpha val="55000"/>
              </a:schemeClr>
            </a:solidFill>
            <a:prstDash val="solid"/>
          </a:ln>
        </p:spPr>
      </p:sp>
      <p:pic>
        <p:nvPicPr>
          <p:cNvPr id="33" name="screenshot-78" descr="dish light"/>
          <p:cNvPicPr>
            <a:picLocks noChangeAspect="1"/>
          </p:cNvPicPr>
          <p:nvPr/>
        </p:nvPicPr>
        <p:blipFill>
          <a:blip r:embed="rId5"/>
          <a:stretch>
            <a:fillRect/>
          </a:stretch>
        </p:blipFill>
        <p:spPr>
          <a:xfrm>
            <a:off x="8229600" y="3977640"/>
            <a:ext cx="3383280" cy="1903095"/>
          </a:xfrm>
          <a:prstGeom prst="rect">
            <a:avLst/>
          </a:prstGeom>
        </p:spPr>
      </p:pic>
      <p:sp>
        <p:nvSpPr>
          <p:cNvPr id="34" name="Slide Number Placeholder 0"/>
          <p:cNvSpPr>
            <a:spLocks noGrp="1"/>
          </p:cNvSpPr>
          <p:nvPr>
            <p:ph type="sldNum" sz="quarter" idx="4294967295"/>
          </p:nvPr>
        </p:nvSpPr>
        <p:spPr>
          <a:xfrm>
            <a:off x="10500055" y="6309360"/>
            <a:ext cx="73152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Manrope"/>
                <a:ea typeface="Manrope"/>
                <a:cs typeface="Manrope"/>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84048"/>
            <a:ext cx="8229600" cy="310896"/>
          </a:xfrm>
          <a:prstGeom prst="rect">
            <a:avLst/>
          </a:prstGeom>
          <a:noFill/>
          <a:ln/>
        </p:spPr>
        <p:txBody>
          <a:bodyPr wrap="square" lIns="0" tIns="0" rIns="0" bIns="0" rtlCol="0"/>
          <a:lstStyle/>
          <a:p>
            <a:pPr marL="0" indent="0">
              <a:buNone/>
            </a:pPr>
            <a:r>
              <a:rPr lang="en-US" sz="1200" kern="0" spc="300" dirty="0">
                <a:solidFill>
                  <a:schemeClr val="accent1"/>
                </a:solidFill>
                <a:latin typeface="Manrope SemiBold" pitchFamily="34" charset="0"/>
                <a:ea typeface="Manrope SemiBold" pitchFamily="34" charset="-122"/>
                <a:cs typeface="Manrope SemiBold" pitchFamily="34" charset="-120"/>
              </a:rPr>
              <a:t>05 · CUSTOMER JOURNEY</a:t>
            </a:r>
            <a:endParaRPr lang="en-US" sz="1200" dirty="0"/>
          </a:p>
        </p:txBody>
      </p:sp>
      <p:sp>
        <p:nvSpPr>
          <p:cNvPr id="3" name="Text 0"/>
          <p:cNvSpPr>
            <a:spLocks noGrp="1"/>
          </p:cNvSpPr>
          <p:nvPr>
            <p:ph type="title" idx="102" hasCustomPrompt="1"/>
          </p:nvPr>
        </p:nvSpPr>
        <p:spPr>
          <a:xfrm>
            <a:off x="548640" y="676656"/>
            <a:ext cx="11094415" cy="786384"/>
          </a:xfrm>
          <a:prstGeom prst="rect">
            <a:avLst/>
          </a:prstGeom>
          <a:noFill/>
          <a:ln/>
        </p:spPr>
        <p:txBody>
          <a:bodyPr wrap="square" lIns="0" tIns="0" rIns="0" bIns="0" rtlCol="0" anchor="t"/>
          <a:lstStyle/>
          <a:p>
            <a:pPr marL="0" indent="0" algn="l">
              <a:buNone/>
            </a:pPr>
            <a:r>
              <a:rPr lang="en-US" sz="3800" dirty="0">
                <a:solidFill>
                  <a:schemeClr val="tx1"/>
                </a:solidFill>
              </a:rPr>
              <a:t>From a post on Instagram to a regular at the table</a:t>
            </a:r>
            <a:endParaRPr lang="en-US" sz="3800" dirty="0"/>
          </a:p>
        </p:txBody>
      </p:sp>
      <p:sp>
        <p:nvSpPr>
          <p:cNvPr id="4" name="journey-line"/>
          <p:cNvSpPr/>
          <p:nvPr/>
        </p:nvSpPr>
        <p:spPr>
          <a:xfrm>
            <a:off x="1473175" y="2395728"/>
            <a:ext cx="9245346" cy="0"/>
          </a:xfrm>
          <a:prstGeom prst="line">
            <a:avLst/>
          </a:prstGeom>
          <a:noFill/>
          <a:ln w="15875">
            <a:solidFill>
              <a:schemeClr val="accent1">
                <a:alpha val="60000"/>
              </a:schemeClr>
            </a:solidFill>
            <a:prstDash val="solid"/>
          </a:ln>
        </p:spPr>
      </p:sp>
      <p:sp>
        <p:nvSpPr>
          <p:cNvPr id="5" name="dot-79"/>
          <p:cNvSpPr/>
          <p:nvPr/>
        </p:nvSpPr>
        <p:spPr>
          <a:xfrm>
            <a:off x="1180567" y="2103120"/>
            <a:ext cx="585216" cy="585216"/>
          </a:xfrm>
          <a:prstGeom prst="ellipse">
            <a:avLst/>
          </a:prstGeom>
          <a:solidFill>
            <a:schemeClr val="bg2"/>
          </a:solidFill>
          <a:ln w="12700">
            <a:solidFill>
              <a:schemeClr val="bg2"/>
            </a:solidFill>
            <a:prstDash val="solid"/>
          </a:ln>
        </p:spPr>
      </p:sp>
      <p:sp>
        <p:nvSpPr>
          <p:cNvPr id="6" name="text-80"/>
          <p:cNvSpPr txBox="1"/>
          <p:nvPr/>
        </p:nvSpPr>
        <p:spPr>
          <a:xfrm>
            <a:off x="1180567" y="2103120"/>
            <a:ext cx="585216" cy="585216"/>
          </a:xfrm>
          <a:prstGeom prst="rect">
            <a:avLst/>
          </a:prstGeom>
          <a:noFill/>
          <a:ln/>
        </p:spPr>
        <p:txBody>
          <a:bodyPr wrap="square" lIns="0" tIns="0" rIns="0" bIns="0" rtlCol="0" anchor="ctr"/>
          <a:lstStyle/>
          <a:p>
            <a:pPr marL="0" indent="0" algn="ctr">
              <a:buNone/>
            </a:pPr>
            <a:r>
              <a:rPr lang="en-US" sz="1600" dirty="0">
                <a:solidFill>
                  <a:schemeClr val="accent1"/>
                </a:solidFill>
                <a:latin typeface="Manrope SemiBold" pitchFamily="34" charset="0"/>
                <a:ea typeface="Manrope SemiBold" pitchFamily="34" charset="-122"/>
                <a:cs typeface="Manrope SemiBold" pitchFamily="34" charset="-120"/>
              </a:rPr>
              <a:t>1</a:t>
            </a:r>
            <a:endParaRPr lang="en-US" sz="1600" dirty="0"/>
          </a:p>
        </p:txBody>
      </p:sp>
      <p:sp>
        <p:nvSpPr>
          <p:cNvPr id="7" name="text-81"/>
          <p:cNvSpPr txBox="1"/>
          <p:nvPr/>
        </p:nvSpPr>
        <p:spPr>
          <a:xfrm>
            <a:off x="621792" y="2880360"/>
            <a:ext cx="1702765" cy="365760"/>
          </a:xfrm>
          <a:prstGeom prst="rect">
            <a:avLst/>
          </a:prstGeom>
          <a:noFill/>
          <a:ln/>
        </p:spPr>
        <p:txBody>
          <a:bodyPr wrap="square" lIns="0" tIns="0" rIns="0" bIns="0" rtlCol="0" anchor="t"/>
          <a:lstStyle/>
          <a:p>
            <a:pPr marL="0" indent="0" algn="ctr">
              <a:buNone/>
            </a:pPr>
            <a:r>
              <a:rPr lang="en-US" sz="1700" dirty="0">
                <a:solidFill>
                  <a:schemeClr val="tx1"/>
                </a:solidFill>
                <a:latin typeface="Manrope SemiBold" pitchFamily="34" charset="0"/>
                <a:ea typeface="Manrope SemiBold" pitchFamily="34" charset="-122"/>
                <a:cs typeface="Manrope SemiBold" pitchFamily="34" charset="-120"/>
              </a:rPr>
              <a:t>Discover</a:t>
            </a:r>
            <a:endParaRPr lang="en-US" sz="1700" dirty="0"/>
          </a:p>
        </p:txBody>
      </p:sp>
      <p:sp>
        <p:nvSpPr>
          <p:cNvPr id="8" name="text-82"/>
          <p:cNvSpPr txBox="1"/>
          <p:nvPr/>
        </p:nvSpPr>
        <p:spPr>
          <a:xfrm>
            <a:off x="658368" y="3291840"/>
            <a:ext cx="1629613" cy="1188720"/>
          </a:xfrm>
          <a:prstGeom prst="rect">
            <a:avLst/>
          </a:prstGeom>
          <a:noFill/>
          <a:ln/>
        </p:spPr>
        <p:txBody>
          <a:bodyPr wrap="square" lIns="0" tIns="0" rIns="0" bIns="0" rtlCol="0" anchor="t"/>
          <a:lstStyle/>
          <a:p>
            <a:pPr marL="0" indent="0" algn="ctr">
              <a:buNone/>
            </a:pPr>
            <a:r>
              <a:rPr lang="en-US" sz="1400" dirty="0">
                <a:solidFill>
                  <a:schemeClr val="tx2"/>
                </a:solidFill>
              </a:rPr>
              <a:t>Instagram, TikTok, Google Maps or a friend’s referral link</a:t>
            </a:r>
            <a:endParaRPr lang="en-US" sz="1400" dirty="0"/>
          </a:p>
        </p:txBody>
      </p:sp>
      <p:sp>
        <p:nvSpPr>
          <p:cNvPr id="9" name="dot-83"/>
          <p:cNvSpPr/>
          <p:nvPr/>
        </p:nvSpPr>
        <p:spPr>
          <a:xfrm>
            <a:off x="3029636" y="2103120"/>
            <a:ext cx="585216" cy="585216"/>
          </a:xfrm>
          <a:prstGeom prst="ellipse">
            <a:avLst/>
          </a:prstGeom>
          <a:solidFill>
            <a:schemeClr val="bg2"/>
          </a:solidFill>
          <a:ln w="12700">
            <a:solidFill>
              <a:schemeClr val="bg2"/>
            </a:solidFill>
            <a:prstDash val="solid"/>
          </a:ln>
        </p:spPr>
      </p:sp>
      <p:sp>
        <p:nvSpPr>
          <p:cNvPr id="10" name="text-84"/>
          <p:cNvSpPr txBox="1"/>
          <p:nvPr/>
        </p:nvSpPr>
        <p:spPr>
          <a:xfrm>
            <a:off x="3029636" y="2103120"/>
            <a:ext cx="585216" cy="585216"/>
          </a:xfrm>
          <a:prstGeom prst="rect">
            <a:avLst/>
          </a:prstGeom>
          <a:noFill/>
          <a:ln/>
        </p:spPr>
        <p:txBody>
          <a:bodyPr wrap="square" lIns="0" tIns="0" rIns="0" bIns="0" rtlCol="0" anchor="ctr"/>
          <a:lstStyle/>
          <a:p>
            <a:pPr marL="0" indent="0" algn="ctr">
              <a:buNone/>
            </a:pPr>
            <a:r>
              <a:rPr lang="en-US" sz="1600" dirty="0">
                <a:solidFill>
                  <a:schemeClr val="accent1"/>
                </a:solidFill>
                <a:latin typeface="Manrope SemiBold" pitchFamily="34" charset="0"/>
                <a:ea typeface="Manrope SemiBold" pitchFamily="34" charset="-122"/>
                <a:cs typeface="Manrope SemiBold" pitchFamily="34" charset="-120"/>
              </a:rPr>
              <a:t>2</a:t>
            </a:r>
            <a:endParaRPr lang="en-US" sz="1600" dirty="0"/>
          </a:p>
        </p:txBody>
      </p:sp>
      <p:sp>
        <p:nvSpPr>
          <p:cNvPr id="11" name="text-85"/>
          <p:cNvSpPr txBox="1"/>
          <p:nvPr/>
        </p:nvSpPr>
        <p:spPr>
          <a:xfrm>
            <a:off x="2470861" y="2880360"/>
            <a:ext cx="1702765" cy="365760"/>
          </a:xfrm>
          <a:prstGeom prst="rect">
            <a:avLst/>
          </a:prstGeom>
          <a:noFill/>
          <a:ln/>
        </p:spPr>
        <p:txBody>
          <a:bodyPr wrap="square" lIns="0" tIns="0" rIns="0" bIns="0" rtlCol="0" anchor="t"/>
          <a:lstStyle/>
          <a:p>
            <a:pPr marL="0" indent="0" algn="ctr">
              <a:buNone/>
            </a:pPr>
            <a:r>
              <a:rPr lang="en-US" sz="1700" dirty="0">
                <a:solidFill>
                  <a:schemeClr val="tx1"/>
                </a:solidFill>
                <a:latin typeface="Manrope SemiBold" pitchFamily="34" charset="0"/>
                <a:ea typeface="Manrope SemiBold" pitchFamily="34" charset="-122"/>
                <a:cs typeface="Manrope SemiBold" pitchFamily="34" charset="-120"/>
              </a:rPr>
              <a:t>Browse</a:t>
            </a:r>
            <a:endParaRPr lang="en-US" sz="1700" dirty="0"/>
          </a:p>
        </p:txBody>
      </p:sp>
      <p:sp>
        <p:nvSpPr>
          <p:cNvPr id="12" name="text-86"/>
          <p:cNvSpPr txBox="1"/>
          <p:nvPr/>
        </p:nvSpPr>
        <p:spPr>
          <a:xfrm>
            <a:off x="2507437" y="3291840"/>
            <a:ext cx="1629613" cy="1188720"/>
          </a:xfrm>
          <a:prstGeom prst="rect">
            <a:avLst/>
          </a:prstGeom>
          <a:noFill/>
          <a:ln/>
        </p:spPr>
        <p:txBody>
          <a:bodyPr wrap="square" lIns="0" tIns="0" rIns="0" bIns="0" rtlCol="0" anchor="t"/>
          <a:lstStyle/>
          <a:p>
            <a:pPr marL="0" indent="0" algn="ctr">
              <a:buNone/>
            </a:pPr>
            <a:r>
              <a:rPr lang="en-US" sz="1400" dirty="0">
                <a:solidFill>
                  <a:schemeClr val="tx2"/>
                </a:solidFill>
              </a:rPr>
              <a:t>Menu by kitchen, photos, allergens, “No pork” filter</a:t>
            </a:r>
            <a:endParaRPr lang="en-US" sz="1400" dirty="0"/>
          </a:p>
        </p:txBody>
      </p:sp>
      <p:sp>
        <p:nvSpPr>
          <p:cNvPr id="13" name="dot-87"/>
          <p:cNvSpPr/>
          <p:nvPr/>
        </p:nvSpPr>
        <p:spPr>
          <a:xfrm>
            <a:off x="4878705" y="2103120"/>
            <a:ext cx="585216" cy="585216"/>
          </a:xfrm>
          <a:prstGeom prst="ellipse">
            <a:avLst/>
          </a:prstGeom>
          <a:solidFill>
            <a:schemeClr val="bg2"/>
          </a:solidFill>
          <a:ln w="12700">
            <a:solidFill>
              <a:schemeClr val="bg2"/>
            </a:solidFill>
            <a:prstDash val="solid"/>
          </a:ln>
        </p:spPr>
      </p:sp>
      <p:sp>
        <p:nvSpPr>
          <p:cNvPr id="14" name="text-88"/>
          <p:cNvSpPr txBox="1"/>
          <p:nvPr/>
        </p:nvSpPr>
        <p:spPr>
          <a:xfrm>
            <a:off x="4878705" y="2103120"/>
            <a:ext cx="585216" cy="585216"/>
          </a:xfrm>
          <a:prstGeom prst="rect">
            <a:avLst/>
          </a:prstGeom>
          <a:noFill/>
          <a:ln/>
        </p:spPr>
        <p:txBody>
          <a:bodyPr wrap="square" lIns="0" tIns="0" rIns="0" bIns="0" rtlCol="0" anchor="ctr"/>
          <a:lstStyle/>
          <a:p>
            <a:pPr marL="0" indent="0" algn="ctr">
              <a:buNone/>
            </a:pPr>
            <a:r>
              <a:rPr lang="en-US" sz="1600" dirty="0">
                <a:solidFill>
                  <a:schemeClr val="accent1"/>
                </a:solidFill>
                <a:latin typeface="Manrope SemiBold" pitchFamily="34" charset="0"/>
                <a:ea typeface="Manrope SemiBold" pitchFamily="34" charset="-122"/>
                <a:cs typeface="Manrope SemiBold" pitchFamily="34" charset="-120"/>
              </a:rPr>
              <a:t>3</a:t>
            </a:r>
            <a:endParaRPr lang="en-US" sz="1600" dirty="0"/>
          </a:p>
        </p:txBody>
      </p:sp>
      <p:sp>
        <p:nvSpPr>
          <p:cNvPr id="15" name="text-89"/>
          <p:cNvSpPr txBox="1"/>
          <p:nvPr/>
        </p:nvSpPr>
        <p:spPr>
          <a:xfrm>
            <a:off x="4319930" y="2880360"/>
            <a:ext cx="1702765" cy="365760"/>
          </a:xfrm>
          <a:prstGeom prst="rect">
            <a:avLst/>
          </a:prstGeom>
          <a:noFill/>
          <a:ln/>
        </p:spPr>
        <p:txBody>
          <a:bodyPr wrap="square" lIns="0" tIns="0" rIns="0" bIns="0" rtlCol="0" anchor="t"/>
          <a:lstStyle/>
          <a:p>
            <a:pPr marL="0" indent="0" algn="ctr">
              <a:buNone/>
            </a:pPr>
            <a:r>
              <a:rPr lang="en-US" sz="1700" dirty="0">
                <a:solidFill>
                  <a:schemeClr val="tx1"/>
                </a:solidFill>
                <a:latin typeface="Manrope SemiBold" pitchFamily="34" charset="0"/>
                <a:ea typeface="Manrope SemiBold" pitchFamily="34" charset="-122"/>
                <a:cs typeface="Manrope SemiBold" pitchFamily="34" charset="-120"/>
              </a:rPr>
              <a:t>Order or book</a:t>
            </a:r>
            <a:endParaRPr lang="en-US" sz="1700" dirty="0"/>
          </a:p>
        </p:txBody>
      </p:sp>
      <p:sp>
        <p:nvSpPr>
          <p:cNvPr id="16" name="text-90"/>
          <p:cNvSpPr txBox="1"/>
          <p:nvPr/>
        </p:nvSpPr>
        <p:spPr>
          <a:xfrm>
            <a:off x="4356506" y="3291840"/>
            <a:ext cx="1629613" cy="1188720"/>
          </a:xfrm>
          <a:prstGeom prst="rect">
            <a:avLst/>
          </a:prstGeom>
          <a:noFill/>
          <a:ln/>
        </p:spPr>
        <p:txBody>
          <a:bodyPr wrap="square" lIns="0" tIns="0" rIns="0" bIns="0" rtlCol="0" anchor="t"/>
          <a:lstStyle/>
          <a:p>
            <a:pPr marL="0" indent="0" algn="ctr">
              <a:buNone/>
            </a:pPr>
            <a:r>
              <a:rPr lang="en-US" sz="1400" dirty="0">
                <a:solidFill>
                  <a:schemeClr val="tx2"/>
                </a:solidFill>
              </a:rPr>
              <a:t>Delivery, pickup or a table in seconds</a:t>
            </a:r>
            <a:endParaRPr lang="en-US" sz="1400" dirty="0"/>
          </a:p>
        </p:txBody>
      </p:sp>
      <p:sp>
        <p:nvSpPr>
          <p:cNvPr id="17" name="dot-91"/>
          <p:cNvSpPr/>
          <p:nvPr/>
        </p:nvSpPr>
        <p:spPr>
          <a:xfrm>
            <a:off x="6727774" y="2103120"/>
            <a:ext cx="585216" cy="585216"/>
          </a:xfrm>
          <a:prstGeom prst="ellipse">
            <a:avLst/>
          </a:prstGeom>
          <a:solidFill>
            <a:schemeClr val="bg2"/>
          </a:solidFill>
          <a:ln w="12700">
            <a:solidFill>
              <a:schemeClr val="bg2"/>
            </a:solidFill>
            <a:prstDash val="solid"/>
          </a:ln>
        </p:spPr>
      </p:sp>
      <p:sp>
        <p:nvSpPr>
          <p:cNvPr id="18" name="text-92"/>
          <p:cNvSpPr txBox="1"/>
          <p:nvPr/>
        </p:nvSpPr>
        <p:spPr>
          <a:xfrm>
            <a:off x="6727774" y="2103120"/>
            <a:ext cx="585216" cy="585216"/>
          </a:xfrm>
          <a:prstGeom prst="rect">
            <a:avLst/>
          </a:prstGeom>
          <a:noFill/>
          <a:ln/>
        </p:spPr>
        <p:txBody>
          <a:bodyPr wrap="square" lIns="0" tIns="0" rIns="0" bIns="0" rtlCol="0" anchor="ctr"/>
          <a:lstStyle/>
          <a:p>
            <a:pPr marL="0" indent="0" algn="ctr">
              <a:buNone/>
            </a:pPr>
            <a:r>
              <a:rPr lang="en-US" sz="1600" dirty="0">
                <a:solidFill>
                  <a:schemeClr val="accent1"/>
                </a:solidFill>
                <a:latin typeface="Manrope SemiBold" pitchFamily="34" charset="0"/>
                <a:ea typeface="Manrope SemiBold" pitchFamily="34" charset="-122"/>
                <a:cs typeface="Manrope SemiBold" pitchFamily="34" charset="-120"/>
              </a:rPr>
              <a:t>4</a:t>
            </a:r>
            <a:endParaRPr lang="en-US" sz="1600" dirty="0"/>
          </a:p>
        </p:txBody>
      </p:sp>
      <p:sp>
        <p:nvSpPr>
          <p:cNvPr id="19" name="text-93"/>
          <p:cNvSpPr txBox="1"/>
          <p:nvPr/>
        </p:nvSpPr>
        <p:spPr>
          <a:xfrm>
            <a:off x="6169000" y="2880360"/>
            <a:ext cx="1702765" cy="365760"/>
          </a:xfrm>
          <a:prstGeom prst="rect">
            <a:avLst/>
          </a:prstGeom>
          <a:noFill/>
          <a:ln/>
        </p:spPr>
        <p:txBody>
          <a:bodyPr wrap="square" lIns="0" tIns="0" rIns="0" bIns="0" rtlCol="0" anchor="t"/>
          <a:lstStyle/>
          <a:p>
            <a:pPr marL="0" indent="0" algn="ctr">
              <a:buNone/>
            </a:pPr>
            <a:r>
              <a:rPr lang="en-US" sz="1700" dirty="0">
                <a:solidFill>
                  <a:schemeClr val="tx1"/>
                </a:solidFill>
                <a:latin typeface="Manrope SemiBold" pitchFamily="34" charset="0"/>
                <a:ea typeface="Manrope SemiBold" pitchFamily="34" charset="-122"/>
                <a:cs typeface="Manrope SemiBold" pitchFamily="34" charset="-120"/>
              </a:rPr>
              <a:t>Pay</a:t>
            </a:r>
            <a:endParaRPr lang="en-US" sz="1700" dirty="0"/>
          </a:p>
        </p:txBody>
      </p:sp>
      <p:sp>
        <p:nvSpPr>
          <p:cNvPr id="20" name="text-94"/>
          <p:cNvSpPr txBox="1"/>
          <p:nvPr/>
        </p:nvSpPr>
        <p:spPr>
          <a:xfrm>
            <a:off x="6205576" y="3291840"/>
            <a:ext cx="1629613" cy="1188720"/>
          </a:xfrm>
          <a:prstGeom prst="rect">
            <a:avLst/>
          </a:prstGeom>
          <a:noFill/>
          <a:ln/>
        </p:spPr>
        <p:txBody>
          <a:bodyPr wrap="square" lIns="0" tIns="0" rIns="0" bIns="0" rtlCol="0" anchor="t"/>
          <a:lstStyle/>
          <a:p>
            <a:pPr marL="0" indent="0" algn="ctr">
              <a:buNone/>
            </a:pPr>
            <a:r>
              <a:rPr lang="en-US" sz="1400" dirty="0">
                <a:solidFill>
                  <a:schemeClr val="tx2"/>
                </a:solidFill>
              </a:rPr>
              <a:t>Paystack: card, bank transfer or USSD</a:t>
            </a:r>
            <a:endParaRPr lang="en-US" sz="1400" dirty="0"/>
          </a:p>
        </p:txBody>
      </p:sp>
      <p:sp>
        <p:nvSpPr>
          <p:cNvPr id="21" name="dot-95"/>
          <p:cNvSpPr/>
          <p:nvPr/>
        </p:nvSpPr>
        <p:spPr>
          <a:xfrm>
            <a:off x="8576843" y="2103120"/>
            <a:ext cx="585216" cy="585216"/>
          </a:xfrm>
          <a:prstGeom prst="ellipse">
            <a:avLst/>
          </a:prstGeom>
          <a:solidFill>
            <a:schemeClr val="bg2"/>
          </a:solidFill>
          <a:ln w="12700">
            <a:solidFill>
              <a:schemeClr val="bg2"/>
            </a:solidFill>
            <a:prstDash val="solid"/>
          </a:ln>
        </p:spPr>
      </p:sp>
      <p:sp>
        <p:nvSpPr>
          <p:cNvPr id="22" name="text-96"/>
          <p:cNvSpPr txBox="1"/>
          <p:nvPr/>
        </p:nvSpPr>
        <p:spPr>
          <a:xfrm>
            <a:off x="8576843" y="2103120"/>
            <a:ext cx="585216" cy="585216"/>
          </a:xfrm>
          <a:prstGeom prst="rect">
            <a:avLst/>
          </a:prstGeom>
          <a:noFill/>
          <a:ln/>
        </p:spPr>
        <p:txBody>
          <a:bodyPr wrap="square" lIns="0" tIns="0" rIns="0" bIns="0" rtlCol="0" anchor="ctr"/>
          <a:lstStyle/>
          <a:p>
            <a:pPr marL="0" indent="0" algn="ctr">
              <a:buNone/>
            </a:pPr>
            <a:r>
              <a:rPr lang="en-US" sz="1600" dirty="0">
                <a:solidFill>
                  <a:schemeClr val="accent1"/>
                </a:solidFill>
                <a:latin typeface="Manrope SemiBold" pitchFamily="34" charset="0"/>
                <a:ea typeface="Manrope SemiBold" pitchFamily="34" charset="-122"/>
                <a:cs typeface="Manrope SemiBold" pitchFamily="34" charset="-120"/>
              </a:rPr>
              <a:t>5</a:t>
            </a:r>
            <a:endParaRPr lang="en-US" sz="1600" dirty="0"/>
          </a:p>
        </p:txBody>
      </p:sp>
      <p:sp>
        <p:nvSpPr>
          <p:cNvPr id="23" name="text-97"/>
          <p:cNvSpPr txBox="1"/>
          <p:nvPr/>
        </p:nvSpPr>
        <p:spPr>
          <a:xfrm>
            <a:off x="8018069" y="2880360"/>
            <a:ext cx="1702765" cy="365760"/>
          </a:xfrm>
          <a:prstGeom prst="rect">
            <a:avLst/>
          </a:prstGeom>
          <a:noFill/>
          <a:ln/>
        </p:spPr>
        <p:txBody>
          <a:bodyPr wrap="square" lIns="0" tIns="0" rIns="0" bIns="0" rtlCol="0" anchor="t"/>
          <a:lstStyle/>
          <a:p>
            <a:pPr marL="0" indent="0" algn="ctr">
              <a:buNone/>
            </a:pPr>
            <a:r>
              <a:rPr lang="en-US" sz="1700" dirty="0">
                <a:solidFill>
                  <a:schemeClr val="tx1"/>
                </a:solidFill>
                <a:latin typeface="Manrope SemiBold" pitchFamily="34" charset="0"/>
                <a:ea typeface="Manrope SemiBold" pitchFamily="34" charset="-122"/>
                <a:cs typeface="Manrope SemiBold" pitchFamily="34" charset="-120"/>
              </a:rPr>
              <a:t>Track</a:t>
            </a:r>
            <a:endParaRPr lang="en-US" sz="1700" dirty="0"/>
          </a:p>
        </p:txBody>
      </p:sp>
      <p:sp>
        <p:nvSpPr>
          <p:cNvPr id="24" name="text-98"/>
          <p:cNvSpPr txBox="1"/>
          <p:nvPr/>
        </p:nvSpPr>
        <p:spPr>
          <a:xfrm>
            <a:off x="8054645" y="3291840"/>
            <a:ext cx="1629613" cy="1188720"/>
          </a:xfrm>
          <a:prstGeom prst="rect">
            <a:avLst/>
          </a:prstGeom>
          <a:noFill/>
          <a:ln/>
        </p:spPr>
        <p:txBody>
          <a:bodyPr wrap="square" lIns="0" tIns="0" rIns="0" bIns="0" rtlCol="0" anchor="t"/>
          <a:lstStyle/>
          <a:p>
            <a:pPr marL="0" indent="0" algn="ctr">
              <a:buNone/>
            </a:pPr>
            <a:r>
              <a:rPr lang="en-US" sz="1400" dirty="0">
                <a:solidFill>
                  <a:schemeClr val="tx2"/>
                </a:solidFill>
              </a:rPr>
              <a:t>Live order status and booking confirmation</a:t>
            </a:r>
            <a:endParaRPr lang="en-US" sz="1400" dirty="0"/>
          </a:p>
        </p:txBody>
      </p:sp>
      <p:sp>
        <p:nvSpPr>
          <p:cNvPr id="25" name="dot-99"/>
          <p:cNvSpPr/>
          <p:nvPr/>
        </p:nvSpPr>
        <p:spPr>
          <a:xfrm>
            <a:off x="10425913" y="2103120"/>
            <a:ext cx="585216" cy="585216"/>
          </a:xfrm>
          <a:prstGeom prst="ellipse">
            <a:avLst/>
          </a:prstGeom>
          <a:solidFill>
            <a:schemeClr val="accent1"/>
          </a:solidFill>
          <a:ln w="12700">
            <a:solidFill>
              <a:schemeClr val="accent1"/>
            </a:solidFill>
            <a:prstDash val="solid"/>
          </a:ln>
        </p:spPr>
      </p:sp>
      <p:sp>
        <p:nvSpPr>
          <p:cNvPr id="26" name="text-100"/>
          <p:cNvSpPr txBox="1"/>
          <p:nvPr/>
        </p:nvSpPr>
        <p:spPr>
          <a:xfrm>
            <a:off x="10425913" y="2103120"/>
            <a:ext cx="585216" cy="585216"/>
          </a:xfrm>
          <a:prstGeom prst="rect">
            <a:avLst/>
          </a:prstGeom>
          <a:noFill/>
          <a:ln/>
        </p:spPr>
        <p:txBody>
          <a:bodyPr wrap="square" lIns="0" tIns="0" rIns="0" bIns="0" rtlCol="0" anchor="ctr"/>
          <a:lstStyle/>
          <a:p>
            <a:pPr marL="0" indent="0" algn="ctr">
              <a:buNone/>
            </a:pPr>
            <a:r>
              <a:rPr lang="en-US" sz="1600" dirty="0">
                <a:solidFill>
                  <a:schemeClr val="bg1"/>
                </a:solidFill>
                <a:latin typeface="Manrope SemiBold" pitchFamily="34" charset="0"/>
                <a:ea typeface="Manrope SemiBold" pitchFamily="34" charset="-122"/>
                <a:cs typeface="Manrope SemiBold" pitchFamily="34" charset="-120"/>
              </a:rPr>
              <a:t>6</a:t>
            </a:r>
            <a:endParaRPr lang="en-US" sz="1600" dirty="0"/>
          </a:p>
        </p:txBody>
      </p:sp>
      <p:sp>
        <p:nvSpPr>
          <p:cNvPr id="27" name="text-101"/>
          <p:cNvSpPr txBox="1"/>
          <p:nvPr/>
        </p:nvSpPr>
        <p:spPr>
          <a:xfrm>
            <a:off x="9867138" y="2880360"/>
            <a:ext cx="1702765" cy="365760"/>
          </a:xfrm>
          <a:prstGeom prst="rect">
            <a:avLst/>
          </a:prstGeom>
          <a:noFill/>
          <a:ln/>
        </p:spPr>
        <p:txBody>
          <a:bodyPr wrap="square" lIns="0" tIns="0" rIns="0" bIns="0" rtlCol="0" anchor="t"/>
          <a:lstStyle/>
          <a:p>
            <a:pPr marL="0" indent="0" algn="ctr">
              <a:buNone/>
            </a:pPr>
            <a:r>
              <a:rPr lang="en-US" sz="1700" dirty="0">
                <a:solidFill>
                  <a:schemeClr val="tx1"/>
                </a:solidFill>
                <a:latin typeface="Manrope SemiBold" pitchFamily="34" charset="0"/>
                <a:ea typeface="Manrope SemiBold" pitchFamily="34" charset="-122"/>
                <a:cs typeface="Manrope SemiBold" pitchFamily="34" charset="-120"/>
              </a:rPr>
              <a:t>Return</a:t>
            </a:r>
            <a:endParaRPr lang="en-US" sz="1700" dirty="0"/>
          </a:p>
        </p:txBody>
      </p:sp>
      <p:sp>
        <p:nvSpPr>
          <p:cNvPr id="28" name="text-102"/>
          <p:cNvSpPr txBox="1"/>
          <p:nvPr/>
        </p:nvSpPr>
        <p:spPr>
          <a:xfrm>
            <a:off x="9903714" y="3291840"/>
            <a:ext cx="1629613" cy="1188720"/>
          </a:xfrm>
          <a:prstGeom prst="rect">
            <a:avLst/>
          </a:prstGeom>
          <a:noFill/>
          <a:ln/>
        </p:spPr>
        <p:txBody>
          <a:bodyPr wrap="square" lIns="0" tIns="0" rIns="0" bIns="0" rtlCol="0" anchor="t"/>
          <a:lstStyle/>
          <a:p>
            <a:pPr marL="0" indent="0" algn="ctr">
              <a:buNone/>
            </a:pPr>
            <a:r>
              <a:rPr lang="en-US" sz="1400" dirty="0">
                <a:solidFill>
                  <a:schemeClr val="tx2"/>
                </a:solidFill>
              </a:rPr>
              <a:t>Points, interest on dining credit, birthday rewards</a:t>
            </a:r>
            <a:endParaRPr lang="en-US" sz="1400" dirty="0"/>
          </a:p>
        </p:txBody>
      </p:sp>
      <p:sp>
        <p:nvSpPr>
          <p:cNvPr id="29" name="card-103"/>
          <p:cNvSpPr/>
          <p:nvPr/>
        </p:nvSpPr>
        <p:spPr>
          <a:xfrm>
            <a:off x="548640" y="4709160"/>
            <a:ext cx="11094415" cy="1234440"/>
          </a:xfrm>
          <a:prstGeom prst="roundRect">
            <a:avLst>
              <a:gd name="adj" fmla="val 7407"/>
            </a:avLst>
          </a:prstGeom>
          <a:solidFill>
            <a:schemeClr val="bg2"/>
          </a:solidFill>
          <a:ln w="12700">
            <a:solidFill>
              <a:schemeClr val="bg2"/>
            </a:solidFill>
            <a:prstDash val="solid"/>
          </a:ln>
        </p:spPr>
      </p:sp>
      <p:sp>
        <p:nvSpPr>
          <p:cNvPr id="30" name="text-104"/>
          <p:cNvSpPr txBox="1"/>
          <p:nvPr/>
        </p:nvSpPr>
        <p:spPr>
          <a:xfrm>
            <a:off x="914400" y="4709160"/>
            <a:ext cx="10362895" cy="1234440"/>
          </a:xfrm>
          <a:prstGeom prst="rect">
            <a:avLst/>
          </a:prstGeom>
          <a:noFill/>
          <a:ln/>
        </p:spPr>
        <p:txBody>
          <a:bodyPr wrap="square" lIns="0" tIns="0" rIns="0" bIns="0" rtlCol="0" anchor="ctr"/>
          <a:lstStyle/>
          <a:p>
            <a:pPr marL="0" indent="0">
              <a:buNone/>
            </a:pPr>
            <a:r>
              <a:rPr lang="en-US" sz="1800" dirty="0">
                <a:solidFill>
                  <a:schemeClr val="tx1"/>
                </a:solidFill>
              </a:rPr>
              <a:t>Every step works on a phone, and every step brings the guest back to Small Africa’s own website, not a third-party app.</a:t>
            </a:r>
            <a:endParaRPr lang="en-US" sz="1800" dirty="0"/>
          </a:p>
        </p:txBody>
      </p:sp>
      <p:sp>
        <p:nvSpPr>
          <p:cNvPr id="31" name="Slide Number Placeholder 0"/>
          <p:cNvSpPr>
            <a:spLocks noGrp="1"/>
          </p:cNvSpPr>
          <p:nvPr>
            <p:ph type="sldNum" sz="quarter" idx="4294967295"/>
          </p:nvPr>
        </p:nvSpPr>
        <p:spPr>
          <a:xfrm>
            <a:off x="10500055" y="6309360"/>
            <a:ext cx="73152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Manrope"/>
                <a:ea typeface="Manrope"/>
                <a:cs typeface="Manrope"/>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84048"/>
            <a:ext cx="8229600" cy="310896"/>
          </a:xfrm>
          <a:prstGeom prst="rect">
            <a:avLst/>
          </a:prstGeom>
          <a:noFill/>
          <a:ln/>
        </p:spPr>
        <p:txBody>
          <a:bodyPr wrap="square" lIns="0" tIns="0" rIns="0" bIns="0" rtlCol="0"/>
          <a:lstStyle/>
          <a:p>
            <a:pPr marL="0" indent="0">
              <a:buNone/>
            </a:pPr>
            <a:r>
              <a:rPr lang="en-US" sz="1200" kern="0" spc="300" dirty="0">
                <a:solidFill>
                  <a:schemeClr val="accent1"/>
                </a:solidFill>
                <a:latin typeface="Manrope SemiBold" pitchFamily="34" charset="0"/>
                <a:ea typeface="Manrope SemiBold" pitchFamily="34" charset="-122"/>
                <a:cs typeface="Manrope SemiBold" pitchFamily="34" charset="-120"/>
              </a:rPr>
              <a:t>06 · MENU &amp; THREE KITCHENS</a:t>
            </a:r>
            <a:endParaRPr lang="en-US" sz="1200" dirty="0"/>
          </a:p>
        </p:txBody>
      </p:sp>
      <p:sp>
        <p:nvSpPr>
          <p:cNvPr id="3" name="Text 0"/>
          <p:cNvSpPr>
            <a:spLocks noGrp="1"/>
          </p:cNvSpPr>
          <p:nvPr>
            <p:ph type="title" idx="102" hasCustomPrompt="1"/>
          </p:nvPr>
        </p:nvSpPr>
        <p:spPr>
          <a:xfrm>
            <a:off x="548640" y="676656"/>
            <a:ext cx="11094415" cy="786384"/>
          </a:xfrm>
          <a:prstGeom prst="rect">
            <a:avLst/>
          </a:prstGeom>
          <a:noFill/>
          <a:ln/>
        </p:spPr>
        <p:txBody>
          <a:bodyPr wrap="square" lIns="0" tIns="0" rIns="0" bIns="0" rtlCol="0" anchor="t"/>
          <a:lstStyle/>
          <a:p>
            <a:pPr marL="0" indent="0" algn="l">
              <a:buNone/>
            </a:pPr>
            <a:r>
              <a:rPr lang="en-US" sz="3800" dirty="0">
                <a:solidFill>
                  <a:schemeClr val="tx1"/>
                </a:solidFill>
              </a:rPr>
              <a:t>Fifty-four dishes, each with its own page</a:t>
            </a:r>
            <a:endParaRPr lang="en-US" sz="3800" dirty="0"/>
          </a:p>
        </p:txBody>
      </p:sp>
      <p:sp>
        <p:nvSpPr>
          <p:cNvPr id="4" name="frame-105"/>
          <p:cNvSpPr/>
          <p:nvPr/>
        </p:nvSpPr>
        <p:spPr>
          <a:xfrm>
            <a:off x="548640" y="1719072"/>
            <a:ext cx="6163056" cy="3522726"/>
          </a:xfrm>
          <a:prstGeom prst="roundRect">
            <a:avLst>
              <a:gd name="adj" fmla="val 2596"/>
            </a:avLst>
          </a:prstGeom>
          <a:solidFill>
            <a:schemeClr val="bg2"/>
          </a:solidFill>
          <a:ln w="9525">
            <a:solidFill>
              <a:schemeClr val="accent1">
                <a:alpha val="55000"/>
              </a:schemeClr>
            </a:solidFill>
            <a:prstDash val="solid"/>
          </a:ln>
        </p:spPr>
      </p:sp>
      <p:pic>
        <p:nvPicPr>
          <p:cNvPr id="5" name="screenshot-106" descr="menu polish"/>
          <p:cNvPicPr>
            <a:picLocks noChangeAspect="1"/>
          </p:cNvPicPr>
          <p:nvPr/>
        </p:nvPicPr>
        <p:blipFill>
          <a:blip r:embed="rId3"/>
          <a:stretch>
            <a:fillRect/>
          </a:stretch>
        </p:blipFill>
        <p:spPr>
          <a:xfrm>
            <a:off x="612648" y="1783080"/>
            <a:ext cx="6035040" cy="3394710"/>
          </a:xfrm>
          <a:prstGeom prst="rect">
            <a:avLst/>
          </a:prstGeom>
        </p:spPr>
      </p:pic>
      <p:pic>
        <p:nvPicPr>
          <p:cNvPr id="6" name="dish-photo-107" descr="Smoky Party Jollof"/>
          <p:cNvPicPr>
            <a:picLocks noChangeAspect="1"/>
          </p:cNvPicPr>
          <p:nvPr/>
        </p:nvPicPr>
        <p:blipFill>
          <a:blip r:embed="rId4"/>
          <a:srcRect/>
          <a:stretch/>
        </p:blipFill>
        <p:spPr>
          <a:xfrm>
            <a:off x="7086600" y="1783080"/>
            <a:ext cx="1325880" cy="960120"/>
          </a:xfrm>
          <a:prstGeom prst="rect">
            <a:avLst/>
          </a:prstGeom>
        </p:spPr>
      </p:pic>
      <p:sp>
        <p:nvSpPr>
          <p:cNvPr id="7" name="dot-108"/>
          <p:cNvSpPr/>
          <p:nvPr/>
        </p:nvSpPr>
        <p:spPr>
          <a:xfrm>
            <a:off x="8641080" y="1837944"/>
            <a:ext cx="182880" cy="182880"/>
          </a:xfrm>
          <a:prstGeom prst="ellipse">
            <a:avLst/>
          </a:prstGeom>
          <a:solidFill>
            <a:schemeClr val="accent2"/>
          </a:solidFill>
          <a:ln w="12700">
            <a:solidFill>
              <a:schemeClr val="accent2"/>
            </a:solidFill>
            <a:prstDash val="solid"/>
          </a:ln>
        </p:spPr>
      </p:sp>
      <p:sp>
        <p:nvSpPr>
          <p:cNvPr id="8" name="text-109"/>
          <p:cNvSpPr txBox="1"/>
          <p:nvPr/>
        </p:nvSpPr>
        <p:spPr>
          <a:xfrm>
            <a:off x="8915400" y="1783080"/>
            <a:ext cx="2743200" cy="292608"/>
          </a:xfrm>
          <a:prstGeom prst="rect">
            <a:avLst/>
          </a:prstGeom>
          <a:noFill/>
          <a:ln/>
        </p:spPr>
        <p:txBody>
          <a:bodyPr wrap="square" lIns="0" tIns="0" rIns="0" bIns="0" rtlCol="0" anchor="t"/>
          <a:lstStyle/>
          <a:p>
            <a:pPr marL="0" indent="0">
              <a:buNone/>
            </a:pPr>
            <a:r>
              <a:rPr lang="en-US" sz="1600" dirty="0">
                <a:solidFill>
                  <a:schemeClr val="tx1"/>
                </a:solidFill>
                <a:latin typeface="Manrope SemiBold" pitchFamily="34" charset="0"/>
                <a:ea typeface="Manrope SemiBold" pitchFamily="34" charset="-122"/>
                <a:cs typeface="Manrope SemiBold" pitchFamily="34" charset="-120"/>
              </a:rPr>
              <a:t>Nigerian</a:t>
            </a:r>
            <a:endParaRPr lang="en-US" sz="1600" dirty="0"/>
          </a:p>
        </p:txBody>
      </p:sp>
      <p:sp>
        <p:nvSpPr>
          <p:cNvPr id="9" name="text-110"/>
          <p:cNvSpPr txBox="1"/>
          <p:nvPr/>
        </p:nvSpPr>
        <p:spPr>
          <a:xfrm>
            <a:off x="8641080" y="2148840"/>
            <a:ext cx="3017520" cy="457200"/>
          </a:xfrm>
          <a:prstGeom prst="rect">
            <a:avLst/>
          </a:prstGeom>
          <a:noFill/>
          <a:ln/>
        </p:spPr>
        <p:txBody>
          <a:bodyPr wrap="square" lIns="0" tIns="0" rIns="0" bIns="0" rtlCol="0" anchor="t"/>
          <a:lstStyle/>
          <a:p>
            <a:pPr marL="0" indent="0">
              <a:buNone/>
            </a:pPr>
            <a:r>
              <a:rPr lang="en-US" sz="2000" dirty="0">
                <a:solidFill>
                  <a:schemeClr val="tx2"/>
                </a:solidFill>
                <a:latin typeface="Cormorant Garamond SemiBold" pitchFamily="34" charset="0"/>
                <a:ea typeface="Cormorant Garamond SemiBold" pitchFamily="34" charset="-122"/>
                <a:cs typeface="Cormorant Garamond SemiBold" pitchFamily="34" charset="-120"/>
              </a:rPr>
              <a:t>Smoky Party Jollof</a:t>
            </a:r>
            <a:endParaRPr lang="en-US" sz="2000" dirty="0"/>
          </a:p>
        </p:txBody>
      </p:sp>
      <p:pic>
        <p:nvPicPr>
          <p:cNvPr id="10" name="dish-photo-111" descr="Pierogi Ruskie"/>
          <p:cNvPicPr>
            <a:picLocks noChangeAspect="1"/>
          </p:cNvPicPr>
          <p:nvPr/>
        </p:nvPicPr>
        <p:blipFill>
          <a:blip r:embed="rId5"/>
          <a:srcRect/>
          <a:stretch/>
        </p:blipFill>
        <p:spPr>
          <a:xfrm>
            <a:off x="7086600" y="2926080"/>
            <a:ext cx="1325880" cy="960120"/>
          </a:xfrm>
          <a:prstGeom prst="rect">
            <a:avLst/>
          </a:prstGeom>
        </p:spPr>
      </p:pic>
      <p:sp>
        <p:nvSpPr>
          <p:cNvPr id="11" name="dot-112"/>
          <p:cNvSpPr/>
          <p:nvPr/>
        </p:nvSpPr>
        <p:spPr>
          <a:xfrm>
            <a:off x="8641080" y="2980944"/>
            <a:ext cx="182880" cy="182880"/>
          </a:xfrm>
          <a:prstGeom prst="ellipse">
            <a:avLst/>
          </a:prstGeom>
          <a:solidFill>
            <a:schemeClr val="accent3"/>
          </a:solidFill>
          <a:ln w="12700">
            <a:solidFill>
              <a:schemeClr val="accent3"/>
            </a:solidFill>
            <a:prstDash val="solid"/>
          </a:ln>
        </p:spPr>
      </p:sp>
      <p:sp>
        <p:nvSpPr>
          <p:cNvPr id="12" name="text-113"/>
          <p:cNvSpPr txBox="1"/>
          <p:nvPr/>
        </p:nvSpPr>
        <p:spPr>
          <a:xfrm>
            <a:off x="8915400" y="2926080"/>
            <a:ext cx="2743200" cy="292608"/>
          </a:xfrm>
          <a:prstGeom prst="rect">
            <a:avLst/>
          </a:prstGeom>
          <a:noFill/>
          <a:ln/>
        </p:spPr>
        <p:txBody>
          <a:bodyPr wrap="square" lIns="0" tIns="0" rIns="0" bIns="0" rtlCol="0" anchor="t"/>
          <a:lstStyle/>
          <a:p>
            <a:pPr marL="0" indent="0">
              <a:buNone/>
            </a:pPr>
            <a:r>
              <a:rPr lang="en-US" sz="1600" dirty="0">
                <a:solidFill>
                  <a:schemeClr val="tx1"/>
                </a:solidFill>
                <a:latin typeface="Manrope SemiBold" pitchFamily="34" charset="0"/>
                <a:ea typeface="Manrope SemiBold" pitchFamily="34" charset="-122"/>
                <a:cs typeface="Manrope SemiBold" pitchFamily="34" charset="-120"/>
              </a:rPr>
              <a:t>Polish</a:t>
            </a:r>
            <a:endParaRPr lang="en-US" sz="1600" dirty="0"/>
          </a:p>
        </p:txBody>
      </p:sp>
      <p:sp>
        <p:nvSpPr>
          <p:cNvPr id="13" name="text-114"/>
          <p:cNvSpPr txBox="1"/>
          <p:nvPr/>
        </p:nvSpPr>
        <p:spPr>
          <a:xfrm>
            <a:off x="8641080" y="3291840"/>
            <a:ext cx="3017520" cy="457200"/>
          </a:xfrm>
          <a:prstGeom prst="rect">
            <a:avLst/>
          </a:prstGeom>
          <a:noFill/>
          <a:ln/>
        </p:spPr>
        <p:txBody>
          <a:bodyPr wrap="square" lIns="0" tIns="0" rIns="0" bIns="0" rtlCol="0" anchor="t"/>
          <a:lstStyle/>
          <a:p>
            <a:pPr marL="0" indent="0">
              <a:buNone/>
            </a:pPr>
            <a:r>
              <a:rPr lang="en-US" sz="2000" dirty="0">
                <a:solidFill>
                  <a:schemeClr val="tx2"/>
                </a:solidFill>
                <a:latin typeface="Cormorant Garamond SemiBold" pitchFamily="34" charset="0"/>
                <a:ea typeface="Cormorant Garamond SemiBold" pitchFamily="34" charset="-122"/>
                <a:cs typeface="Cormorant Garamond SemiBold" pitchFamily="34" charset="-120"/>
              </a:rPr>
              <a:t>Pierogi Ruskie</a:t>
            </a:r>
            <a:endParaRPr lang="en-US" sz="2000" dirty="0"/>
          </a:p>
        </p:txBody>
      </p:sp>
      <p:pic>
        <p:nvPicPr>
          <p:cNvPr id="14" name="dish-photo-115" descr="Beef Wellington"/>
          <p:cNvPicPr>
            <a:picLocks noChangeAspect="1"/>
          </p:cNvPicPr>
          <p:nvPr/>
        </p:nvPicPr>
        <p:blipFill>
          <a:blip r:embed="rId6"/>
          <a:srcRect/>
          <a:stretch/>
        </p:blipFill>
        <p:spPr>
          <a:xfrm>
            <a:off x="7086600" y="4069080"/>
            <a:ext cx="1325880" cy="960120"/>
          </a:xfrm>
          <a:prstGeom prst="rect">
            <a:avLst/>
          </a:prstGeom>
        </p:spPr>
      </p:pic>
      <p:sp>
        <p:nvSpPr>
          <p:cNvPr id="15" name="dot-116"/>
          <p:cNvSpPr/>
          <p:nvPr/>
        </p:nvSpPr>
        <p:spPr>
          <a:xfrm>
            <a:off x="8641080" y="4123944"/>
            <a:ext cx="182880" cy="182880"/>
          </a:xfrm>
          <a:prstGeom prst="ellipse">
            <a:avLst/>
          </a:prstGeom>
          <a:solidFill>
            <a:schemeClr val="accent4"/>
          </a:solidFill>
          <a:ln w="12700">
            <a:solidFill>
              <a:schemeClr val="accent4"/>
            </a:solidFill>
            <a:prstDash val="solid"/>
          </a:ln>
        </p:spPr>
      </p:sp>
      <p:sp>
        <p:nvSpPr>
          <p:cNvPr id="16" name="text-117"/>
          <p:cNvSpPr txBox="1"/>
          <p:nvPr/>
        </p:nvSpPr>
        <p:spPr>
          <a:xfrm>
            <a:off x="8915400" y="4069080"/>
            <a:ext cx="2743200" cy="292608"/>
          </a:xfrm>
          <a:prstGeom prst="rect">
            <a:avLst/>
          </a:prstGeom>
          <a:noFill/>
          <a:ln/>
        </p:spPr>
        <p:txBody>
          <a:bodyPr wrap="square" lIns="0" tIns="0" rIns="0" bIns="0" rtlCol="0" anchor="t"/>
          <a:lstStyle/>
          <a:p>
            <a:pPr marL="0" indent="0">
              <a:buNone/>
            </a:pPr>
            <a:r>
              <a:rPr lang="en-US" sz="1600" dirty="0">
                <a:solidFill>
                  <a:schemeClr val="tx1"/>
                </a:solidFill>
                <a:latin typeface="Manrope SemiBold" pitchFamily="34" charset="0"/>
                <a:ea typeface="Manrope SemiBold" pitchFamily="34" charset="-122"/>
                <a:cs typeface="Manrope SemiBold" pitchFamily="34" charset="-120"/>
              </a:rPr>
              <a:t>Continental</a:t>
            </a:r>
            <a:endParaRPr lang="en-US" sz="1600" dirty="0"/>
          </a:p>
        </p:txBody>
      </p:sp>
      <p:sp>
        <p:nvSpPr>
          <p:cNvPr id="17" name="text-118"/>
          <p:cNvSpPr txBox="1"/>
          <p:nvPr/>
        </p:nvSpPr>
        <p:spPr>
          <a:xfrm>
            <a:off x="8641080" y="4434840"/>
            <a:ext cx="3017520" cy="457200"/>
          </a:xfrm>
          <a:prstGeom prst="rect">
            <a:avLst/>
          </a:prstGeom>
          <a:noFill/>
          <a:ln/>
        </p:spPr>
        <p:txBody>
          <a:bodyPr wrap="square" lIns="0" tIns="0" rIns="0" bIns="0" rtlCol="0" anchor="t"/>
          <a:lstStyle/>
          <a:p>
            <a:pPr marL="0" indent="0">
              <a:buNone/>
            </a:pPr>
            <a:r>
              <a:rPr lang="en-US" sz="2000" dirty="0">
                <a:solidFill>
                  <a:schemeClr val="tx2"/>
                </a:solidFill>
                <a:latin typeface="Cormorant Garamond SemiBold" pitchFamily="34" charset="0"/>
                <a:ea typeface="Cormorant Garamond SemiBold" pitchFamily="34" charset="-122"/>
                <a:cs typeface="Cormorant Garamond SemiBold" pitchFamily="34" charset="-120"/>
              </a:rPr>
              <a:t>Beef Wellington</a:t>
            </a:r>
            <a:endParaRPr lang="en-US" sz="2000" dirty="0"/>
          </a:p>
        </p:txBody>
      </p:sp>
      <p:sp>
        <p:nvSpPr>
          <p:cNvPr id="18" name="bullets-119"/>
          <p:cNvSpPr txBox="1"/>
          <p:nvPr/>
        </p:nvSpPr>
        <p:spPr>
          <a:xfrm>
            <a:off x="7086600" y="5257800"/>
            <a:ext cx="4572000" cy="91440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chemeClr val="tx1"/>
                </a:solidFill>
              </a:rPr>
              <a:t>Filter by kitchen, dietary needs and “No pork”</a:t>
            </a:r>
            <a:endParaRPr lang="en-US" sz="1400" dirty="0"/>
          </a:p>
          <a:p>
            <a:pPr marL="203200" indent="-203200">
              <a:spcAft>
                <a:spcPts val="400"/>
              </a:spcAft>
              <a:buSzPct val="100000"/>
              <a:buChar char="•"/>
            </a:pPr>
            <a:r>
              <a:rPr lang="en-US" sz="1400" dirty="0">
                <a:solidFill>
                  <a:schemeClr val="tx1"/>
                </a:solidFill>
              </a:rPr>
              <a:t>Allergens, spice level and photos on every dish</a:t>
            </a:r>
            <a:endParaRPr lang="en-US" sz="1400" dirty="0"/>
          </a:p>
          <a:p>
            <a:pPr marL="203200" indent="-203200">
              <a:spcAft>
                <a:spcPts val="400"/>
              </a:spcAft>
              <a:buSzPct val="100000"/>
              <a:buChar char="•"/>
            </a:pPr>
            <a:r>
              <a:rPr lang="en-US" sz="1400" dirty="0">
                <a:solidFill>
                  <a:schemeClr val="tx1"/>
                </a:solidFill>
              </a:rPr>
              <a:t>Prices, photos and sold-out changed in the admin</a:t>
            </a:r>
            <a:endParaRPr lang="en-US" sz="1400" dirty="0"/>
          </a:p>
        </p:txBody>
      </p:sp>
      <p:sp>
        <p:nvSpPr>
          <p:cNvPr id="25" name="Slide Number Placeholder 0"/>
          <p:cNvSpPr>
            <a:spLocks noGrp="1"/>
          </p:cNvSpPr>
          <p:nvPr>
            <p:ph type="sldNum" sz="quarter" idx="4294967295"/>
          </p:nvPr>
        </p:nvSpPr>
        <p:spPr>
          <a:xfrm>
            <a:off x="10500055" y="6309360"/>
            <a:ext cx="73152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Manrope"/>
                <a:ea typeface="Manrope"/>
                <a:cs typeface="Manrope"/>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84048"/>
            <a:ext cx="8229600" cy="310896"/>
          </a:xfrm>
          <a:prstGeom prst="rect">
            <a:avLst/>
          </a:prstGeom>
          <a:noFill/>
          <a:ln/>
        </p:spPr>
        <p:txBody>
          <a:bodyPr wrap="square" lIns="0" tIns="0" rIns="0" bIns="0" rtlCol="0"/>
          <a:lstStyle/>
          <a:p>
            <a:pPr marL="0" indent="0">
              <a:buNone/>
            </a:pPr>
            <a:r>
              <a:rPr lang="en-US" sz="1200" kern="0" spc="300" dirty="0">
                <a:solidFill>
                  <a:schemeClr val="accent1"/>
                </a:solidFill>
                <a:latin typeface="Manrope SemiBold" pitchFamily="34" charset="0"/>
                <a:ea typeface="Manrope SemiBold" pitchFamily="34" charset="-122"/>
                <a:cs typeface="Manrope SemiBold" pitchFamily="34" charset="-120"/>
              </a:rPr>
              <a:t>07 · RESERVATIONS</a:t>
            </a:r>
            <a:endParaRPr lang="en-US" sz="1200" dirty="0"/>
          </a:p>
        </p:txBody>
      </p:sp>
      <p:sp>
        <p:nvSpPr>
          <p:cNvPr id="3" name="Text 0"/>
          <p:cNvSpPr>
            <a:spLocks noGrp="1"/>
          </p:cNvSpPr>
          <p:nvPr>
            <p:ph type="title" idx="102" hasCustomPrompt="1"/>
          </p:nvPr>
        </p:nvSpPr>
        <p:spPr>
          <a:xfrm>
            <a:off x="548640" y="676656"/>
            <a:ext cx="11094415" cy="786384"/>
          </a:xfrm>
          <a:prstGeom prst="rect">
            <a:avLst/>
          </a:prstGeom>
          <a:noFill/>
          <a:ln/>
        </p:spPr>
        <p:txBody>
          <a:bodyPr wrap="square" lIns="0" tIns="0" rIns="0" bIns="0" rtlCol="0" anchor="t"/>
          <a:lstStyle/>
          <a:p>
            <a:pPr marL="0" indent="0" algn="l">
              <a:buNone/>
            </a:pPr>
            <a:r>
              <a:rPr lang="en-US" sz="3800" dirty="0">
                <a:solidFill>
                  <a:schemeClr val="tx1"/>
                </a:solidFill>
              </a:rPr>
              <a:t>Tables that book themselves</a:t>
            </a:r>
            <a:endParaRPr lang="en-US" sz="3800" dirty="0"/>
          </a:p>
        </p:txBody>
      </p:sp>
      <p:sp>
        <p:nvSpPr>
          <p:cNvPr id="4" name="frame-120"/>
          <p:cNvSpPr/>
          <p:nvPr/>
        </p:nvSpPr>
        <p:spPr>
          <a:xfrm>
            <a:off x="5925312" y="1719072"/>
            <a:ext cx="5751576" cy="3291269"/>
          </a:xfrm>
          <a:prstGeom prst="roundRect">
            <a:avLst>
              <a:gd name="adj" fmla="val 2778"/>
            </a:avLst>
          </a:prstGeom>
          <a:solidFill>
            <a:schemeClr val="bg2"/>
          </a:solidFill>
          <a:ln w="9525">
            <a:solidFill>
              <a:schemeClr val="accent1">
                <a:alpha val="55000"/>
              </a:schemeClr>
            </a:solidFill>
            <a:prstDash val="solid"/>
          </a:ln>
        </p:spPr>
      </p:sp>
      <p:pic>
        <p:nvPicPr>
          <p:cNvPr id="5" name="screenshot-121" descr="flow 4 booked"/>
          <p:cNvPicPr>
            <a:picLocks noChangeAspect="1"/>
          </p:cNvPicPr>
          <p:nvPr/>
        </p:nvPicPr>
        <p:blipFill>
          <a:blip r:embed="rId3"/>
          <a:stretch>
            <a:fillRect/>
          </a:stretch>
        </p:blipFill>
        <p:spPr>
          <a:xfrm>
            <a:off x="5989320" y="1783080"/>
            <a:ext cx="5623560" cy="3163253"/>
          </a:xfrm>
          <a:prstGeom prst="rect">
            <a:avLst/>
          </a:prstGeom>
        </p:spPr>
      </p:pic>
      <p:sp>
        <p:nvSpPr>
          <p:cNvPr id="6" name="text-122"/>
          <p:cNvSpPr txBox="1"/>
          <p:nvPr/>
        </p:nvSpPr>
        <p:spPr>
          <a:xfrm>
            <a:off x="548640" y="1783080"/>
            <a:ext cx="5029200" cy="292608"/>
          </a:xfrm>
          <a:prstGeom prst="rect">
            <a:avLst/>
          </a:prstGeom>
          <a:noFill/>
          <a:ln/>
        </p:spPr>
        <p:txBody>
          <a:bodyPr wrap="square" lIns="0" tIns="0" rIns="0" bIns="0" rtlCol="0" anchor="t"/>
          <a:lstStyle/>
          <a:p>
            <a:pPr marL="0" indent="0">
              <a:buNone/>
            </a:pPr>
            <a:r>
              <a:rPr lang="en-US" sz="1700" dirty="0">
                <a:solidFill>
                  <a:schemeClr val="tx1"/>
                </a:solidFill>
                <a:latin typeface="Manrope SemiBold" pitchFamily="34" charset="0"/>
                <a:ea typeface="Manrope SemiBold" pitchFamily="34" charset="-122"/>
                <a:cs typeface="Manrope SemiBold" pitchFamily="34" charset="-120"/>
              </a:rPr>
              <a:t>Live availability</a:t>
            </a:r>
            <a:endParaRPr lang="en-US" sz="1700" dirty="0"/>
          </a:p>
        </p:txBody>
      </p:sp>
      <p:sp>
        <p:nvSpPr>
          <p:cNvPr id="7" name="text-123"/>
          <p:cNvSpPr txBox="1"/>
          <p:nvPr/>
        </p:nvSpPr>
        <p:spPr>
          <a:xfrm>
            <a:off x="548640" y="2084832"/>
            <a:ext cx="5029200" cy="676656"/>
          </a:xfrm>
          <a:prstGeom prst="rect">
            <a:avLst/>
          </a:prstGeom>
          <a:noFill/>
          <a:ln/>
        </p:spPr>
        <p:txBody>
          <a:bodyPr wrap="square" lIns="0" tIns="0" rIns="0" bIns="0" rtlCol="0" anchor="t"/>
          <a:lstStyle/>
          <a:p>
            <a:pPr marL="0" indent="0">
              <a:buNone/>
            </a:pPr>
            <a:r>
              <a:rPr lang="en-US" sz="1400" dirty="0">
                <a:solidFill>
                  <a:schemeClr val="tx2"/>
                </a:solidFill>
              </a:rPr>
              <a:t>Only times with space are offered, per seating area</a:t>
            </a:r>
            <a:endParaRPr lang="en-US" sz="1400" dirty="0"/>
          </a:p>
        </p:txBody>
      </p:sp>
      <p:sp>
        <p:nvSpPr>
          <p:cNvPr id="8" name="text-124"/>
          <p:cNvSpPr txBox="1"/>
          <p:nvPr/>
        </p:nvSpPr>
        <p:spPr>
          <a:xfrm>
            <a:off x="548640" y="2788920"/>
            <a:ext cx="5029200" cy="292608"/>
          </a:xfrm>
          <a:prstGeom prst="rect">
            <a:avLst/>
          </a:prstGeom>
          <a:noFill/>
          <a:ln/>
        </p:spPr>
        <p:txBody>
          <a:bodyPr wrap="square" lIns="0" tIns="0" rIns="0" bIns="0" rtlCol="0" anchor="t"/>
          <a:lstStyle/>
          <a:p>
            <a:pPr marL="0" indent="0">
              <a:buNone/>
            </a:pPr>
            <a:r>
              <a:rPr lang="en-US" sz="1700" dirty="0">
                <a:solidFill>
                  <a:schemeClr val="tx1"/>
                </a:solidFill>
                <a:latin typeface="Manrope SemiBold" pitchFamily="34" charset="0"/>
                <a:ea typeface="Manrope SemiBold" pitchFamily="34" charset="-122"/>
                <a:cs typeface="Manrope SemiBold" pitchFamily="34" charset="-120"/>
              </a:rPr>
              <a:t>Four areas</a:t>
            </a:r>
            <a:endParaRPr lang="en-US" sz="1700" dirty="0"/>
          </a:p>
        </p:txBody>
      </p:sp>
      <p:sp>
        <p:nvSpPr>
          <p:cNvPr id="9" name="text-125"/>
          <p:cNvSpPr txBox="1"/>
          <p:nvPr/>
        </p:nvSpPr>
        <p:spPr>
          <a:xfrm>
            <a:off x="548640" y="3090672"/>
            <a:ext cx="5029200" cy="676656"/>
          </a:xfrm>
          <a:prstGeom prst="rect">
            <a:avLst/>
          </a:prstGeom>
          <a:noFill/>
          <a:ln/>
        </p:spPr>
        <p:txBody>
          <a:bodyPr wrap="square" lIns="0" tIns="0" rIns="0" bIns="0" rtlCol="0" anchor="t"/>
          <a:lstStyle/>
          <a:p>
            <a:pPr marL="0" indent="0">
              <a:buNone/>
            </a:pPr>
            <a:r>
              <a:rPr lang="en-US" sz="1400" dirty="0">
                <a:solidFill>
                  <a:schemeClr val="tx2"/>
                </a:solidFill>
              </a:rPr>
              <a:t>Main Hall, Lounge, Terrace and Private Dining</a:t>
            </a:r>
            <a:endParaRPr lang="en-US" sz="1400" dirty="0"/>
          </a:p>
        </p:txBody>
      </p:sp>
      <p:sp>
        <p:nvSpPr>
          <p:cNvPr id="10" name="text-126"/>
          <p:cNvSpPr txBox="1"/>
          <p:nvPr/>
        </p:nvSpPr>
        <p:spPr>
          <a:xfrm>
            <a:off x="548640" y="3794760"/>
            <a:ext cx="5029200" cy="292608"/>
          </a:xfrm>
          <a:prstGeom prst="rect">
            <a:avLst/>
          </a:prstGeom>
          <a:noFill/>
          <a:ln/>
        </p:spPr>
        <p:txBody>
          <a:bodyPr wrap="square" lIns="0" tIns="0" rIns="0" bIns="0" rtlCol="0" anchor="t"/>
          <a:lstStyle/>
          <a:p>
            <a:pPr marL="0" indent="0">
              <a:buNone/>
            </a:pPr>
            <a:r>
              <a:rPr lang="en-US" sz="1700" dirty="0">
                <a:solidFill>
                  <a:schemeClr val="tx1"/>
                </a:solidFill>
                <a:latin typeface="Manrope SemiBold" pitchFamily="34" charset="0"/>
                <a:ea typeface="Manrope SemiBold" pitchFamily="34" charset="-122"/>
                <a:cs typeface="Manrope SemiBold" pitchFamily="34" charset="-120"/>
              </a:rPr>
              <a:t>Up to 12 guests online</a:t>
            </a:r>
            <a:endParaRPr lang="en-US" sz="1700" dirty="0"/>
          </a:p>
        </p:txBody>
      </p:sp>
      <p:sp>
        <p:nvSpPr>
          <p:cNvPr id="11" name="text-127"/>
          <p:cNvSpPr txBox="1"/>
          <p:nvPr/>
        </p:nvSpPr>
        <p:spPr>
          <a:xfrm>
            <a:off x="548640" y="4096512"/>
            <a:ext cx="5029200" cy="676656"/>
          </a:xfrm>
          <a:prstGeom prst="rect">
            <a:avLst/>
          </a:prstGeom>
          <a:noFill/>
          <a:ln/>
        </p:spPr>
        <p:txBody>
          <a:bodyPr wrap="square" lIns="0" tIns="0" rIns="0" bIns="0" rtlCol="0" anchor="t"/>
          <a:lstStyle/>
          <a:p>
            <a:pPr marL="0" indent="0">
              <a:buNone/>
            </a:pPr>
            <a:r>
              <a:rPr lang="en-US" sz="1400" dirty="0">
                <a:solidFill>
                  <a:schemeClr val="tx2"/>
                </a:solidFill>
              </a:rPr>
              <a:t>Larger groups and events go to an enquiry form</a:t>
            </a:r>
            <a:endParaRPr lang="en-US" sz="1400" dirty="0"/>
          </a:p>
        </p:txBody>
      </p:sp>
      <p:sp>
        <p:nvSpPr>
          <p:cNvPr id="12" name="text-128"/>
          <p:cNvSpPr txBox="1"/>
          <p:nvPr/>
        </p:nvSpPr>
        <p:spPr>
          <a:xfrm>
            <a:off x="548640" y="4800600"/>
            <a:ext cx="5029200" cy="292608"/>
          </a:xfrm>
          <a:prstGeom prst="rect">
            <a:avLst/>
          </a:prstGeom>
          <a:noFill/>
          <a:ln/>
        </p:spPr>
        <p:txBody>
          <a:bodyPr wrap="square" lIns="0" tIns="0" rIns="0" bIns="0" rtlCol="0" anchor="t"/>
          <a:lstStyle/>
          <a:p>
            <a:pPr marL="0" indent="0">
              <a:buNone/>
            </a:pPr>
            <a:r>
              <a:rPr lang="en-US" sz="1700" dirty="0">
                <a:solidFill>
                  <a:schemeClr val="tx1"/>
                </a:solidFill>
                <a:latin typeface="Manrope SemiBold" pitchFamily="34" charset="0"/>
                <a:ea typeface="Manrope SemiBold" pitchFamily="34" charset="-122"/>
                <a:cs typeface="Manrope SemiBold" pitchFamily="34" charset="-120"/>
              </a:rPr>
              <a:t>Front desk view</a:t>
            </a:r>
            <a:endParaRPr lang="en-US" sz="1700" dirty="0"/>
          </a:p>
        </p:txBody>
      </p:sp>
      <p:sp>
        <p:nvSpPr>
          <p:cNvPr id="13" name="text-129"/>
          <p:cNvSpPr txBox="1"/>
          <p:nvPr/>
        </p:nvSpPr>
        <p:spPr>
          <a:xfrm>
            <a:off x="548640" y="5102352"/>
            <a:ext cx="5029200" cy="676656"/>
          </a:xfrm>
          <a:prstGeom prst="rect">
            <a:avLst/>
          </a:prstGeom>
          <a:noFill/>
          <a:ln/>
        </p:spPr>
        <p:txBody>
          <a:bodyPr wrap="square" lIns="0" tIns="0" rIns="0" bIns="0" rtlCol="0" anchor="t"/>
          <a:lstStyle/>
          <a:p>
            <a:pPr marL="0" indent="0">
              <a:buNone/>
            </a:pPr>
            <a:r>
              <a:rPr lang="en-US" sz="1400" dirty="0">
                <a:solidFill>
                  <a:schemeClr val="tx2"/>
                </a:solidFill>
              </a:rPr>
              <a:t>Confirm, seat, move or cancel; capacity at a glance</a:t>
            </a:r>
            <a:endParaRPr lang="en-US" sz="1400" dirty="0"/>
          </a:p>
        </p:txBody>
      </p:sp>
      <p:sp>
        <p:nvSpPr>
          <p:cNvPr id="25" name="Slide Number Placeholder 0"/>
          <p:cNvSpPr>
            <a:spLocks noGrp="1"/>
          </p:cNvSpPr>
          <p:nvPr>
            <p:ph type="sldNum" sz="quarter" idx="4294967295"/>
          </p:nvPr>
        </p:nvSpPr>
        <p:spPr>
          <a:xfrm>
            <a:off x="10500055" y="6309360"/>
            <a:ext cx="73152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Manrope"/>
                <a:ea typeface="Manrope"/>
                <a:cs typeface="Manrope"/>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84048"/>
            <a:ext cx="8229600" cy="310896"/>
          </a:xfrm>
          <a:prstGeom prst="rect">
            <a:avLst/>
          </a:prstGeom>
          <a:noFill/>
          <a:ln/>
        </p:spPr>
        <p:txBody>
          <a:bodyPr wrap="square" lIns="0" tIns="0" rIns="0" bIns="0" rtlCol="0"/>
          <a:lstStyle/>
          <a:p>
            <a:pPr marL="0" indent="0">
              <a:buNone/>
            </a:pPr>
            <a:r>
              <a:rPr lang="en-US" sz="1200" kern="0" spc="300" dirty="0">
                <a:solidFill>
                  <a:schemeClr val="accent1"/>
                </a:solidFill>
                <a:latin typeface="Manrope SemiBold" pitchFamily="34" charset="0"/>
                <a:ea typeface="Manrope SemiBold" pitchFamily="34" charset="-122"/>
                <a:cs typeface="Manrope SemiBold" pitchFamily="34" charset="-120"/>
              </a:rPr>
              <a:t>08 · ONLINE ORDERING &amp; PAYMENTS</a:t>
            </a:r>
            <a:endParaRPr lang="en-US" sz="1200" dirty="0"/>
          </a:p>
        </p:txBody>
      </p:sp>
      <p:sp>
        <p:nvSpPr>
          <p:cNvPr id="3" name="Text 0"/>
          <p:cNvSpPr>
            <a:spLocks noGrp="1"/>
          </p:cNvSpPr>
          <p:nvPr>
            <p:ph type="title" idx="102" hasCustomPrompt="1"/>
          </p:nvPr>
        </p:nvSpPr>
        <p:spPr>
          <a:xfrm>
            <a:off x="548640" y="676656"/>
            <a:ext cx="11094415" cy="786384"/>
          </a:xfrm>
          <a:prstGeom prst="rect">
            <a:avLst/>
          </a:prstGeom>
          <a:noFill/>
          <a:ln/>
        </p:spPr>
        <p:txBody>
          <a:bodyPr wrap="square" lIns="0" tIns="0" rIns="0" bIns="0" rtlCol="0" anchor="t"/>
          <a:lstStyle/>
          <a:p>
            <a:pPr marL="0" indent="0" algn="l">
              <a:buNone/>
            </a:pPr>
            <a:r>
              <a:rPr lang="en-US" sz="3800" dirty="0">
                <a:solidFill>
                  <a:schemeClr val="tx1"/>
                </a:solidFill>
              </a:rPr>
              <a:t>Order in a minute, pay the way Lagos pays</a:t>
            </a:r>
            <a:endParaRPr lang="en-US" sz="3800" dirty="0"/>
          </a:p>
        </p:txBody>
      </p:sp>
      <p:sp>
        <p:nvSpPr>
          <p:cNvPr id="4" name="frame-130"/>
          <p:cNvSpPr/>
          <p:nvPr/>
        </p:nvSpPr>
        <p:spPr>
          <a:xfrm>
            <a:off x="548640" y="1719072"/>
            <a:ext cx="6163056" cy="3522726"/>
          </a:xfrm>
          <a:prstGeom prst="roundRect">
            <a:avLst>
              <a:gd name="adj" fmla="val 2596"/>
            </a:avLst>
          </a:prstGeom>
          <a:solidFill>
            <a:schemeClr val="bg2"/>
          </a:solidFill>
          <a:ln w="9525">
            <a:solidFill>
              <a:schemeClr val="accent1">
                <a:alpha val="55000"/>
              </a:schemeClr>
            </a:solidFill>
            <a:prstDash val="solid"/>
          </a:ln>
        </p:spPr>
      </p:sp>
      <p:pic>
        <p:nvPicPr>
          <p:cNvPr id="5" name="screenshot-131" descr="flow 2 pay"/>
          <p:cNvPicPr>
            <a:picLocks noChangeAspect="1"/>
          </p:cNvPicPr>
          <p:nvPr/>
        </p:nvPicPr>
        <p:blipFill>
          <a:blip r:embed="rId3"/>
          <a:stretch>
            <a:fillRect/>
          </a:stretch>
        </p:blipFill>
        <p:spPr>
          <a:xfrm>
            <a:off x="612648" y="1783080"/>
            <a:ext cx="6035040" cy="3394710"/>
          </a:xfrm>
          <a:prstGeom prst="rect">
            <a:avLst/>
          </a:prstGeom>
        </p:spPr>
      </p:pic>
      <p:sp>
        <p:nvSpPr>
          <p:cNvPr id="6" name="text-132"/>
          <p:cNvSpPr txBox="1"/>
          <p:nvPr/>
        </p:nvSpPr>
        <p:spPr>
          <a:xfrm>
            <a:off x="7086600" y="1783080"/>
            <a:ext cx="4572000" cy="292608"/>
          </a:xfrm>
          <a:prstGeom prst="rect">
            <a:avLst/>
          </a:prstGeom>
          <a:noFill/>
          <a:ln/>
        </p:spPr>
        <p:txBody>
          <a:bodyPr wrap="square" lIns="0" tIns="0" rIns="0" bIns="0" rtlCol="0" anchor="t"/>
          <a:lstStyle/>
          <a:p>
            <a:pPr marL="0" indent="0">
              <a:buNone/>
            </a:pPr>
            <a:r>
              <a:rPr lang="en-US" sz="1700" dirty="0">
                <a:solidFill>
                  <a:schemeClr val="tx1"/>
                </a:solidFill>
                <a:latin typeface="Manrope SemiBold" pitchFamily="34" charset="0"/>
                <a:ea typeface="Manrope SemiBold" pitchFamily="34" charset="-122"/>
                <a:cs typeface="Manrope SemiBold" pitchFamily="34" charset="-120"/>
              </a:rPr>
              <a:t>Delivery or pickup</a:t>
            </a:r>
            <a:endParaRPr lang="en-US" sz="1700" dirty="0"/>
          </a:p>
        </p:txBody>
      </p:sp>
      <p:sp>
        <p:nvSpPr>
          <p:cNvPr id="7" name="text-133"/>
          <p:cNvSpPr txBox="1"/>
          <p:nvPr/>
        </p:nvSpPr>
        <p:spPr>
          <a:xfrm>
            <a:off x="7086600" y="2084832"/>
            <a:ext cx="4572000" cy="676656"/>
          </a:xfrm>
          <a:prstGeom prst="rect">
            <a:avLst/>
          </a:prstGeom>
          <a:noFill/>
          <a:ln/>
        </p:spPr>
        <p:txBody>
          <a:bodyPr wrap="square" lIns="0" tIns="0" rIns="0" bIns="0" rtlCol="0" anchor="t"/>
          <a:lstStyle/>
          <a:p>
            <a:pPr marL="0" indent="0">
              <a:buNone/>
            </a:pPr>
            <a:r>
              <a:rPr lang="en-US" sz="1400" dirty="0">
                <a:solidFill>
                  <a:schemeClr val="tx2"/>
                </a:solidFill>
              </a:rPr>
              <a:t>Seven delivery zones with their own fee and time</a:t>
            </a:r>
            <a:endParaRPr lang="en-US" sz="1400" dirty="0"/>
          </a:p>
        </p:txBody>
      </p:sp>
      <p:sp>
        <p:nvSpPr>
          <p:cNvPr id="8" name="text-134"/>
          <p:cNvSpPr txBox="1"/>
          <p:nvPr/>
        </p:nvSpPr>
        <p:spPr>
          <a:xfrm>
            <a:off x="7086600" y="2788920"/>
            <a:ext cx="4572000" cy="292608"/>
          </a:xfrm>
          <a:prstGeom prst="rect">
            <a:avLst/>
          </a:prstGeom>
          <a:noFill/>
          <a:ln/>
        </p:spPr>
        <p:txBody>
          <a:bodyPr wrap="square" lIns="0" tIns="0" rIns="0" bIns="0" rtlCol="0" anchor="t"/>
          <a:lstStyle/>
          <a:p>
            <a:pPr marL="0" indent="0">
              <a:buNone/>
            </a:pPr>
            <a:r>
              <a:rPr lang="en-US" sz="1700" dirty="0">
                <a:solidFill>
                  <a:schemeClr val="tx1"/>
                </a:solidFill>
                <a:latin typeface="Manrope SemiBold" pitchFamily="34" charset="0"/>
                <a:ea typeface="Manrope SemiBold" pitchFamily="34" charset="-122"/>
                <a:cs typeface="Manrope SemiBold" pitchFamily="34" charset="-120"/>
              </a:rPr>
              <a:t>Order now or schedule</a:t>
            </a:r>
            <a:endParaRPr lang="en-US" sz="1700" dirty="0"/>
          </a:p>
        </p:txBody>
      </p:sp>
      <p:sp>
        <p:nvSpPr>
          <p:cNvPr id="9" name="text-135"/>
          <p:cNvSpPr txBox="1"/>
          <p:nvPr/>
        </p:nvSpPr>
        <p:spPr>
          <a:xfrm>
            <a:off x="7086600" y="3090672"/>
            <a:ext cx="4572000" cy="676656"/>
          </a:xfrm>
          <a:prstGeom prst="rect">
            <a:avLst/>
          </a:prstGeom>
          <a:noFill/>
          <a:ln/>
        </p:spPr>
        <p:txBody>
          <a:bodyPr wrap="square" lIns="0" tIns="0" rIns="0" bIns="0" rtlCol="0" anchor="t"/>
          <a:lstStyle/>
          <a:p>
            <a:pPr marL="0" indent="0">
              <a:buNone/>
            </a:pPr>
            <a:r>
              <a:rPr lang="en-US" sz="1400" dirty="0">
                <a:solidFill>
                  <a:schemeClr val="tx2"/>
                </a:solidFill>
              </a:rPr>
              <a:t>Up to 7 days ahead, within opening hours</a:t>
            </a:r>
            <a:endParaRPr lang="en-US" sz="1400" dirty="0"/>
          </a:p>
        </p:txBody>
      </p:sp>
      <p:sp>
        <p:nvSpPr>
          <p:cNvPr id="10" name="text-136"/>
          <p:cNvSpPr txBox="1"/>
          <p:nvPr/>
        </p:nvSpPr>
        <p:spPr>
          <a:xfrm>
            <a:off x="7086600" y="3794760"/>
            <a:ext cx="4572000" cy="292608"/>
          </a:xfrm>
          <a:prstGeom prst="rect">
            <a:avLst/>
          </a:prstGeom>
          <a:noFill/>
          <a:ln/>
        </p:spPr>
        <p:txBody>
          <a:bodyPr wrap="square" lIns="0" tIns="0" rIns="0" bIns="0" rtlCol="0" anchor="t"/>
          <a:lstStyle/>
          <a:p>
            <a:pPr marL="0" indent="0">
              <a:buNone/>
            </a:pPr>
            <a:r>
              <a:rPr lang="en-US" sz="1700" dirty="0">
                <a:solidFill>
                  <a:schemeClr val="tx1"/>
                </a:solidFill>
                <a:latin typeface="Manrope SemiBold" pitchFamily="34" charset="0"/>
                <a:ea typeface="Manrope SemiBold" pitchFamily="34" charset="-122"/>
                <a:cs typeface="Manrope SemiBold" pitchFamily="34" charset="-120"/>
              </a:rPr>
              <a:t>Clear totals</a:t>
            </a:r>
            <a:endParaRPr lang="en-US" sz="1700" dirty="0"/>
          </a:p>
        </p:txBody>
      </p:sp>
      <p:sp>
        <p:nvSpPr>
          <p:cNvPr id="11" name="text-137"/>
          <p:cNvSpPr txBox="1"/>
          <p:nvPr/>
        </p:nvSpPr>
        <p:spPr>
          <a:xfrm>
            <a:off x="7086600" y="4096512"/>
            <a:ext cx="4572000" cy="676656"/>
          </a:xfrm>
          <a:prstGeom prst="rect">
            <a:avLst/>
          </a:prstGeom>
          <a:noFill/>
          <a:ln/>
        </p:spPr>
        <p:txBody>
          <a:bodyPr wrap="square" lIns="0" tIns="0" rIns="0" bIns="0" rtlCol="0" anchor="t"/>
          <a:lstStyle/>
          <a:p>
            <a:pPr marL="0" indent="0">
              <a:buNone/>
            </a:pPr>
            <a:r>
              <a:rPr lang="en-US" sz="1400" dirty="0">
                <a:solidFill>
                  <a:schemeClr val="tx2"/>
                </a:solidFill>
              </a:rPr>
              <a:t>VAT included, packaging fee, coupons such as WELCOME10</a:t>
            </a:r>
            <a:endParaRPr lang="en-US" sz="1400" dirty="0"/>
          </a:p>
        </p:txBody>
      </p:sp>
      <p:sp>
        <p:nvSpPr>
          <p:cNvPr id="12" name="text-138"/>
          <p:cNvSpPr txBox="1"/>
          <p:nvPr/>
        </p:nvSpPr>
        <p:spPr>
          <a:xfrm>
            <a:off x="7086600" y="4800600"/>
            <a:ext cx="4572000" cy="292608"/>
          </a:xfrm>
          <a:prstGeom prst="rect">
            <a:avLst/>
          </a:prstGeom>
          <a:noFill/>
          <a:ln/>
        </p:spPr>
        <p:txBody>
          <a:bodyPr wrap="square" lIns="0" tIns="0" rIns="0" bIns="0" rtlCol="0" anchor="t"/>
          <a:lstStyle/>
          <a:p>
            <a:pPr marL="0" indent="0">
              <a:buNone/>
            </a:pPr>
            <a:r>
              <a:rPr lang="en-US" sz="1700" dirty="0">
                <a:solidFill>
                  <a:schemeClr val="tx1"/>
                </a:solidFill>
                <a:latin typeface="Manrope SemiBold" pitchFamily="34" charset="0"/>
                <a:ea typeface="Manrope SemiBold" pitchFamily="34" charset="-122"/>
                <a:cs typeface="Manrope SemiBold" pitchFamily="34" charset="-120"/>
              </a:rPr>
              <a:t>Paystack</a:t>
            </a:r>
            <a:endParaRPr lang="en-US" sz="1700" dirty="0"/>
          </a:p>
        </p:txBody>
      </p:sp>
      <p:sp>
        <p:nvSpPr>
          <p:cNvPr id="13" name="text-139"/>
          <p:cNvSpPr txBox="1"/>
          <p:nvPr/>
        </p:nvSpPr>
        <p:spPr>
          <a:xfrm>
            <a:off x="7086600" y="5102352"/>
            <a:ext cx="4572000" cy="676656"/>
          </a:xfrm>
          <a:prstGeom prst="rect">
            <a:avLst/>
          </a:prstGeom>
          <a:noFill/>
          <a:ln/>
        </p:spPr>
        <p:txBody>
          <a:bodyPr wrap="square" lIns="0" tIns="0" rIns="0" bIns="0" rtlCol="0" anchor="t"/>
          <a:lstStyle/>
          <a:p>
            <a:pPr marL="0" indent="0">
              <a:buNone/>
            </a:pPr>
            <a:r>
              <a:rPr lang="en-US" sz="1400" dirty="0">
                <a:solidFill>
                  <a:schemeClr val="tx2"/>
                </a:solidFill>
              </a:rPr>
              <a:t>Cards, bank transfer and USSD; every payment checked with Paystack</a:t>
            </a:r>
            <a:endParaRPr lang="en-US" sz="1400" dirty="0"/>
          </a:p>
        </p:txBody>
      </p:sp>
      <p:sp>
        <p:nvSpPr>
          <p:cNvPr id="25" name="Slide Number Placeholder 0"/>
          <p:cNvSpPr>
            <a:spLocks noGrp="1"/>
          </p:cNvSpPr>
          <p:nvPr>
            <p:ph type="sldNum" sz="quarter" idx="4294967295"/>
          </p:nvPr>
        </p:nvSpPr>
        <p:spPr>
          <a:xfrm>
            <a:off x="10500055" y="6309360"/>
            <a:ext cx="73152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Manrope"/>
                <a:ea typeface="Manrope"/>
                <a:cs typeface="Manrope"/>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84048"/>
            <a:ext cx="8229600" cy="310896"/>
          </a:xfrm>
          <a:prstGeom prst="rect">
            <a:avLst/>
          </a:prstGeom>
          <a:noFill/>
          <a:ln/>
        </p:spPr>
        <p:txBody>
          <a:bodyPr wrap="square" lIns="0" tIns="0" rIns="0" bIns="0" rtlCol="0"/>
          <a:lstStyle/>
          <a:p>
            <a:pPr marL="0" indent="0">
              <a:buNone/>
            </a:pPr>
            <a:r>
              <a:rPr lang="en-US" sz="1200" kern="0" spc="300" dirty="0">
                <a:solidFill>
                  <a:schemeClr val="accent1"/>
                </a:solidFill>
                <a:latin typeface="Manrope SemiBold" pitchFamily="34" charset="0"/>
                <a:ea typeface="Manrope SemiBold" pitchFamily="34" charset="-122"/>
                <a:cs typeface="Manrope SemiBold" pitchFamily="34" charset="-120"/>
              </a:rPr>
              <a:t>09 · ORDER TRACKING &amp; THE INTEREST ACCOUNT</a:t>
            </a:r>
            <a:endParaRPr lang="en-US" sz="1200" dirty="0"/>
          </a:p>
        </p:txBody>
      </p:sp>
      <p:sp>
        <p:nvSpPr>
          <p:cNvPr id="3" name="Text 0"/>
          <p:cNvSpPr>
            <a:spLocks noGrp="1"/>
          </p:cNvSpPr>
          <p:nvPr>
            <p:ph type="title" idx="102" hasCustomPrompt="1"/>
          </p:nvPr>
        </p:nvSpPr>
        <p:spPr>
          <a:xfrm>
            <a:off x="548640" y="676656"/>
            <a:ext cx="11094415" cy="786384"/>
          </a:xfrm>
          <a:prstGeom prst="rect">
            <a:avLst/>
          </a:prstGeom>
          <a:noFill/>
          <a:ln/>
        </p:spPr>
        <p:txBody>
          <a:bodyPr wrap="square" lIns="0" tIns="0" rIns="0" bIns="0" rtlCol="0" anchor="t"/>
          <a:lstStyle/>
          <a:p>
            <a:pPr marL="0" indent="0" algn="l">
              <a:buNone/>
            </a:pPr>
            <a:r>
              <a:rPr lang="en-US" sz="3800" dirty="0">
                <a:solidFill>
                  <a:schemeClr val="tx1"/>
                </a:solidFill>
              </a:rPr>
              <a:t>Dining credit that earns interest</a:t>
            </a:r>
            <a:endParaRPr lang="en-US" sz="3800" dirty="0"/>
          </a:p>
        </p:txBody>
      </p:sp>
      <p:sp>
        <p:nvSpPr>
          <p:cNvPr id="4" name="frame-140"/>
          <p:cNvSpPr/>
          <p:nvPr/>
        </p:nvSpPr>
        <p:spPr>
          <a:xfrm>
            <a:off x="548640" y="1719072"/>
            <a:ext cx="6163056" cy="3522726"/>
          </a:xfrm>
          <a:prstGeom prst="roundRect">
            <a:avLst>
              <a:gd name="adj" fmla="val 2596"/>
            </a:avLst>
          </a:prstGeom>
          <a:solidFill>
            <a:schemeClr val="bg2"/>
          </a:solidFill>
          <a:ln w="9525">
            <a:solidFill>
              <a:schemeClr val="accent1">
                <a:alpha val="55000"/>
              </a:schemeClr>
            </a:solidFill>
            <a:prstDash val="solid"/>
          </a:ln>
        </p:spPr>
      </p:sp>
      <p:pic>
        <p:nvPicPr>
          <p:cNvPr id="5" name="screenshot-141" descr="flow 5 rewards"/>
          <p:cNvPicPr>
            <a:picLocks noChangeAspect="1"/>
          </p:cNvPicPr>
          <p:nvPr/>
        </p:nvPicPr>
        <p:blipFill>
          <a:blip r:embed="rId3"/>
          <a:stretch>
            <a:fillRect/>
          </a:stretch>
        </p:blipFill>
        <p:spPr>
          <a:xfrm>
            <a:off x="612648" y="1783080"/>
            <a:ext cx="6035040" cy="3394710"/>
          </a:xfrm>
          <a:prstGeom prst="rect">
            <a:avLst/>
          </a:prstGeom>
        </p:spPr>
      </p:pic>
      <p:sp>
        <p:nvSpPr>
          <p:cNvPr id="6" name="text-142"/>
          <p:cNvSpPr txBox="1"/>
          <p:nvPr/>
        </p:nvSpPr>
        <p:spPr>
          <a:xfrm>
            <a:off x="7086600" y="1783080"/>
            <a:ext cx="1920240" cy="822960"/>
          </a:xfrm>
          <a:prstGeom prst="rect">
            <a:avLst/>
          </a:prstGeom>
          <a:noFill/>
          <a:ln/>
        </p:spPr>
        <p:txBody>
          <a:bodyPr wrap="square" lIns="0" tIns="0" rIns="0" bIns="0" rtlCol="0" anchor="t"/>
          <a:lstStyle/>
          <a:p>
            <a:pPr marL="0" indent="0">
              <a:buNone/>
            </a:pPr>
            <a:r>
              <a:rPr lang="en-US" sz="4600" dirty="0">
                <a:solidFill>
                  <a:schemeClr val="accent1"/>
                </a:solidFill>
                <a:latin typeface="Cormorant Garamond SemiBold" pitchFamily="34" charset="0"/>
                <a:ea typeface="Cormorant Garamond SemiBold" pitchFamily="34" charset="-122"/>
                <a:cs typeface="Cormorant Garamond SemiBold" pitchFamily="34" charset="-120"/>
              </a:rPr>
              <a:t>2%</a:t>
            </a:r>
            <a:endParaRPr lang="en-US" sz="4600" dirty="0"/>
          </a:p>
        </p:txBody>
      </p:sp>
      <p:sp>
        <p:nvSpPr>
          <p:cNvPr id="7" name="text-143"/>
          <p:cNvSpPr txBox="1"/>
          <p:nvPr/>
        </p:nvSpPr>
        <p:spPr>
          <a:xfrm>
            <a:off x="9098280" y="1892808"/>
            <a:ext cx="2560320" cy="822960"/>
          </a:xfrm>
          <a:prstGeom prst="rect">
            <a:avLst/>
          </a:prstGeom>
          <a:noFill/>
          <a:ln/>
        </p:spPr>
        <p:txBody>
          <a:bodyPr wrap="square" lIns="0" tIns="0" rIns="0" bIns="0" rtlCol="0" anchor="t"/>
          <a:lstStyle/>
          <a:p>
            <a:pPr marL="0" indent="0">
              <a:buNone/>
            </a:pPr>
            <a:r>
              <a:rPr lang="en-US" sz="1400" dirty="0">
                <a:solidFill>
                  <a:schemeClr val="tx2"/>
                </a:solidFill>
              </a:rPr>
              <a:t>monthly interest on balances of ₦20,000+, up to ₦5,000</a:t>
            </a:r>
            <a:endParaRPr lang="en-US" sz="1400" dirty="0"/>
          </a:p>
        </p:txBody>
      </p:sp>
      <p:sp>
        <p:nvSpPr>
          <p:cNvPr id="8" name="text-144"/>
          <p:cNvSpPr txBox="1"/>
          <p:nvPr/>
        </p:nvSpPr>
        <p:spPr>
          <a:xfrm>
            <a:off x="7086600" y="2990088"/>
            <a:ext cx="1920240" cy="822960"/>
          </a:xfrm>
          <a:prstGeom prst="rect">
            <a:avLst/>
          </a:prstGeom>
          <a:noFill/>
          <a:ln/>
        </p:spPr>
        <p:txBody>
          <a:bodyPr wrap="square" lIns="0" tIns="0" rIns="0" bIns="0" rtlCol="0" anchor="t"/>
          <a:lstStyle/>
          <a:p>
            <a:pPr marL="0" indent="0">
              <a:buNone/>
            </a:pPr>
            <a:r>
              <a:rPr lang="en-US" sz="4600" dirty="0">
                <a:solidFill>
                  <a:schemeClr val="accent1"/>
                </a:solidFill>
                <a:latin typeface="Cormorant Garamond SemiBold" pitchFamily="34" charset="0"/>
                <a:ea typeface="Cormorant Garamond SemiBold" pitchFamily="34" charset="-122"/>
                <a:cs typeface="Cormorant Garamond SemiBold" pitchFamily="34" charset="-120"/>
              </a:rPr>
              <a:t>10%</a:t>
            </a:r>
            <a:endParaRPr lang="en-US" sz="4600" dirty="0"/>
          </a:p>
        </p:txBody>
      </p:sp>
      <p:sp>
        <p:nvSpPr>
          <p:cNvPr id="9" name="text-145"/>
          <p:cNvSpPr txBox="1"/>
          <p:nvPr/>
        </p:nvSpPr>
        <p:spPr>
          <a:xfrm>
            <a:off x="9098280" y="3099816"/>
            <a:ext cx="2560320" cy="822960"/>
          </a:xfrm>
          <a:prstGeom prst="rect">
            <a:avLst/>
          </a:prstGeom>
          <a:noFill/>
          <a:ln/>
        </p:spPr>
        <p:txBody>
          <a:bodyPr wrap="square" lIns="0" tIns="0" rIns="0" bIns="0" rtlCol="0" anchor="t"/>
          <a:lstStyle/>
          <a:p>
            <a:pPr marL="0" indent="0">
              <a:buNone/>
            </a:pPr>
            <a:r>
              <a:rPr lang="en-US" sz="1400" dirty="0">
                <a:solidFill>
                  <a:schemeClr val="tx2"/>
                </a:solidFill>
              </a:rPr>
              <a:t>bonus credit on top-ups of ₦100,000 (5% from ₦50,000)</a:t>
            </a:r>
            <a:endParaRPr lang="en-US" sz="1400" dirty="0"/>
          </a:p>
        </p:txBody>
      </p:sp>
      <p:sp>
        <p:nvSpPr>
          <p:cNvPr id="10" name="text-146"/>
          <p:cNvSpPr txBox="1"/>
          <p:nvPr/>
        </p:nvSpPr>
        <p:spPr>
          <a:xfrm>
            <a:off x="7086600" y="4197096"/>
            <a:ext cx="1920240" cy="822960"/>
          </a:xfrm>
          <a:prstGeom prst="rect">
            <a:avLst/>
          </a:prstGeom>
          <a:noFill/>
          <a:ln/>
        </p:spPr>
        <p:txBody>
          <a:bodyPr wrap="square" lIns="0" tIns="0" rIns="0" bIns="0" rtlCol="0" anchor="t"/>
          <a:lstStyle/>
          <a:p>
            <a:pPr marL="0" indent="0">
              <a:buNone/>
            </a:pPr>
            <a:r>
              <a:rPr lang="en-US" sz="4600" dirty="0">
                <a:solidFill>
                  <a:schemeClr val="accent1"/>
                </a:solidFill>
                <a:latin typeface="Cormorant Garamond SemiBold" pitchFamily="34" charset="0"/>
                <a:ea typeface="Cormorant Garamond SemiBold" pitchFamily="34" charset="-122"/>
                <a:cs typeface="Cormorant Garamond SemiBold" pitchFamily="34" charset="-120"/>
              </a:rPr>
              <a:t>4 tiers</a:t>
            </a:r>
            <a:endParaRPr lang="en-US" sz="4600" dirty="0"/>
          </a:p>
        </p:txBody>
      </p:sp>
      <p:sp>
        <p:nvSpPr>
          <p:cNvPr id="11" name="text-147"/>
          <p:cNvSpPr txBox="1"/>
          <p:nvPr/>
        </p:nvSpPr>
        <p:spPr>
          <a:xfrm>
            <a:off x="9098280" y="4306824"/>
            <a:ext cx="2560320" cy="822960"/>
          </a:xfrm>
          <a:prstGeom prst="rect">
            <a:avLst/>
          </a:prstGeom>
          <a:noFill/>
          <a:ln/>
        </p:spPr>
        <p:txBody>
          <a:bodyPr wrap="square" lIns="0" tIns="0" rIns="0" bIns="0" rtlCol="0" anchor="t"/>
          <a:lstStyle/>
          <a:p>
            <a:pPr marL="0" indent="0">
              <a:buNone/>
            </a:pPr>
            <a:r>
              <a:rPr lang="en-US" sz="1400" dirty="0">
                <a:solidFill>
                  <a:schemeClr val="tx2"/>
                </a:solidFill>
              </a:rPr>
              <a:t>Bronze, Silver, Gold and Black Diamond, up to 2× points</a:t>
            </a:r>
            <a:endParaRPr lang="en-US" sz="1400" dirty="0"/>
          </a:p>
        </p:txBody>
      </p:sp>
      <p:sp>
        <p:nvSpPr>
          <p:cNvPr id="12" name="text-148"/>
          <p:cNvSpPr txBox="1"/>
          <p:nvPr/>
        </p:nvSpPr>
        <p:spPr>
          <a:xfrm>
            <a:off x="7086600" y="5440680"/>
            <a:ext cx="4572000" cy="822960"/>
          </a:xfrm>
          <a:prstGeom prst="rect">
            <a:avLst/>
          </a:prstGeom>
          <a:noFill/>
          <a:ln/>
        </p:spPr>
        <p:txBody>
          <a:bodyPr wrap="square" lIns="0" tIns="0" rIns="0" bIns="0" rtlCol="0" anchor="t"/>
          <a:lstStyle/>
          <a:p>
            <a:pPr marL="0" indent="0">
              <a:buNone/>
            </a:pPr>
            <a:r>
              <a:rPr lang="en-US" sz="1300" dirty="0">
                <a:solidFill>
                  <a:schemeClr val="tx2"/>
                </a:solidFill>
              </a:rPr>
              <a:t>Interest is paid as dining credit, which can only be spent at Small Africa. It’s a loyalty programme, not a bank account. Guests also follow every order live, from paid to ready.</a:t>
            </a:r>
            <a:endParaRPr lang="en-US" sz="1300" dirty="0"/>
          </a:p>
        </p:txBody>
      </p:sp>
      <p:sp>
        <p:nvSpPr>
          <p:cNvPr id="25" name="Slide Number Placeholder 0"/>
          <p:cNvSpPr>
            <a:spLocks noGrp="1"/>
          </p:cNvSpPr>
          <p:nvPr>
            <p:ph type="sldNum" sz="quarter" idx="4294967295"/>
          </p:nvPr>
        </p:nvSpPr>
        <p:spPr>
          <a:xfrm>
            <a:off x="10500055" y="6309360"/>
            <a:ext cx="73152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Manrope"/>
                <a:ea typeface="Manrope"/>
                <a:cs typeface="Manrope"/>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84048"/>
            <a:ext cx="8229600" cy="310896"/>
          </a:xfrm>
          <a:prstGeom prst="rect">
            <a:avLst/>
          </a:prstGeom>
          <a:noFill/>
          <a:ln/>
        </p:spPr>
        <p:txBody>
          <a:bodyPr wrap="square" lIns="0" tIns="0" rIns="0" bIns="0" rtlCol="0"/>
          <a:lstStyle/>
          <a:p>
            <a:pPr marL="0" indent="0">
              <a:buNone/>
            </a:pPr>
            <a:r>
              <a:rPr lang="en-US" sz="1200" kern="0" spc="300" dirty="0">
                <a:solidFill>
                  <a:schemeClr val="accent1"/>
                </a:solidFill>
                <a:latin typeface="Manrope SemiBold" pitchFamily="34" charset="0"/>
                <a:ea typeface="Manrope SemiBold" pitchFamily="34" charset="-122"/>
                <a:cs typeface="Manrope SemiBold" pitchFamily="34" charset="-120"/>
              </a:rPr>
              <a:t>10 · ADMIN DASHBOARD</a:t>
            </a:r>
            <a:endParaRPr lang="en-US" sz="1200" dirty="0"/>
          </a:p>
        </p:txBody>
      </p:sp>
      <p:sp>
        <p:nvSpPr>
          <p:cNvPr id="3" name="Text 0"/>
          <p:cNvSpPr>
            <a:spLocks noGrp="1"/>
          </p:cNvSpPr>
          <p:nvPr>
            <p:ph type="title" idx="102" hasCustomPrompt="1"/>
          </p:nvPr>
        </p:nvSpPr>
        <p:spPr>
          <a:xfrm>
            <a:off x="548640" y="676656"/>
            <a:ext cx="11094415" cy="786384"/>
          </a:xfrm>
          <a:prstGeom prst="rect">
            <a:avLst/>
          </a:prstGeom>
          <a:noFill/>
          <a:ln/>
        </p:spPr>
        <p:txBody>
          <a:bodyPr wrap="square" lIns="0" tIns="0" rIns="0" bIns="0" rtlCol="0" anchor="t"/>
          <a:lstStyle/>
          <a:p>
            <a:pPr marL="0" indent="0" algn="l">
              <a:buNone/>
            </a:pPr>
            <a:r>
              <a:rPr lang="en-US" sz="3800" dirty="0">
                <a:solidFill>
                  <a:schemeClr val="tx1"/>
                </a:solidFill>
              </a:rPr>
              <a:t>The whole restaurant on one screen</a:t>
            </a:r>
            <a:endParaRPr lang="en-US" sz="3800" dirty="0"/>
          </a:p>
        </p:txBody>
      </p:sp>
      <p:sp>
        <p:nvSpPr>
          <p:cNvPr id="4" name="frame-149"/>
          <p:cNvSpPr/>
          <p:nvPr/>
        </p:nvSpPr>
        <p:spPr>
          <a:xfrm>
            <a:off x="548640" y="1719072"/>
            <a:ext cx="7077456" cy="4037076"/>
          </a:xfrm>
          <a:prstGeom prst="roundRect">
            <a:avLst>
              <a:gd name="adj" fmla="val 2265"/>
            </a:avLst>
          </a:prstGeom>
          <a:solidFill>
            <a:schemeClr val="bg2"/>
          </a:solidFill>
          <a:ln w="9525">
            <a:solidFill>
              <a:schemeClr val="accent1">
                <a:alpha val="55000"/>
              </a:schemeClr>
            </a:solidFill>
            <a:prstDash val="solid"/>
          </a:ln>
        </p:spPr>
      </p:sp>
      <p:pic>
        <p:nvPicPr>
          <p:cNvPr id="5" name="screenshot-150" descr="flow 7 dashboard"/>
          <p:cNvPicPr>
            <a:picLocks noChangeAspect="1"/>
          </p:cNvPicPr>
          <p:nvPr/>
        </p:nvPicPr>
        <p:blipFill>
          <a:blip r:embed="rId3"/>
          <a:stretch>
            <a:fillRect/>
          </a:stretch>
        </p:blipFill>
        <p:spPr>
          <a:xfrm>
            <a:off x="612648" y="1783080"/>
            <a:ext cx="6949440" cy="3909060"/>
          </a:xfrm>
          <a:prstGeom prst="rect">
            <a:avLst/>
          </a:prstGeom>
        </p:spPr>
      </p:pic>
      <p:sp>
        <p:nvSpPr>
          <p:cNvPr id="6" name="text-151"/>
          <p:cNvSpPr txBox="1"/>
          <p:nvPr/>
        </p:nvSpPr>
        <p:spPr>
          <a:xfrm>
            <a:off x="8001000" y="1783080"/>
            <a:ext cx="3657600" cy="292608"/>
          </a:xfrm>
          <a:prstGeom prst="rect">
            <a:avLst/>
          </a:prstGeom>
          <a:noFill/>
          <a:ln/>
        </p:spPr>
        <p:txBody>
          <a:bodyPr wrap="square" lIns="0" tIns="0" rIns="0" bIns="0" rtlCol="0" anchor="t"/>
          <a:lstStyle/>
          <a:p>
            <a:pPr marL="0" indent="0">
              <a:buNone/>
            </a:pPr>
            <a:r>
              <a:rPr lang="en-US" sz="1600" dirty="0">
                <a:solidFill>
                  <a:schemeClr val="tx1"/>
                </a:solidFill>
                <a:latin typeface="Manrope SemiBold" pitchFamily="34" charset="0"/>
                <a:ea typeface="Manrope SemiBold" pitchFamily="34" charset="-122"/>
                <a:cs typeface="Manrope SemiBold" pitchFamily="34" charset="-120"/>
              </a:rPr>
              <a:t>Dashboard</a:t>
            </a:r>
            <a:endParaRPr lang="en-US" sz="1600" dirty="0"/>
          </a:p>
        </p:txBody>
      </p:sp>
      <p:sp>
        <p:nvSpPr>
          <p:cNvPr id="7" name="text-152"/>
          <p:cNvSpPr txBox="1"/>
          <p:nvPr/>
        </p:nvSpPr>
        <p:spPr>
          <a:xfrm>
            <a:off x="8001000" y="2084832"/>
            <a:ext cx="3657600" cy="493776"/>
          </a:xfrm>
          <a:prstGeom prst="rect">
            <a:avLst/>
          </a:prstGeom>
          <a:noFill/>
          <a:ln/>
        </p:spPr>
        <p:txBody>
          <a:bodyPr wrap="square" lIns="0" tIns="0" rIns="0" bIns="0" rtlCol="0" anchor="t"/>
          <a:lstStyle/>
          <a:p>
            <a:pPr marL="0" indent="0">
              <a:buNone/>
            </a:pPr>
            <a:r>
              <a:rPr lang="en-US" sz="1300" dirty="0">
                <a:solidFill>
                  <a:schemeClr val="tx2"/>
                </a:solidFill>
              </a:rPr>
              <a:t>Revenue, orders by kitchen, busy hours</a:t>
            </a:r>
            <a:endParaRPr lang="en-US" sz="1300" dirty="0"/>
          </a:p>
        </p:txBody>
      </p:sp>
      <p:sp>
        <p:nvSpPr>
          <p:cNvPr id="8" name="text-153"/>
          <p:cNvSpPr txBox="1"/>
          <p:nvPr/>
        </p:nvSpPr>
        <p:spPr>
          <a:xfrm>
            <a:off x="8001000" y="2606040"/>
            <a:ext cx="3657600" cy="292608"/>
          </a:xfrm>
          <a:prstGeom prst="rect">
            <a:avLst/>
          </a:prstGeom>
          <a:noFill/>
          <a:ln/>
        </p:spPr>
        <p:txBody>
          <a:bodyPr wrap="square" lIns="0" tIns="0" rIns="0" bIns="0" rtlCol="0" anchor="t"/>
          <a:lstStyle/>
          <a:p>
            <a:pPr marL="0" indent="0">
              <a:buNone/>
            </a:pPr>
            <a:r>
              <a:rPr lang="en-US" sz="1600" dirty="0">
                <a:solidFill>
                  <a:schemeClr val="tx1"/>
                </a:solidFill>
                <a:latin typeface="Manrope SemiBold" pitchFamily="34" charset="0"/>
                <a:ea typeface="Manrope SemiBold" pitchFamily="34" charset="-122"/>
                <a:cs typeface="Manrope SemiBold" pitchFamily="34" charset="-120"/>
              </a:rPr>
              <a:t>Orders &amp; kitchen</a:t>
            </a:r>
            <a:endParaRPr lang="en-US" sz="1600" dirty="0"/>
          </a:p>
        </p:txBody>
      </p:sp>
      <p:sp>
        <p:nvSpPr>
          <p:cNvPr id="9" name="text-154"/>
          <p:cNvSpPr txBox="1"/>
          <p:nvPr/>
        </p:nvSpPr>
        <p:spPr>
          <a:xfrm>
            <a:off x="8001000" y="2907792"/>
            <a:ext cx="3657600" cy="493776"/>
          </a:xfrm>
          <a:prstGeom prst="rect">
            <a:avLst/>
          </a:prstGeom>
          <a:noFill/>
          <a:ln/>
        </p:spPr>
        <p:txBody>
          <a:bodyPr wrap="square" lIns="0" tIns="0" rIns="0" bIns="0" rtlCol="0" anchor="t"/>
          <a:lstStyle/>
          <a:p>
            <a:pPr marL="0" indent="0">
              <a:buNone/>
            </a:pPr>
            <a:r>
              <a:rPr lang="en-US" sz="1300" dirty="0">
                <a:solidFill>
                  <a:schemeClr val="tx2"/>
                </a:solidFill>
              </a:rPr>
              <a:t>Tickets move from paid to ready</a:t>
            </a:r>
            <a:endParaRPr lang="en-US" sz="1300" dirty="0"/>
          </a:p>
        </p:txBody>
      </p:sp>
      <p:sp>
        <p:nvSpPr>
          <p:cNvPr id="10" name="text-155"/>
          <p:cNvSpPr txBox="1"/>
          <p:nvPr/>
        </p:nvSpPr>
        <p:spPr>
          <a:xfrm>
            <a:off x="8001000" y="3429000"/>
            <a:ext cx="3657600" cy="292608"/>
          </a:xfrm>
          <a:prstGeom prst="rect">
            <a:avLst/>
          </a:prstGeom>
          <a:noFill/>
          <a:ln/>
        </p:spPr>
        <p:txBody>
          <a:bodyPr wrap="square" lIns="0" tIns="0" rIns="0" bIns="0" rtlCol="0" anchor="t"/>
          <a:lstStyle/>
          <a:p>
            <a:pPr marL="0" indent="0">
              <a:buNone/>
            </a:pPr>
            <a:r>
              <a:rPr lang="en-US" sz="1600" dirty="0">
                <a:solidFill>
                  <a:schemeClr val="tx1"/>
                </a:solidFill>
                <a:latin typeface="Manrope SemiBold" pitchFamily="34" charset="0"/>
                <a:ea typeface="Manrope SemiBold" pitchFamily="34" charset="-122"/>
                <a:cs typeface="Manrope SemiBold" pitchFamily="34" charset="-120"/>
              </a:rPr>
              <a:t>Menu manager</a:t>
            </a:r>
            <a:endParaRPr lang="en-US" sz="1600" dirty="0"/>
          </a:p>
        </p:txBody>
      </p:sp>
      <p:sp>
        <p:nvSpPr>
          <p:cNvPr id="11" name="text-156"/>
          <p:cNvSpPr txBox="1"/>
          <p:nvPr/>
        </p:nvSpPr>
        <p:spPr>
          <a:xfrm>
            <a:off x="8001000" y="3730752"/>
            <a:ext cx="3657600" cy="493776"/>
          </a:xfrm>
          <a:prstGeom prst="rect">
            <a:avLst/>
          </a:prstGeom>
          <a:noFill/>
          <a:ln/>
        </p:spPr>
        <p:txBody>
          <a:bodyPr wrap="square" lIns="0" tIns="0" rIns="0" bIns="0" rtlCol="0" anchor="t"/>
          <a:lstStyle/>
          <a:p>
            <a:pPr marL="0" indent="0">
              <a:buNone/>
            </a:pPr>
            <a:r>
              <a:rPr lang="en-US" sz="1300" dirty="0">
                <a:solidFill>
                  <a:schemeClr val="tx2"/>
                </a:solidFill>
              </a:rPr>
              <a:t>Dishes, prices, photos, sold out</a:t>
            </a:r>
            <a:endParaRPr lang="en-US" sz="1300" dirty="0"/>
          </a:p>
        </p:txBody>
      </p:sp>
      <p:sp>
        <p:nvSpPr>
          <p:cNvPr id="12" name="text-157"/>
          <p:cNvSpPr txBox="1"/>
          <p:nvPr/>
        </p:nvSpPr>
        <p:spPr>
          <a:xfrm>
            <a:off x="8001000" y="4251960"/>
            <a:ext cx="3657600" cy="292608"/>
          </a:xfrm>
          <a:prstGeom prst="rect">
            <a:avLst/>
          </a:prstGeom>
          <a:noFill/>
          <a:ln/>
        </p:spPr>
        <p:txBody>
          <a:bodyPr wrap="square" lIns="0" tIns="0" rIns="0" bIns="0" rtlCol="0" anchor="t"/>
          <a:lstStyle/>
          <a:p>
            <a:pPr marL="0" indent="0">
              <a:buNone/>
            </a:pPr>
            <a:r>
              <a:rPr lang="en-US" sz="1600" dirty="0">
                <a:solidFill>
                  <a:schemeClr val="tx1"/>
                </a:solidFill>
                <a:latin typeface="Manrope SemiBold" pitchFamily="34" charset="0"/>
                <a:ea typeface="Manrope SemiBold" pitchFamily="34" charset="-122"/>
                <a:cs typeface="Manrope SemiBold" pitchFamily="34" charset="-120"/>
              </a:rPr>
              <a:t>Rewards manager</a:t>
            </a:r>
            <a:endParaRPr lang="en-US" sz="1600" dirty="0"/>
          </a:p>
        </p:txBody>
      </p:sp>
      <p:sp>
        <p:nvSpPr>
          <p:cNvPr id="13" name="text-158"/>
          <p:cNvSpPr txBox="1"/>
          <p:nvPr/>
        </p:nvSpPr>
        <p:spPr>
          <a:xfrm>
            <a:off x="8001000" y="4553712"/>
            <a:ext cx="3657600" cy="493776"/>
          </a:xfrm>
          <a:prstGeom prst="rect">
            <a:avLst/>
          </a:prstGeom>
          <a:noFill/>
          <a:ln/>
        </p:spPr>
        <p:txBody>
          <a:bodyPr wrap="square" lIns="0" tIns="0" rIns="0" bIns="0" rtlCol="0" anchor="t"/>
          <a:lstStyle/>
          <a:p>
            <a:pPr marL="0" indent="0">
              <a:buNone/>
            </a:pPr>
            <a:r>
              <a:rPr lang="en-US" sz="1300" dirty="0">
                <a:solidFill>
                  <a:schemeClr val="tx2"/>
                </a:solidFill>
              </a:rPr>
              <a:t>Interest, points, tiers, offers</a:t>
            </a:r>
            <a:endParaRPr lang="en-US" sz="1300" dirty="0"/>
          </a:p>
        </p:txBody>
      </p:sp>
      <p:sp>
        <p:nvSpPr>
          <p:cNvPr id="14" name="text-159"/>
          <p:cNvSpPr txBox="1"/>
          <p:nvPr/>
        </p:nvSpPr>
        <p:spPr>
          <a:xfrm>
            <a:off x="8001000" y="5074920"/>
            <a:ext cx="3657600" cy="292608"/>
          </a:xfrm>
          <a:prstGeom prst="rect">
            <a:avLst/>
          </a:prstGeom>
          <a:noFill/>
          <a:ln/>
        </p:spPr>
        <p:txBody>
          <a:bodyPr wrap="square" lIns="0" tIns="0" rIns="0" bIns="0" rtlCol="0" anchor="t"/>
          <a:lstStyle/>
          <a:p>
            <a:pPr marL="0" indent="0">
              <a:buNone/>
            </a:pPr>
            <a:r>
              <a:rPr lang="en-US" sz="1600" dirty="0">
                <a:solidFill>
                  <a:schemeClr val="tx1"/>
                </a:solidFill>
                <a:latin typeface="Manrope SemiBold" pitchFamily="34" charset="0"/>
                <a:ea typeface="Manrope SemiBold" pitchFamily="34" charset="-122"/>
                <a:cs typeface="Manrope SemiBold" pitchFamily="34" charset="-120"/>
              </a:rPr>
              <a:t>Roles &amp; audit log</a:t>
            </a:r>
            <a:endParaRPr lang="en-US" sz="1600" dirty="0"/>
          </a:p>
        </p:txBody>
      </p:sp>
      <p:sp>
        <p:nvSpPr>
          <p:cNvPr id="15" name="text-160"/>
          <p:cNvSpPr txBox="1"/>
          <p:nvPr/>
        </p:nvSpPr>
        <p:spPr>
          <a:xfrm>
            <a:off x="8001000" y="5376672"/>
            <a:ext cx="3657600" cy="493776"/>
          </a:xfrm>
          <a:prstGeom prst="rect">
            <a:avLst/>
          </a:prstGeom>
          <a:noFill/>
          <a:ln/>
        </p:spPr>
        <p:txBody>
          <a:bodyPr wrap="square" lIns="0" tIns="0" rIns="0" bIns="0" rtlCol="0" anchor="t"/>
          <a:lstStyle/>
          <a:p>
            <a:pPr marL="0" indent="0">
              <a:buNone/>
            </a:pPr>
            <a:r>
              <a:rPr lang="en-US" sz="1300" dirty="0">
                <a:solidFill>
                  <a:schemeClr val="tx2"/>
                </a:solidFill>
              </a:rPr>
              <a:t>Each person sees only their job</a:t>
            </a:r>
            <a:endParaRPr lang="en-US" sz="1300" dirty="0"/>
          </a:p>
        </p:txBody>
      </p:sp>
      <p:sp>
        <p:nvSpPr>
          <p:cNvPr id="25" name="Slide Number Placeholder 0"/>
          <p:cNvSpPr>
            <a:spLocks noGrp="1"/>
          </p:cNvSpPr>
          <p:nvPr>
            <p:ph type="sldNum" sz="quarter" idx="4294967295"/>
          </p:nvPr>
        </p:nvSpPr>
        <p:spPr>
          <a:xfrm>
            <a:off x="10500055" y="6309360"/>
            <a:ext cx="73152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Manrope"/>
                <a:ea typeface="Manrope"/>
                <a:cs typeface="Manrope"/>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84048"/>
            <a:ext cx="8229600" cy="310896"/>
          </a:xfrm>
          <a:prstGeom prst="rect">
            <a:avLst/>
          </a:prstGeom>
          <a:noFill/>
          <a:ln/>
        </p:spPr>
        <p:txBody>
          <a:bodyPr wrap="square" lIns="0" tIns="0" rIns="0" bIns="0" rtlCol="0"/>
          <a:lstStyle/>
          <a:p>
            <a:pPr marL="0" indent="0">
              <a:buNone/>
            </a:pPr>
            <a:r>
              <a:rPr lang="en-US" sz="1200" kern="0" spc="300" dirty="0">
                <a:solidFill>
                  <a:schemeClr val="accent1"/>
                </a:solidFill>
                <a:latin typeface="Manrope SemiBold" pitchFamily="34" charset="0"/>
                <a:ea typeface="Manrope SemiBold" pitchFamily="34" charset="-122"/>
                <a:cs typeface="Manrope SemiBold" pitchFamily="34" charset="-120"/>
              </a:rPr>
              <a:t>11 · SECURITY &amp; DATA PROTECTION</a:t>
            </a:r>
            <a:endParaRPr lang="en-US" sz="1200" dirty="0"/>
          </a:p>
        </p:txBody>
      </p:sp>
      <p:sp>
        <p:nvSpPr>
          <p:cNvPr id="3" name="Text 0"/>
          <p:cNvSpPr>
            <a:spLocks noGrp="1"/>
          </p:cNvSpPr>
          <p:nvPr>
            <p:ph type="title" idx="102" hasCustomPrompt="1"/>
          </p:nvPr>
        </p:nvSpPr>
        <p:spPr>
          <a:xfrm>
            <a:off x="548640" y="676656"/>
            <a:ext cx="11094415" cy="786384"/>
          </a:xfrm>
          <a:prstGeom prst="rect">
            <a:avLst/>
          </a:prstGeom>
          <a:noFill/>
          <a:ln/>
        </p:spPr>
        <p:txBody>
          <a:bodyPr wrap="square" lIns="0" tIns="0" rIns="0" bIns="0" rtlCol="0" anchor="t"/>
          <a:lstStyle/>
          <a:p>
            <a:pPr marL="0" indent="0" algn="l">
              <a:buNone/>
            </a:pPr>
            <a:r>
              <a:rPr lang="en-US" sz="3800" dirty="0">
                <a:solidFill>
                  <a:schemeClr val="tx1"/>
                </a:solidFill>
              </a:rPr>
              <a:t>Built to protect guests, payments and the business</a:t>
            </a:r>
            <a:endParaRPr lang="en-US" sz="3800" dirty="0"/>
          </a:p>
        </p:txBody>
      </p:sp>
      <p:sp>
        <p:nvSpPr>
          <p:cNvPr id="4" name="card-161"/>
          <p:cNvSpPr/>
          <p:nvPr/>
        </p:nvSpPr>
        <p:spPr>
          <a:xfrm>
            <a:off x="548640" y="1828800"/>
            <a:ext cx="3566160" cy="1810512"/>
          </a:xfrm>
          <a:prstGeom prst="roundRect">
            <a:avLst>
              <a:gd name="adj" fmla="val 5051"/>
            </a:avLst>
          </a:prstGeom>
          <a:solidFill>
            <a:schemeClr val="bg2"/>
          </a:solidFill>
          <a:ln w="12700">
            <a:solidFill>
              <a:schemeClr val="bg2"/>
            </a:solidFill>
            <a:prstDash val="solid"/>
          </a:ln>
        </p:spPr>
      </p:sp>
      <p:sp>
        <p:nvSpPr>
          <p:cNvPr id="5" name="dot-162"/>
          <p:cNvSpPr/>
          <p:nvPr/>
        </p:nvSpPr>
        <p:spPr>
          <a:xfrm>
            <a:off x="822960" y="2121408"/>
            <a:ext cx="329184" cy="329184"/>
          </a:xfrm>
          <a:prstGeom prst="ellipse">
            <a:avLst/>
          </a:prstGeom>
          <a:solidFill>
            <a:schemeClr val="accent1"/>
          </a:solidFill>
          <a:ln w="12700">
            <a:solidFill>
              <a:schemeClr val="accent1"/>
            </a:solidFill>
            <a:prstDash val="solid"/>
          </a:ln>
        </p:spPr>
      </p:sp>
      <p:sp>
        <p:nvSpPr>
          <p:cNvPr id="6" name="text-163"/>
          <p:cNvSpPr txBox="1"/>
          <p:nvPr/>
        </p:nvSpPr>
        <p:spPr>
          <a:xfrm>
            <a:off x="1298448" y="2103120"/>
            <a:ext cx="2651760" cy="365760"/>
          </a:xfrm>
          <a:prstGeom prst="rect">
            <a:avLst/>
          </a:prstGeom>
          <a:noFill/>
          <a:ln/>
        </p:spPr>
        <p:txBody>
          <a:bodyPr wrap="square" lIns="0" tIns="0" rIns="0" bIns="0" rtlCol="0" anchor="t"/>
          <a:lstStyle/>
          <a:p>
            <a:pPr marL="0" indent="0">
              <a:buNone/>
            </a:pPr>
            <a:r>
              <a:rPr lang="en-US" sz="1700" dirty="0">
                <a:solidFill>
                  <a:schemeClr val="tx1"/>
                </a:solidFill>
                <a:latin typeface="Manrope SemiBold" pitchFamily="34" charset="0"/>
                <a:ea typeface="Manrope SemiBold" pitchFamily="34" charset="-122"/>
                <a:cs typeface="Manrope SemiBold" pitchFamily="34" charset="-120"/>
              </a:rPr>
              <a:t>Payments</a:t>
            </a:r>
            <a:endParaRPr lang="en-US" sz="1700" dirty="0"/>
          </a:p>
        </p:txBody>
      </p:sp>
      <p:sp>
        <p:nvSpPr>
          <p:cNvPr id="7" name="text-164"/>
          <p:cNvSpPr txBox="1"/>
          <p:nvPr/>
        </p:nvSpPr>
        <p:spPr>
          <a:xfrm>
            <a:off x="822960" y="2606040"/>
            <a:ext cx="3063240" cy="914400"/>
          </a:xfrm>
          <a:prstGeom prst="rect">
            <a:avLst/>
          </a:prstGeom>
          <a:noFill/>
          <a:ln/>
        </p:spPr>
        <p:txBody>
          <a:bodyPr wrap="square" lIns="0" tIns="0" rIns="0" bIns="0" rtlCol="0" anchor="t"/>
          <a:lstStyle/>
          <a:p>
            <a:pPr marL="0" indent="0">
              <a:buNone/>
            </a:pPr>
            <a:r>
              <a:rPr lang="en-US" sz="1400" dirty="0">
                <a:solidFill>
                  <a:schemeClr val="tx2"/>
                </a:solidFill>
              </a:rPr>
              <a:t>Card details stay with Paystack. Every payment and webhook is verified.</a:t>
            </a:r>
            <a:endParaRPr lang="en-US" sz="1400" dirty="0"/>
          </a:p>
        </p:txBody>
      </p:sp>
      <p:sp>
        <p:nvSpPr>
          <p:cNvPr id="8" name="card-165"/>
          <p:cNvSpPr/>
          <p:nvPr/>
        </p:nvSpPr>
        <p:spPr>
          <a:xfrm>
            <a:off x="4306824" y="1828800"/>
            <a:ext cx="3566160" cy="1810512"/>
          </a:xfrm>
          <a:prstGeom prst="roundRect">
            <a:avLst>
              <a:gd name="adj" fmla="val 5051"/>
            </a:avLst>
          </a:prstGeom>
          <a:solidFill>
            <a:schemeClr val="bg2"/>
          </a:solidFill>
          <a:ln w="12700">
            <a:solidFill>
              <a:schemeClr val="bg2"/>
            </a:solidFill>
            <a:prstDash val="solid"/>
          </a:ln>
        </p:spPr>
      </p:sp>
      <p:sp>
        <p:nvSpPr>
          <p:cNvPr id="9" name="dot-166"/>
          <p:cNvSpPr/>
          <p:nvPr/>
        </p:nvSpPr>
        <p:spPr>
          <a:xfrm>
            <a:off x="4581144" y="2121408"/>
            <a:ext cx="329184" cy="329184"/>
          </a:xfrm>
          <a:prstGeom prst="ellipse">
            <a:avLst/>
          </a:prstGeom>
          <a:solidFill>
            <a:schemeClr val="accent1"/>
          </a:solidFill>
          <a:ln w="12700">
            <a:solidFill>
              <a:schemeClr val="accent1"/>
            </a:solidFill>
            <a:prstDash val="solid"/>
          </a:ln>
        </p:spPr>
      </p:sp>
      <p:sp>
        <p:nvSpPr>
          <p:cNvPr id="10" name="text-167"/>
          <p:cNvSpPr txBox="1"/>
          <p:nvPr/>
        </p:nvSpPr>
        <p:spPr>
          <a:xfrm>
            <a:off x="5056632" y="2103120"/>
            <a:ext cx="2651760" cy="365760"/>
          </a:xfrm>
          <a:prstGeom prst="rect">
            <a:avLst/>
          </a:prstGeom>
          <a:noFill/>
          <a:ln/>
        </p:spPr>
        <p:txBody>
          <a:bodyPr wrap="square" lIns="0" tIns="0" rIns="0" bIns="0" rtlCol="0" anchor="t"/>
          <a:lstStyle/>
          <a:p>
            <a:pPr marL="0" indent="0">
              <a:buNone/>
            </a:pPr>
            <a:r>
              <a:rPr lang="en-US" sz="1700" dirty="0">
                <a:solidFill>
                  <a:schemeClr val="tx1"/>
                </a:solidFill>
                <a:latin typeface="Manrope SemiBold" pitchFamily="34" charset="0"/>
                <a:ea typeface="Manrope SemiBold" pitchFamily="34" charset="-122"/>
                <a:cs typeface="Manrope SemiBold" pitchFamily="34" charset="-120"/>
              </a:rPr>
              <a:t>Accounts</a:t>
            </a:r>
            <a:endParaRPr lang="en-US" sz="1700" dirty="0"/>
          </a:p>
        </p:txBody>
      </p:sp>
      <p:sp>
        <p:nvSpPr>
          <p:cNvPr id="11" name="text-168"/>
          <p:cNvSpPr txBox="1"/>
          <p:nvPr/>
        </p:nvSpPr>
        <p:spPr>
          <a:xfrm>
            <a:off x="4581144" y="2606040"/>
            <a:ext cx="3063240" cy="914400"/>
          </a:xfrm>
          <a:prstGeom prst="rect">
            <a:avLst/>
          </a:prstGeom>
          <a:noFill/>
          <a:ln/>
        </p:spPr>
        <p:txBody>
          <a:bodyPr wrap="square" lIns="0" tIns="0" rIns="0" bIns="0" rtlCol="0" anchor="t"/>
          <a:lstStyle/>
          <a:p>
            <a:pPr marL="0" indent="0">
              <a:buNone/>
            </a:pPr>
            <a:r>
              <a:rPr lang="en-US" sz="1400" dirty="0">
                <a:solidFill>
                  <a:schemeClr val="tx2"/>
                </a:solidFill>
              </a:rPr>
              <a:t>Strong passwords, two-factor sign-in for staff, sign-out when idle.</a:t>
            </a:r>
            <a:endParaRPr lang="en-US" sz="1400" dirty="0"/>
          </a:p>
        </p:txBody>
      </p:sp>
      <p:sp>
        <p:nvSpPr>
          <p:cNvPr id="12" name="card-169"/>
          <p:cNvSpPr/>
          <p:nvPr/>
        </p:nvSpPr>
        <p:spPr>
          <a:xfrm>
            <a:off x="8065008" y="1828800"/>
            <a:ext cx="3566160" cy="1810512"/>
          </a:xfrm>
          <a:prstGeom prst="roundRect">
            <a:avLst>
              <a:gd name="adj" fmla="val 5051"/>
            </a:avLst>
          </a:prstGeom>
          <a:solidFill>
            <a:schemeClr val="bg2"/>
          </a:solidFill>
          <a:ln w="12700">
            <a:solidFill>
              <a:schemeClr val="bg2"/>
            </a:solidFill>
            <a:prstDash val="solid"/>
          </a:ln>
        </p:spPr>
      </p:sp>
      <p:sp>
        <p:nvSpPr>
          <p:cNvPr id="13" name="dot-170"/>
          <p:cNvSpPr/>
          <p:nvPr/>
        </p:nvSpPr>
        <p:spPr>
          <a:xfrm>
            <a:off x="8339328" y="2121408"/>
            <a:ext cx="329184" cy="329184"/>
          </a:xfrm>
          <a:prstGeom prst="ellipse">
            <a:avLst/>
          </a:prstGeom>
          <a:solidFill>
            <a:schemeClr val="accent1"/>
          </a:solidFill>
          <a:ln w="12700">
            <a:solidFill>
              <a:schemeClr val="accent1"/>
            </a:solidFill>
            <a:prstDash val="solid"/>
          </a:ln>
        </p:spPr>
      </p:sp>
      <p:sp>
        <p:nvSpPr>
          <p:cNvPr id="14" name="text-171"/>
          <p:cNvSpPr txBox="1"/>
          <p:nvPr/>
        </p:nvSpPr>
        <p:spPr>
          <a:xfrm>
            <a:off x="8814816" y="2103120"/>
            <a:ext cx="2651760" cy="365760"/>
          </a:xfrm>
          <a:prstGeom prst="rect">
            <a:avLst/>
          </a:prstGeom>
          <a:noFill/>
          <a:ln/>
        </p:spPr>
        <p:txBody>
          <a:bodyPr wrap="square" lIns="0" tIns="0" rIns="0" bIns="0" rtlCol="0" anchor="t"/>
          <a:lstStyle/>
          <a:p>
            <a:pPr marL="0" indent="0">
              <a:buNone/>
            </a:pPr>
            <a:r>
              <a:rPr lang="en-US" sz="1700" dirty="0">
                <a:solidFill>
                  <a:schemeClr val="tx1"/>
                </a:solidFill>
                <a:latin typeface="Manrope SemiBold" pitchFamily="34" charset="0"/>
                <a:ea typeface="Manrope SemiBold" pitchFamily="34" charset="-122"/>
                <a:cs typeface="Manrope SemiBold" pitchFamily="34" charset="-120"/>
              </a:rPr>
              <a:t>Permissions</a:t>
            </a:r>
            <a:endParaRPr lang="en-US" sz="1700" dirty="0"/>
          </a:p>
        </p:txBody>
      </p:sp>
      <p:sp>
        <p:nvSpPr>
          <p:cNvPr id="15" name="text-172"/>
          <p:cNvSpPr txBox="1"/>
          <p:nvPr/>
        </p:nvSpPr>
        <p:spPr>
          <a:xfrm>
            <a:off x="8339328" y="2606040"/>
            <a:ext cx="3063240" cy="914400"/>
          </a:xfrm>
          <a:prstGeom prst="rect">
            <a:avLst/>
          </a:prstGeom>
          <a:noFill/>
          <a:ln/>
        </p:spPr>
        <p:txBody>
          <a:bodyPr wrap="square" lIns="0" tIns="0" rIns="0" bIns="0" rtlCol="0" anchor="t"/>
          <a:lstStyle/>
          <a:p>
            <a:pPr marL="0" indent="0">
              <a:buNone/>
            </a:pPr>
            <a:r>
              <a:rPr lang="en-US" sz="1400" dirty="0">
                <a:solidFill>
                  <a:schemeClr val="tx2"/>
                </a:solidFill>
              </a:rPr>
              <a:t>Four roles with only the access each job needs; an audit log of every change.</a:t>
            </a:r>
            <a:endParaRPr lang="en-US" sz="1400" dirty="0"/>
          </a:p>
        </p:txBody>
      </p:sp>
      <p:sp>
        <p:nvSpPr>
          <p:cNvPr id="16" name="card-173"/>
          <p:cNvSpPr/>
          <p:nvPr/>
        </p:nvSpPr>
        <p:spPr>
          <a:xfrm>
            <a:off x="548640" y="3840480"/>
            <a:ext cx="3566160" cy="1810512"/>
          </a:xfrm>
          <a:prstGeom prst="roundRect">
            <a:avLst>
              <a:gd name="adj" fmla="val 5051"/>
            </a:avLst>
          </a:prstGeom>
          <a:solidFill>
            <a:schemeClr val="bg2"/>
          </a:solidFill>
          <a:ln w="12700">
            <a:solidFill>
              <a:schemeClr val="bg2"/>
            </a:solidFill>
            <a:prstDash val="solid"/>
          </a:ln>
        </p:spPr>
      </p:sp>
      <p:sp>
        <p:nvSpPr>
          <p:cNvPr id="17" name="dot-174"/>
          <p:cNvSpPr/>
          <p:nvPr/>
        </p:nvSpPr>
        <p:spPr>
          <a:xfrm>
            <a:off x="822960" y="4133088"/>
            <a:ext cx="329184" cy="329184"/>
          </a:xfrm>
          <a:prstGeom prst="ellipse">
            <a:avLst/>
          </a:prstGeom>
          <a:solidFill>
            <a:schemeClr val="accent1"/>
          </a:solidFill>
          <a:ln w="12700">
            <a:solidFill>
              <a:schemeClr val="accent1"/>
            </a:solidFill>
            <a:prstDash val="solid"/>
          </a:ln>
        </p:spPr>
      </p:sp>
      <p:sp>
        <p:nvSpPr>
          <p:cNvPr id="18" name="text-175"/>
          <p:cNvSpPr txBox="1"/>
          <p:nvPr/>
        </p:nvSpPr>
        <p:spPr>
          <a:xfrm>
            <a:off x="1298448" y="4114800"/>
            <a:ext cx="2651760" cy="365760"/>
          </a:xfrm>
          <a:prstGeom prst="rect">
            <a:avLst/>
          </a:prstGeom>
          <a:noFill/>
          <a:ln/>
        </p:spPr>
        <p:txBody>
          <a:bodyPr wrap="square" lIns="0" tIns="0" rIns="0" bIns="0" rtlCol="0" anchor="t"/>
          <a:lstStyle/>
          <a:p>
            <a:pPr marL="0" indent="0">
              <a:buNone/>
            </a:pPr>
            <a:r>
              <a:rPr lang="en-US" sz="1700" dirty="0">
                <a:solidFill>
                  <a:schemeClr val="tx1"/>
                </a:solidFill>
                <a:latin typeface="Manrope SemiBold" pitchFamily="34" charset="0"/>
                <a:ea typeface="Manrope SemiBold" pitchFamily="34" charset="-122"/>
                <a:cs typeface="Manrope SemiBold" pitchFamily="34" charset="-120"/>
              </a:rPr>
              <a:t>The website</a:t>
            </a:r>
            <a:endParaRPr lang="en-US" sz="1700" dirty="0"/>
          </a:p>
        </p:txBody>
      </p:sp>
      <p:sp>
        <p:nvSpPr>
          <p:cNvPr id="19" name="text-176"/>
          <p:cNvSpPr txBox="1"/>
          <p:nvPr/>
        </p:nvSpPr>
        <p:spPr>
          <a:xfrm>
            <a:off x="822960" y="4617720"/>
            <a:ext cx="3063240" cy="914400"/>
          </a:xfrm>
          <a:prstGeom prst="rect">
            <a:avLst/>
          </a:prstGeom>
          <a:noFill/>
          <a:ln/>
        </p:spPr>
        <p:txBody>
          <a:bodyPr wrap="square" lIns="0" tIns="0" rIns="0" bIns="0" rtlCol="0" anchor="t"/>
          <a:lstStyle/>
          <a:p>
            <a:pPr marL="0" indent="0">
              <a:buNone/>
            </a:pPr>
            <a:r>
              <a:rPr lang="en-US" sz="1400" dirty="0">
                <a:solidFill>
                  <a:schemeClr val="tx2"/>
                </a:solidFill>
              </a:rPr>
              <a:t>HTTPS, a strict security policy, protection against common attacks.</a:t>
            </a:r>
            <a:endParaRPr lang="en-US" sz="1400" dirty="0"/>
          </a:p>
        </p:txBody>
      </p:sp>
      <p:sp>
        <p:nvSpPr>
          <p:cNvPr id="20" name="card-177"/>
          <p:cNvSpPr/>
          <p:nvPr/>
        </p:nvSpPr>
        <p:spPr>
          <a:xfrm>
            <a:off x="4306824" y="3840480"/>
            <a:ext cx="3566160" cy="1810512"/>
          </a:xfrm>
          <a:prstGeom prst="roundRect">
            <a:avLst>
              <a:gd name="adj" fmla="val 5051"/>
            </a:avLst>
          </a:prstGeom>
          <a:solidFill>
            <a:schemeClr val="bg2"/>
          </a:solidFill>
          <a:ln w="12700">
            <a:solidFill>
              <a:schemeClr val="bg2"/>
            </a:solidFill>
            <a:prstDash val="solid"/>
          </a:ln>
        </p:spPr>
      </p:sp>
      <p:sp>
        <p:nvSpPr>
          <p:cNvPr id="21" name="dot-178"/>
          <p:cNvSpPr/>
          <p:nvPr/>
        </p:nvSpPr>
        <p:spPr>
          <a:xfrm>
            <a:off x="4581144" y="4133088"/>
            <a:ext cx="329184" cy="329184"/>
          </a:xfrm>
          <a:prstGeom prst="ellipse">
            <a:avLst/>
          </a:prstGeom>
          <a:solidFill>
            <a:schemeClr val="accent1"/>
          </a:solidFill>
          <a:ln w="12700">
            <a:solidFill>
              <a:schemeClr val="accent1"/>
            </a:solidFill>
            <a:prstDash val="solid"/>
          </a:ln>
        </p:spPr>
      </p:sp>
      <p:sp>
        <p:nvSpPr>
          <p:cNvPr id="22" name="text-179"/>
          <p:cNvSpPr txBox="1"/>
          <p:nvPr/>
        </p:nvSpPr>
        <p:spPr>
          <a:xfrm>
            <a:off x="5056632" y="4114800"/>
            <a:ext cx="2651760" cy="365760"/>
          </a:xfrm>
          <a:prstGeom prst="rect">
            <a:avLst/>
          </a:prstGeom>
          <a:noFill/>
          <a:ln/>
        </p:spPr>
        <p:txBody>
          <a:bodyPr wrap="square" lIns="0" tIns="0" rIns="0" bIns="0" rtlCol="0" anchor="t"/>
          <a:lstStyle/>
          <a:p>
            <a:pPr marL="0" indent="0">
              <a:buNone/>
            </a:pPr>
            <a:r>
              <a:rPr lang="en-US" sz="1700" dirty="0">
                <a:solidFill>
                  <a:schemeClr val="tx1"/>
                </a:solidFill>
                <a:latin typeface="Manrope SemiBold" pitchFamily="34" charset="0"/>
                <a:ea typeface="Manrope SemiBold" pitchFamily="34" charset="-122"/>
                <a:cs typeface="Manrope SemiBold" pitchFamily="34" charset="-120"/>
              </a:rPr>
              <a:t>Money on account</a:t>
            </a:r>
            <a:endParaRPr lang="en-US" sz="1700" dirty="0"/>
          </a:p>
        </p:txBody>
      </p:sp>
      <p:sp>
        <p:nvSpPr>
          <p:cNvPr id="23" name="text-180"/>
          <p:cNvSpPr txBox="1"/>
          <p:nvPr/>
        </p:nvSpPr>
        <p:spPr>
          <a:xfrm>
            <a:off x="4581144" y="4617720"/>
            <a:ext cx="3063240" cy="914400"/>
          </a:xfrm>
          <a:prstGeom prst="rect">
            <a:avLst/>
          </a:prstGeom>
          <a:noFill/>
          <a:ln/>
        </p:spPr>
        <p:txBody>
          <a:bodyPr wrap="square" lIns="0" tIns="0" rIns="0" bIns="0" rtlCol="0" anchor="t"/>
          <a:lstStyle/>
          <a:p>
            <a:pPr marL="0" indent="0">
              <a:buNone/>
            </a:pPr>
            <a:r>
              <a:rPr lang="en-US" sz="1400" dirty="0">
                <a:solidFill>
                  <a:schemeClr val="tx2"/>
                </a:solidFill>
              </a:rPr>
              <a:t>Every balance comes from ledgers that are only ever added to, never edited.</a:t>
            </a:r>
            <a:endParaRPr lang="en-US" sz="1400" dirty="0"/>
          </a:p>
        </p:txBody>
      </p:sp>
      <p:sp>
        <p:nvSpPr>
          <p:cNvPr id="24" name="card-181"/>
          <p:cNvSpPr/>
          <p:nvPr/>
        </p:nvSpPr>
        <p:spPr>
          <a:xfrm>
            <a:off x="8065008" y="3840480"/>
            <a:ext cx="3566160" cy="1810512"/>
          </a:xfrm>
          <a:prstGeom prst="roundRect">
            <a:avLst>
              <a:gd name="adj" fmla="val 5051"/>
            </a:avLst>
          </a:prstGeom>
          <a:solidFill>
            <a:schemeClr val="bg2"/>
          </a:solidFill>
          <a:ln w="12700">
            <a:solidFill>
              <a:schemeClr val="bg2"/>
            </a:solidFill>
            <a:prstDash val="solid"/>
          </a:ln>
        </p:spPr>
      </p:sp>
      <p:sp>
        <p:nvSpPr>
          <p:cNvPr id="25" name="dot-182"/>
          <p:cNvSpPr/>
          <p:nvPr/>
        </p:nvSpPr>
        <p:spPr>
          <a:xfrm>
            <a:off x="8339328" y="4133088"/>
            <a:ext cx="329184" cy="329184"/>
          </a:xfrm>
          <a:prstGeom prst="ellipse">
            <a:avLst/>
          </a:prstGeom>
          <a:solidFill>
            <a:schemeClr val="accent1"/>
          </a:solidFill>
          <a:ln w="12700">
            <a:solidFill>
              <a:schemeClr val="accent1"/>
            </a:solidFill>
            <a:prstDash val="solid"/>
          </a:ln>
        </p:spPr>
      </p:sp>
      <p:sp>
        <p:nvSpPr>
          <p:cNvPr id="26" name="text-183"/>
          <p:cNvSpPr txBox="1"/>
          <p:nvPr/>
        </p:nvSpPr>
        <p:spPr>
          <a:xfrm>
            <a:off x="8814816" y="4114800"/>
            <a:ext cx="2651760" cy="365760"/>
          </a:xfrm>
          <a:prstGeom prst="rect">
            <a:avLst/>
          </a:prstGeom>
          <a:noFill/>
          <a:ln/>
        </p:spPr>
        <p:txBody>
          <a:bodyPr wrap="square" lIns="0" tIns="0" rIns="0" bIns="0" rtlCol="0" anchor="t"/>
          <a:lstStyle/>
          <a:p>
            <a:pPr marL="0" indent="0">
              <a:buNone/>
            </a:pPr>
            <a:r>
              <a:rPr lang="en-US" sz="1700" dirty="0">
                <a:solidFill>
                  <a:schemeClr val="tx1"/>
                </a:solidFill>
                <a:latin typeface="Manrope SemiBold" pitchFamily="34" charset="0"/>
                <a:ea typeface="Manrope SemiBold" pitchFamily="34" charset="-122"/>
                <a:cs typeface="Manrope SemiBold" pitchFamily="34" charset="-120"/>
              </a:rPr>
              <a:t>Privacy</a:t>
            </a:r>
            <a:endParaRPr lang="en-US" sz="1700" dirty="0"/>
          </a:p>
        </p:txBody>
      </p:sp>
      <p:sp>
        <p:nvSpPr>
          <p:cNvPr id="27" name="text-184"/>
          <p:cNvSpPr txBox="1"/>
          <p:nvPr/>
        </p:nvSpPr>
        <p:spPr>
          <a:xfrm>
            <a:off x="8339328" y="4617720"/>
            <a:ext cx="3063240" cy="914400"/>
          </a:xfrm>
          <a:prstGeom prst="rect">
            <a:avLst/>
          </a:prstGeom>
          <a:noFill/>
          <a:ln/>
        </p:spPr>
        <p:txBody>
          <a:bodyPr wrap="square" lIns="0" tIns="0" rIns="0" bIns="0" rtlCol="0" anchor="t"/>
          <a:lstStyle/>
          <a:p>
            <a:pPr marL="0" indent="0">
              <a:buNone/>
            </a:pPr>
            <a:r>
              <a:rPr lang="en-US" sz="1400" dirty="0">
                <a:solidFill>
                  <a:schemeClr val="tx2"/>
                </a:solidFill>
              </a:rPr>
              <a:t>Nigeria Data Protection Act 2023: clear policy, consent for marketing.</a:t>
            </a:r>
            <a:endParaRPr lang="en-US" sz="1400" dirty="0"/>
          </a:p>
        </p:txBody>
      </p:sp>
      <p:sp>
        <p:nvSpPr>
          <p:cNvPr id="28" name="Slide Number Placeholder 0"/>
          <p:cNvSpPr>
            <a:spLocks noGrp="1"/>
          </p:cNvSpPr>
          <p:nvPr>
            <p:ph type="sldNum" sz="quarter" idx="4294967295"/>
          </p:nvPr>
        </p:nvSpPr>
        <p:spPr>
          <a:xfrm>
            <a:off x="10500055" y="6309360"/>
            <a:ext cx="73152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Manrope"/>
                <a:ea typeface="Manrope"/>
                <a:cs typeface="Manrope"/>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84048"/>
            <a:ext cx="8229600" cy="310896"/>
          </a:xfrm>
          <a:prstGeom prst="rect">
            <a:avLst/>
          </a:prstGeom>
          <a:noFill/>
          <a:ln/>
        </p:spPr>
        <p:txBody>
          <a:bodyPr wrap="square" lIns="0" tIns="0" rIns="0" bIns="0" rtlCol="0"/>
          <a:lstStyle/>
          <a:p>
            <a:pPr marL="0" indent="0">
              <a:buNone/>
            </a:pPr>
            <a:r>
              <a:rPr lang="en-US" sz="1200" kern="0" spc="300" dirty="0">
                <a:solidFill>
                  <a:schemeClr val="accent1"/>
                </a:solidFill>
                <a:latin typeface="Manrope SemiBold" pitchFamily="34" charset="0"/>
                <a:ea typeface="Manrope SemiBold" pitchFamily="34" charset="-122"/>
                <a:cs typeface="Manrope SemiBold" pitchFamily="34" charset="-120"/>
              </a:rPr>
              <a:t>12 · PERFORMANCE &amp; MOBILE</a:t>
            </a:r>
            <a:endParaRPr lang="en-US" sz="1200" dirty="0"/>
          </a:p>
        </p:txBody>
      </p:sp>
      <p:sp>
        <p:nvSpPr>
          <p:cNvPr id="3" name="Text 0"/>
          <p:cNvSpPr>
            <a:spLocks noGrp="1"/>
          </p:cNvSpPr>
          <p:nvPr>
            <p:ph type="title" idx="102" hasCustomPrompt="1"/>
          </p:nvPr>
        </p:nvSpPr>
        <p:spPr>
          <a:xfrm>
            <a:off x="548640" y="676656"/>
            <a:ext cx="11094415" cy="786384"/>
          </a:xfrm>
          <a:prstGeom prst="rect">
            <a:avLst/>
          </a:prstGeom>
          <a:noFill/>
          <a:ln/>
        </p:spPr>
        <p:txBody>
          <a:bodyPr wrap="square" lIns="0" tIns="0" rIns="0" bIns="0" rtlCol="0" anchor="t"/>
          <a:lstStyle/>
          <a:p>
            <a:pPr marL="0" indent="0" algn="l">
              <a:buNone/>
            </a:pPr>
            <a:r>
              <a:rPr lang="en-US" sz="3800" dirty="0">
                <a:solidFill>
                  <a:schemeClr val="tx1"/>
                </a:solidFill>
              </a:rPr>
              <a:t>Fast on a phone, even on a weak signal</a:t>
            </a:r>
            <a:endParaRPr lang="en-US" sz="3800" dirty="0"/>
          </a:p>
        </p:txBody>
      </p:sp>
      <p:sp>
        <p:nvSpPr>
          <p:cNvPr id="4" name="text-185"/>
          <p:cNvSpPr txBox="1"/>
          <p:nvPr/>
        </p:nvSpPr>
        <p:spPr>
          <a:xfrm>
            <a:off x="548640" y="1783080"/>
            <a:ext cx="6035040" cy="274320"/>
          </a:xfrm>
          <a:prstGeom prst="rect">
            <a:avLst/>
          </a:prstGeom>
          <a:noFill/>
          <a:ln/>
        </p:spPr>
        <p:txBody>
          <a:bodyPr wrap="square" lIns="0" tIns="0" rIns="0" bIns="0" rtlCol="0" anchor="t"/>
          <a:lstStyle/>
          <a:p>
            <a:pPr marL="0" indent="0">
              <a:buNone/>
            </a:pPr>
            <a:r>
              <a:rPr lang="en-US" sz="1300" dirty="0">
                <a:solidFill>
                  <a:schemeClr val="accent5"/>
                </a:solidFill>
              </a:rPr>
              <a:t>Google Lighthouse, lowest score across all public pages</a:t>
            </a:r>
            <a:endParaRPr lang="en-US" sz="1300" dirty="0"/>
          </a:p>
        </p:txBody>
      </p:sp>
      <p:sp>
        <p:nvSpPr>
          <p:cNvPr id="5" name="text-186"/>
          <p:cNvSpPr txBox="1"/>
          <p:nvPr/>
        </p:nvSpPr>
        <p:spPr>
          <a:xfrm>
            <a:off x="2971800" y="2194560"/>
            <a:ext cx="1463040" cy="274320"/>
          </a:xfrm>
          <a:prstGeom prst="rect">
            <a:avLst/>
          </a:prstGeom>
          <a:noFill/>
          <a:ln/>
        </p:spPr>
        <p:txBody>
          <a:bodyPr wrap="square" lIns="0" tIns="0" rIns="0" bIns="0" rtlCol="0" anchor="t"/>
          <a:lstStyle/>
          <a:p>
            <a:pPr marL="0" indent="0" algn="ctr">
              <a:buNone/>
            </a:pPr>
            <a:r>
              <a:rPr lang="en-US" sz="1300" dirty="0">
                <a:solidFill>
                  <a:schemeClr val="tx2"/>
                </a:solidFill>
                <a:latin typeface="Manrope SemiBold" pitchFamily="34" charset="0"/>
                <a:ea typeface="Manrope SemiBold" pitchFamily="34" charset="-122"/>
                <a:cs typeface="Manrope SemiBold" pitchFamily="34" charset="-120"/>
              </a:rPr>
              <a:t>Mobile</a:t>
            </a:r>
            <a:endParaRPr lang="en-US" sz="1300" dirty="0"/>
          </a:p>
        </p:txBody>
      </p:sp>
      <p:sp>
        <p:nvSpPr>
          <p:cNvPr id="6" name="text-187"/>
          <p:cNvSpPr txBox="1"/>
          <p:nvPr/>
        </p:nvSpPr>
        <p:spPr>
          <a:xfrm>
            <a:off x="4572000" y="2194560"/>
            <a:ext cx="1463040" cy="274320"/>
          </a:xfrm>
          <a:prstGeom prst="rect">
            <a:avLst/>
          </a:prstGeom>
          <a:noFill/>
          <a:ln/>
        </p:spPr>
        <p:txBody>
          <a:bodyPr wrap="square" lIns="0" tIns="0" rIns="0" bIns="0" rtlCol="0" anchor="t"/>
          <a:lstStyle/>
          <a:p>
            <a:pPr marL="0" indent="0" algn="ctr">
              <a:buNone/>
            </a:pPr>
            <a:r>
              <a:rPr lang="en-US" sz="1300" dirty="0">
                <a:solidFill>
                  <a:schemeClr val="tx2"/>
                </a:solidFill>
                <a:latin typeface="Manrope SemiBold" pitchFamily="34" charset="0"/>
                <a:ea typeface="Manrope SemiBold" pitchFamily="34" charset="-122"/>
                <a:cs typeface="Manrope SemiBold" pitchFamily="34" charset="-120"/>
              </a:rPr>
              <a:t>Desktop</a:t>
            </a:r>
            <a:endParaRPr lang="en-US" sz="1300" dirty="0"/>
          </a:p>
        </p:txBody>
      </p:sp>
      <p:sp>
        <p:nvSpPr>
          <p:cNvPr id="7" name="text-188"/>
          <p:cNvSpPr txBox="1"/>
          <p:nvPr/>
        </p:nvSpPr>
        <p:spPr>
          <a:xfrm>
            <a:off x="548640" y="2770632"/>
            <a:ext cx="2377440" cy="365760"/>
          </a:xfrm>
          <a:prstGeom prst="rect">
            <a:avLst/>
          </a:prstGeom>
          <a:noFill/>
          <a:ln/>
        </p:spPr>
        <p:txBody>
          <a:bodyPr wrap="square" lIns="0" tIns="0" rIns="0" bIns="0" rtlCol="0" anchor="t"/>
          <a:lstStyle/>
          <a:p>
            <a:pPr marL="0" indent="0">
              <a:buNone/>
            </a:pPr>
            <a:r>
              <a:rPr lang="en-US" sz="1700" dirty="0">
                <a:solidFill>
                  <a:schemeClr val="tx1"/>
                </a:solidFill>
              </a:rPr>
              <a:t>Performance</a:t>
            </a:r>
            <a:endParaRPr lang="en-US" sz="1700" dirty="0"/>
          </a:p>
        </p:txBody>
      </p:sp>
      <p:sp>
        <p:nvSpPr>
          <p:cNvPr id="8" name="card-189"/>
          <p:cNvSpPr/>
          <p:nvPr/>
        </p:nvSpPr>
        <p:spPr>
          <a:xfrm>
            <a:off x="3200400" y="2606040"/>
            <a:ext cx="1005840" cy="685800"/>
          </a:xfrm>
          <a:prstGeom prst="roundRect">
            <a:avLst>
              <a:gd name="adj" fmla="val 13333"/>
            </a:avLst>
          </a:prstGeom>
          <a:solidFill>
            <a:schemeClr val="bg2"/>
          </a:solidFill>
          <a:ln w="12700">
            <a:solidFill>
              <a:schemeClr val="bg2"/>
            </a:solidFill>
            <a:prstDash val="solid"/>
          </a:ln>
        </p:spPr>
      </p:sp>
      <p:sp>
        <p:nvSpPr>
          <p:cNvPr id="9" name="text-190"/>
          <p:cNvSpPr txBox="1"/>
          <p:nvPr/>
        </p:nvSpPr>
        <p:spPr>
          <a:xfrm>
            <a:off x="3200400" y="2606040"/>
            <a:ext cx="1005840" cy="685800"/>
          </a:xfrm>
          <a:prstGeom prst="rect">
            <a:avLst/>
          </a:prstGeom>
          <a:noFill/>
          <a:ln/>
        </p:spPr>
        <p:txBody>
          <a:bodyPr wrap="square" lIns="0" tIns="0" rIns="0" bIns="0" rtlCol="0" anchor="ctr"/>
          <a:lstStyle/>
          <a:p>
            <a:pPr marL="0" indent="0" algn="ctr">
              <a:buNone/>
            </a:pPr>
            <a:r>
              <a:rPr lang="en-US" sz="3000" dirty="0">
                <a:solidFill>
                  <a:schemeClr val="accent1"/>
                </a:solidFill>
                <a:latin typeface="Cormorant Garamond SemiBold" pitchFamily="34" charset="0"/>
                <a:ea typeface="Cormorant Garamond SemiBold" pitchFamily="34" charset="-122"/>
                <a:cs typeface="Cormorant Garamond SemiBold" pitchFamily="34" charset="-120"/>
              </a:rPr>
              <a:t>91</a:t>
            </a:r>
            <a:endParaRPr lang="en-US" sz="3000" dirty="0"/>
          </a:p>
        </p:txBody>
      </p:sp>
      <p:sp>
        <p:nvSpPr>
          <p:cNvPr id="10" name="card-191"/>
          <p:cNvSpPr/>
          <p:nvPr/>
        </p:nvSpPr>
        <p:spPr>
          <a:xfrm>
            <a:off x="4800600" y="2606040"/>
            <a:ext cx="1005840" cy="685800"/>
          </a:xfrm>
          <a:prstGeom prst="roundRect">
            <a:avLst>
              <a:gd name="adj" fmla="val 13333"/>
            </a:avLst>
          </a:prstGeom>
          <a:solidFill>
            <a:schemeClr val="bg2"/>
          </a:solidFill>
          <a:ln w="12700">
            <a:solidFill>
              <a:schemeClr val="bg2"/>
            </a:solidFill>
            <a:prstDash val="solid"/>
          </a:ln>
        </p:spPr>
      </p:sp>
      <p:sp>
        <p:nvSpPr>
          <p:cNvPr id="11" name="text-192"/>
          <p:cNvSpPr txBox="1"/>
          <p:nvPr/>
        </p:nvSpPr>
        <p:spPr>
          <a:xfrm>
            <a:off x="4800600" y="2606040"/>
            <a:ext cx="1005840" cy="685800"/>
          </a:xfrm>
          <a:prstGeom prst="rect">
            <a:avLst/>
          </a:prstGeom>
          <a:noFill/>
          <a:ln/>
        </p:spPr>
        <p:txBody>
          <a:bodyPr wrap="square" lIns="0" tIns="0" rIns="0" bIns="0" rtlCol="0" anchor="ctr"/>
          <a:lstStyle/>
          <a:p>
            <a:pPr marL="0" indent="0" algn="ctr">
              <a:buNone/>
            </a:pPr>
            <a:r>
              <a:rPr lang="en-US" sz="3000" dirty="0">
                <a:solidFill>
                  <a:schemeClr val="accent1"/>
                </a:solidFill>
                <a:latin typeface="Cormorant Garamond SemiBold" pitchFamily="34" charset="0"/>
                <a:ea typeface="Cormorant Garamond SemiBold" pitchFamily="34" charset="-122"/>
                <a:cs typeface="Cormorant Garamond SemiBold" pitchFamily="34" charset="-120"/>
              </a:rPr>
              <a:t>100</a:t>
            </a:r>
            <a:endParaRPr lang="en-US" sz="3000" dirty="0"/>
          </a:p>
        </p:txBody>
      </p:sp>
      <p:sp>
        <p:nvSpPr>
          <p:cNvPr id="12" name="text-193"/>
          <p:cNvSpPr txBox="1"/>
          <p:nvPr/>
        </p:nvSpPr>
        <p:spPr>
          <a:xfrm>
            <a:off x="548640" y="3611880"/>
            <a:ext cx="2377440" cy="365760"/>
          </a:xfrm>
          <a:prstGeom prst="rect">
            <a:avLst/>
          </a:prstGeom>
          <a:noFill/>
          <a:ln/>
        </p:spPr>
        <p:txBody>
          <a:bodyPr wrap="square" lIns="0" tIns="0" rIns="0" bIns="0" rtlCol="0" anchor="t"/>
          <a:lstStyle/>
          <a:p>
            <a:pPr marL="0" indent="0">
              <a:buNone/>
            </a:pPr>
            <a:r>
              <a:rPr lang="en-US" sz="1700" dirty="0">
                <a:solidFill>
                  <a:schemeClr val="tx1"/>
                </a:solidFill>
              </a:rPr>
              <a:t>Accessibility</a:t>
            </a:r>
            <a:endParaRPr lang="en-US" sz="1700" dirty="0"/>
          </a:p>
        </p:txBody>
      </p:sp>
      <p:sp>
        <p:nvSpPr>
          <p:cNvPr id="13" name="card-194"/>
          <p:cNvSpPr/>
          <p:nvPr/>
        </p:nvSpPr>
        <p:spPr>
          <a:xfrm>
            <a:off x="3200400" y="3447288"/>
            <a:ext cx="1005840" cy="685800"/>
          </a:xfrm>
          <a:prstGeom prst="roundRect">
            <a:avLst>
              <a:gd name="adj" fmla="val 13333"/>
            </a:avLst>
          </a:prstGeom>
          <a:solidFill>
            <a:schemeClr val="bg2"/>
          </a:solidFill>
          <a:ln w="12700">
            <a:solidFill>
              <a:schemeClr val="bg2"/>
            </a:solidFill>
            <a:prstDash val="solid"/>
          </a:ln>
        </p:spPr>
      </p:sp>
      <p:sp>
        <p:nvSpPr>
          <p:cNvPr id="14" name="text-195"/>
          <p:cNvSpPr txBox="1"/>
          <p:nvPr/>
        </p:nvSpPr>
        <p:spPr>
          <a:xfrm>
            <a:off x="3200400" y="3447288"/>
            <a:ext cx="1005840" cy="685800"/>
          </a:xfrm>
          <a:prstGeom prst="rect">
            <a:avLst/>
          </a:prstGeom>
          <a:noFill/>
          <a:ln/>
        </p:spPr>
        <p:txBody>
          <a:bodyPr wrap="square" lIns="0" tIns="0" rIns="0" bIns="0" rtlCol="0" anchor="ctr"/>
          <a:lstStyle/>
          <a:p>
            <a:pPr marL="0" indent="0" algn="ctr">
              <a:buNone/>
            </a:pPr>
            <a:r>
              <a:rPr lang="en-US" sz="3000" dirty="0">
                <a:solidFill>
                  <a:schemeClr val="accent1"/>
                </a:solidFill>
                <a:latin typeface="Cormorant Garamond SemiBold" pitchFamily="34" charset="0"/>
                <a:ea typeface="Cormorant Garamond SemiBold" pitchFamily="34" charset="-122"/>
                <a:cs typeface="Cormorant Garamond SemiBold" pitchFamily="34" charset="-120"/>
              </a:rPr>
              <a:t>100</a:t>
            </a:r>
            <a:endParaRPr lang="en-US" sz="3000" dirty="0"/>
          </a:p>
        </p:txBody>
      </p:sp>
      <p:sp>
        <p:nvSpPr>
          <p:cNvPr id="15" name="card-196"/>
          <p:cNvSpPr/>
          <p:nvPr/>
        </p:nvSpPr>
        <p:spPr>
          <a:xfrm>
            <a:off x="4800600" y="3447288"/>
            <a:ext cx="1005840" cy="685800"/>
          </a:xfrm>
          <a:prstGeom prst="roundRect">
            <a:avLst>
              <a:gd name="adj" fmla="val 13333"/>
            </a:avLst>
          </a:prstGeom>
          <a:solidFill>
            <a:schemeClr val="bg2"/>
          </a:solidFill>
          <a:ln w="12700">
            <a:solidFill>
              <a:schemeClr val="bg2"/>
            </a:solidFill>
            <a:prstDash val="solid"/>
          </a:ln>
        </p:spPr>
      </p:sp>
      <p:sp>
        <p:nvSpPr>
          <p:cNvPr id="16" name="text-197"/>
          <p:cNvSpPr txBox="1"/>
          <p:nvPr/>
        </p:nvSpPr>
        <p:spPr>
          <a:xfrm>
            <a:off x="4800600" y="3447288"/>
            <a:ext cx="1005840" cy="685800"/>
          </a:xfrm>
          <a:prstGeom prst="rect">
            <a:avLst/>
          </a:prstGeom>
          <a:noFill/>
          <a:ln/>
        </p:spPr>
        <p:txBody>
          <a:bodyPr wrap="square" lIns="0" tIns="0" rIns="0" bIns="0" rtlCol="0" anchor="ctr"/>
          <a:lstStyle/>
          <a:p>
            <a:pPr marL="0" indent="0" algn="ctr">
              <a:buNone/>
            </a:pPr>
            <a:r>
              <a:rPr lang="en-US" sz="3000" dirty="0">
                <a:solidFill>
                  <a:schemeClr val="accent1"/>
                </a:solidFill>
                <a:latin typeface="Cormorant Garamond SemiBold" pitchFamily="34" charset="0"/>
                <a:ea typeface="Cormorant Garamond SemiBold" pitchFamily="34" charset="-122"/>
                <a:cs typeface="Cormorant Garamond SemiBold" pitchFamily="34" charset="-120"/>
              </a:rPr>
              <a:t>100</a:t>
            </a:r>
            <a:endParaRPr lang="en-US" sz="3000" dirty="0"/>
          </a:p>
        </p:txBody>
      </p:sp>
      <p:sp>
        <p:nvSpPr>
          <p:cNvPr id="17" name="text-198"/>
          <p:cNvSpPr txBox="1"/>
          <p:nvPr/>
        </p:nvSpPr>
        <p:spPr>
          <a:xfrm>
            <a:off x="548640" y="4453128"/>
            <a:ext cx="2377440" cy="365760"/>
          </a:xfrm>
          <a:prstGeom prst="rect">
            <a:avLst/>
          </a:prstGeom>
          <a:noFill/>
          <a:ln/>
        </p:spPr>
        <p:txBody>
          <a:bodyPr wrap="square" lIns="0" tIns="0" rIns="0" bIns="0" rtlCol="0" anchor="t"/>
          <a:lstStyle/>
          <a:p>
            <a:pPr marL="0" indent="0">
              <a:buNone/>
            </a:pPr>
            <a:r>
              <a:rPr lang="en-US" sz="1700" dirty="0">
                <a:solidFill>
                  <a:schemeClr val="tx1"/>
                </a:solidFill>
              </a:rPr>
              <a:t>Best practices</a:t>
            </a:r>
            <a:endParaRPr lang="en-US" sz="1700" dirty="0"/>
          </a:p>
        </p:txBody>
      </p:sp>
      <p:sp>
        <p:nvSpPr>
          <p:cNvPr id="18" name="card-199"/>
          <p:cNvSpPr/>
          <p:nvPr/>
        </p:nvSpPr>
        <p:spPr>
          <a:xfrm>
            <a:off x="3200400" y="4288536"/>
            <a:ext cx="1005840" cy="685800"/>
          </a:xfrm>
          <a:prstGeom prst="roundRect">
            <a:avLst>
              <a:gd name="adj" fmla="val 13333"/>
            </a:avLst>
          </a:prstGeom>
          <a:solidFill>
            <a:schemeClr val="bg2"/>
          </a:solidFill>
          <a:ln w="12700">
            <a:solidFill>
              <a:schemeClr val="bg2"/>
            </a:solidFill>
            <a:prstDash val="solid"/>
          </a:ln>
        </p:spPr>
      </p:sp>
      <p:sp>
        <p:nvSpPr>
          <p:cNvPr id="19" name="text-200"/>
          <p:cNvSpPr txBox="1"/>
          <p:nvPr/>
        </p:nvSpPr>
        <p:spPr>
          <a:xfrm>
            <a:off x="3200400" y="4288536"/>
            <a:ext cx="1005840" cy="685800"/>
          </a:xfrm>
          <a:prstGeom prst="rect">
            <a:avLst/>
          </a:prstGeom>
          <a:noFill/>
          <a:ln/>
        </p:spPr>
        <p:txBody>
          <a:bodyPr wrap="square" lIns="0" tIns="0" rIns="0" bIns="0" rtlCol="0" anchor="ctr"/>
          <a:lstStyle/>
          <a:p>
            <a:pPr marL="0" indent="0" algn="ctr">
              <a:buNone/>
            </a:pPr>
            <a:r>
              <a:rPr lang="en-US" sz="3000" dirty="0">
                <a:solidFill>
                  <a:schemeClr val="accent1"/>
                </a:solidFill>
                <a:latin typeface="Cormorant Garamond SemiBold" pitchFamily="34" charset="0"/>
                <a:ea typeface="Cormorant Garamond SemiBold" pitchFamily="34" charset="-122"/>
                <a:cs typeface="Cormorant Garamond SemiBold" pitchFamily="34" charset="-120"/>
              </a:rPr>
              <a:t>100</a:t>
            </a:r>
            <a:endParaRPr lang="en-US" sz="3000" dirty="0"/>
          </a:p>
        </p:txBody>
      </p:sp>
      <p:sp>
        <p:nvSpPr>
          <p:cNvPr id="20" name="card-201"/>
          <p:cNvSpPr/>
          <p:nvPr/>
        </p:nvSpPr>
        <p:spPr>
          <a:xfrm>
            <a:off x="4800600" y="4288536"/>
            <a:ext cx="1005840" cy="685800"/>
          </a:xfrm>
          <a:prstGeom prst="roundRect">
            <a:avLst>
              <a:gd name="adj" fmla="val 13333"/>
            </a:avLst>
          </a:prstGeom>
          <a:solidFill>
            <a:schemeClr val="bg2"/>
          </a:solidFill>
          <a:ln w="12700">
            <a:solidFill>
              <a:schemeClr val="bg2"/>
            </a:solidFill>
            <a:prstDash val="solid"/>
          </a:ln>
        </p:spPr>
      </p:sp>
      <p:sp>
        <p:nvSpPr>
          <p:cNvPr id="21" name="text-202"/>
          <p:cNvSpPr txBox="1"/>
          <p:nvPr/>
        </p:nvSpPr>
        <p:spPr>
          <a:xfrm>
            <a:off x="4800600" y="4288536"/>
            <a:ext cx="1005840" cy="685800"/>
          </a:xfrm>
          <a:prstGeom prst="rect">
            <a:avLst/>
          </a:prstGeom>
          <a:noFill/>
          <a:ln/>
        </p:spPr>
        <p:txBody>
          <a:bodyPr wrap="square" lIns="0" tIns="0" rIns="0" bIns="0" rtlCol="0" anchor="ctr"/>
          <a:lstStyle/>
          <a:p>
            <a:pPr marL="0" indent="0" algn="ctr">
              <a:buNone/>
            </a:pPr>
            <a:r>
              <a:rPr lang="en-US" sz="3000" dirty="0">
                <a:solidFill>
                  <a:schemeClr val="accent1"/>
                </a:solidFill>
                <a:latin typeface="Cormorant Garamond SemiBold" pitchFamily="34" charset="0"/>
                <a:ea typeface="Cormorant Garamond SemiBold" pitchFamily="34" charset="-122"/>
                <a:cs typeface="Cormorant Garamond SemiBold" pitchFamily="34" charset="-120"/>
              </a:rPr>
              <a:t>100</a:t>
            </a:r>
            <a:endParaRPr lang="en-US" sz="3000" dirty="0"/>
          </a:p>
        </p:txBody>
      </p:sp>
      <p:sp>
        <p:nvSpPr>
          <p:cNvPr id="22" name="text-203"/>
          <p:cNvSpPr txBox="1"/>
          <p:nvPr/>
        </p:nvSpPr>
        <p:spPr>
          <a:xfrm>
            <a:off x="548640" y="5294376"/>
            <a:ext cx="2377440" cy="365760"/>
          </a:xfrm>
          <a:prstGeom prst="rect">
            <a:avLst/>
          </a:prstGeom>
          <a:noFill/>
          <a:ln/>
        </p:spPr>
        <p:txBody>
          <a:bodyPr wrap="square" lIns="0" tIns="0" rIns="0" bIns="0" rtlCol="0" anchor="t"/>
          <a:lstStyle/>
          <a:p>
            <a:pPr marL="0" indent="0">
              <a:buNone/>
            </a:pPr>
            <a:r>
              <a:rPr lang="en-US" sz="1700" dirty="0">
                <a:solidFill>
                  <a:schemeClr val="tx1"/>
                </a:solidFill>
              </a:rPr>
              <a:t>SEO</a:t>
            </a:r>
            <a:endParaRPr lang="en-US" sz="1700" dirty="0"/>
          </a:p>
        </p:txBody>
      </p:sp>
      <p:sp>
        <p:nvSpPr>
          <p:cNvPr id="23" name="card-204"/>
          <p:cNvSpPr/>
          <p:nvPr/>
        </p:nvSpPr>
        <p:spPr>
          <a:xfrm>
            <a:off x="3200400" y="5129784"/>
            <a:ext cx="1005840" cy="685800"/>
          </a:xfrm>
          <a:prstGeom prst="roundRect">
            <a:avLst>
              <a:gd name="adj" fmla="val 13333"/>
            </a:avLst>
          </a:prstGeom>
          <a:solidFill>
            <a:schemeClr val="bg2"/>
          </a:solidFill>
          <a:ln w="12700">
            <a:solidFill>
              <a:schemeClr val="bg2"/>
            </a:solidFill>
            <a:prstDash val="solid"/>
          </a:ln>
        </p:spPr>
      </p:sp>
      <p:sp>
        <p:nvSpPr>
          <p:cNvPr id="24" name="text-205"/>
          <p:cNvSpPr txBox="1"/>
          <p:nvPr/>
        </p:nvSpPr>
        <p:spPr>
          <a:xfrm>
            <a:off x="3200400" y="5129784"/>
            <a:ext cx="1005840" cy="685800"/>
          </a:xfrm>
          <a:prstGeom prst="rect">
            <a:avLst/>
          </a:prstGeom>
          <a:noFill/>
          <a:ln/>
        </p:spPr>
        <p:txBody>
          <a:bodyPr wrap="square" lIns="0" tIns="0" rIns="0" bIns="0" rtlCol="0" anchor="ctr"/>
          <a:lstStyle/>
          <a:p>
            <a:pPr marL="0" indent="0" algn="ctr">
              <a:buNone/>
            </a:pPr>
            <a:r>
              <a:rPr lang="en-US" sz="3000" dirty="0">
                <a:solidFill>
                  <a:schemeClr val="accent1"/>
                </a:solidFill>
                <a:latin typeface="Cormorant Garamond SemiBold" pitchFamily="34" charset="0"/>
                <a:ea typeface="Cormorant Garamond SemiBold" pitchFamily="34" charset="-122"/>
                <a:cs typeface="Cormorant Garamond SemiBold" pitchFamily="34" charset="-120"/>
              </a:rPr>
              <a:t>100</a:t>
            </a:r>
            <a:endParaRPr lang="en-US" sz="3000" dirty="0"/>
          </a:p>
        </p:txBody>
      </p:sp>
      <p:sp>
        <p:nvSpPr>
          <p:cNvPr id="25" name="card-206"/>
          <p:cNvSpPr/>
          <p:nvPr/>
        </p:nvSpPr>
        <p:spPr>
          <a:xfrm>
            <a:off x="4800600" y="5129784"/>
            <a:ext cx="1005840" cy="685800"/>
          </a:xfrm>
          <a:prstGeom prst="roundRect">
            <a:avLst>
              <a:gd name="adj" fmla="val 13333"/>
            </a:avLst>
          </a:prstGeom>
          <a:solidFill>
            <a:schemeClr val="bg2"/>
          </a:solidFill>
          <a:ln w="12700">
            <a:solidFill>
              <a:schemeClr val="bg2"/>
            </a:solidFill>
            <a:prstDash val="solid"/>
          </a:ln>
        </p:spPr>
      </p:sp>
      <p:sp>
        <p:nvSpPr>
          <p:cNvPr id="26" name="text-207"/>
          <p:cNvSpPr txBox="1"/>
          <p:nvPr/>
        </p:nvSpPr>
        <p:spPr>
          <a:xfrm>
            <a:off x="4800600" y="5129784"/>
            <a:ext cx="1005840" cy="685800"/>
          </a:xfrm>
          <a:prstGeom prst="rect">
            <a:avLst/>
          </a:prstGeom>
          <a:noFill/>
          <a:ln/>
        </p:spPr>
        <p:txBody>
          <a:bodyPr wrap="square" lIns="0" tIns="0" rIns="0" bIns="0" rtlCol="0" anchor="ctr"/>
          <a:lstStyle/>
          <a:p>
            <a:pPr marL="0" indent="0" algn="ctr">
              <a:buNone/>
            </a:pPr>
            <a:r>
              <a:rPr lang="en-US" sz="3000" dirty="0">
                <a:solidFill>
                  <a:schemeClr val="accent1"/>
                </a:solidFill>
                <a:latin typeface="Cormorant Garamond SemiBold" pitchFamily="34" charset="0"/>
                <a:ea typeface="Cormorant Garamond SemiBold" pitchFamily="34" charset="-122"/>
                <a:cs typeface="Cormorant Garamond SemiBold" pitchFamily="34" charset="-120"/>
              </a:rPr>
              <a:t>100</a:t>
            </a:r>
            <a:endParaRPr lang="en-US" sz="3000" dirty="0"/>
          </a:p>
        </p:txBody>
      </p:sp>
      <p:sp>
        <p:nvSpPr>
          <p:cNvPr id="27" name="text-208"/>
          <p:cNvSpPr txBox="1"/>
          <p:nvPr/>
        </p:nvSpPr>
        <p:spPr>
          <a:xfrm>
            <a:off x="548640" y="6035040"/>
            <a:ext cx="6035040" cy="457200"/>
          </a:xfrm>
          <a:prstGeom prst="rect">
            <a:avLst/>
          </a:prstGeom>
          <a:noFill/>
          <a:ln/>
        </p:spPr>
        <p:txBody>
          <a:bodyPr wrap="square" lIns="0" tIns="0" rIns="0" bIns="0" rtlCol="0" anchor="t"/>
          <a:lstStyle/>
          <a:p>
            <a:pPr marL="0" indent="0">
              <a:buNone/>
            </a:pPr>
            <a:r>
              <a:rPr lang="en-US" sz="1300" dirty="0">
                <a:solidFill>
                  <a:schemeClr val="tx2"/>
                </a:solidFill>
              </a:rPr>
              <a:t>Public pages are ready-made HTML, so phones show them straight away. Tested on iPhone, Android and iPad.</a:t>
            </a:r>
            <a:endParaRPr lang="en-US" sz="1300" dirty="0"/>
          </a:p>
        </p:txBody>
      </p:sp>
      <p:sp>
        <p:nvSpPr>
          <p:cNvPr id="28" name="frame-209"/>
          <p:cNvSpPr/>
          <p:nvPr/>
        </p:nvSpPr>
        <p:spPr>
          <a:xfrm>
            <a:off x="6885432" y="1719072"/>
            <a:ext cx="2135037" cy="4471416"/>
          </a:xfrm>
          <a:prstGeom prst="roundRect">
            <a:avLst>
              <a:gd name="adj" fmla="val 7709"/>
            </a:avLst>
          </a:prstGeom>
          <a:solidFill>
            <a:schemeClr val="bg2"/>
          </a:solidFill>
          <a:ln w="9525">
            <a:solidFill>
              <a:schemeClr val="accent1">
                <a:alpha val="55000"/>
              </a:schemeClr>
            </a:solidFill>
            <a:prstDash val="solid"/>
          </a:ln>
        </p:spPr>
      </p:sp>
      <p:pic>
        <p:nvPicPr>
          <p:cNvPr id="29" name="screenshot-210" descr="mobile home"/>
          <p:cNvPicPr>
            <a:picLocks noChangeAspect="1"/>
          </p:cNvPicPr>
          <p:nvPr/>
        </p:nvPicPr>
        <p:blipFill>
          <a:blip r:embed="rId3"/>
          <a:stretch>
            <a:fillRect/>
          </a:stretch>
        </p:blipFill>
        <p:spPr>
          <a:xfrm>
            <a:off x="6949440" y="1783080"/>
            <a:ext cx="2007021" cy="4343400"/>
          </a:xfrm>
          <a:prstGeom prst="rect">
            <a:avLst/>
          </a:prstGeom>
        </p:spPr>
      </p:pic>
      <p:sp>
        <p:nvSpPr>
          <p:cNvPr id="30" name="frame-211"/>
          <p:cNvSpPr/>
          <p:nvPr/>
        </p:nvSpPr>
        <p:spPr>
          <a:xfrm>
            <a:off x="9400032" y="1719072"/>
            <a:ext cx="2135037" cy="4471416"/>
          </a:xfrm>
          <a:prstGeom prst="roundRect">
            <a:avLst>
              <a:gd name="adj" fmla="val 7709"/>
            </a:avLst>
          </a:prstGeom>
          <a:solidFill>
            <a:schemeClr val="bg2"/>
          </a:solidFill>
          <a:ln w="9525">
            <a:solidFill>
              <a:schemeClr val="accent1">
                <a:alpha val="55000"/>
              </a:schemeClr>
            </a:solidFill>
            <a:prstDash val="solid"/>
          </a:ln>
        </p:spPr>
      </p:sp>
      <p:pic>
        <p:nvPicPr>
          <p:cNvPr id="31" name="screenshot-212" descr="mobile dish"/>
          <p:cNvPicPr>
            <a:picLocks noChangeAspect="1"/>
          </p:cNvPicPr>
          <p:nvPr/>
        </p:nvPicPr>
        <p:blipFill>
          <a:blip r:embed="rId4"/>
          <a:stretch>
            <a:fillRect/>
          </a:stretch>
        </p:blipFill>
        <p:spPr>
          <a:xfrm>
            <a:off x="9464040" y="1783080"/>
            <a:ext cx="2007021" cy="4343400"/>
          </a:xfrm>
          <a:prstGeom prst="rect">
            <a:avLst/>
          </a:prstGeom>
        </p:spPr>
      </p:pic>
      <p:sp>
        <p:nvSpPr>
          <p:cNvPr id="32" name="Slide Number Placeholder 0"/>
          <p:cNvSpPr>
            <a:spLocks noGrp="1"/>
          </p:cNvSpPr>
          <p:nvPr>
            <p:ph type="sldNum" sz="quarter" idx="4294967295"/>
          </p:nvPr>
        </p:nvSpPr>
        <p:spPr>
          <a:xfrm>
            <a:off x="10500055" y="6309360"/>
            <a:ext cx="73152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Manrope"/>
                <a:ea typeface="Manrope"/>
                <a:cs typeface="Manrope"/>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84048"/>
            <a:ext cx="8229600" cy="310896"/>
          </a:xfrm>
          <a:prstGeom prst="rect">
            <a:avLst/>
          </a:prstGeom>
          <a:noFill/>
          <a:ln/>
        </p:spPr>
        <p:txBody>
          <a:bodyPr wrap="square" lIns="0" tIns="0" rIns="0" bIns="0" rtlCol="0"/>
          <a:lstStyle/>
          <a:p>
            <a:pPr marL="0" indent="0">
              <a:buNone/>
            </a:pPr>
            <a:r>
              <a:rPr lang="en-US" sz="1200" kern="0" spc="300" dirty="0">
                <a:solidFill>
                  <a:schemeClr val="accent1"/>
                </a:solidFill>
                <a:latin typeface="Manrope SemiBold" pitchFamily="34" charset="0"/>
                <a:ea typeface="Manrope SemiBold" pitchFamily="34" charset="-122"/>
                <a:cs typeface="Manrope SemiBold" pitchFamily="34" charset="-120"/>
              </a:rPr>
              <a:t>13 · MARKETING PLAN</a:t>
            </a:r>
            <a:endParaRPr lang="en-US" sz="1200" dirty="0"/>
          </a:p>
        </p:txBody>
      </p:sp>
      <p:sp>
        <p:nvSpPr>
          <p:cNvPr id="3" name="Text 0"/>
          <p:cNvSpPr>
            <a:spLocks noGrp="1"/>
          </p:cNvSpPr>
          <p:nvPr>
            <p:ph type="title" idx="102" hasCustomPrompt="1"/>
          </p:nvPr>
        </p:nvSpPr>
        <p:spPr>
          <a:xfrm>
            <a:off x="548640" y="676656"/>
            <a:ext cx="11094415" cy="786384"/>
          </a:xfrm>
          <a:prstGeom prst="rect">
            <a:avLst/>
          </a:prstGeom>
          <a:noFill/>
          <a:ln/>
        </p:spPr>
        <p:txBody>
          <a:bodyPr wrap="square" lIns="0" tIns="0" rIns="0" bIns="0" rtlCol="0" anchor="t"/>
          <a:lstStyle/>
          <a:p>
            <a:pPr marL="0" indent="0" algn="l">
              <a:buNone/>
            </a:pPr>
            <a:r>
              <a:rPr lang="en-US" sz="3800" dirty="0">
                <a:solidFill>
                  <a:schemeClr val="tx1"/>
                </a:solidFill>
              </a:rPr>
              <a:t>Ninety days to a full room and a thousand members</a:t>
            </a:r>
            <a:endParaRPr lang="en-US" sz="3800" dirty="0"/>
          </a:p>
        </p:txBody>
      </p:sp>
      <p:sp>
        <p:nvSpPr>
          <p:cNvPr id="4" name="card-213"/>
          <p:cNvSpPr/>
          <p:nvPr/>
        </p:nvSpPr>
        <p:spPr>
          <a:xfrm>
            <a:off x="548640" y="1828800"/>
            <a:ext cx="2651760" cy="1847088"/>
          </a:xfrm>
          <a:prstGeom prst="roundRect">
            <a:avLst>
              <a:gd name="adj" fmla="val 4950"/>
            </a:avLst>
          </a:prstGeom>
          <a:solidFill>
            <a:schemeClr val="bg2"/>
          </a:solidFill>
          <a:ln w="12700">
            <a:solidFill>
              <a:schemeClr val="bg2"/>
            </a:solidFill>
            <a:prstDash val="solid"/>
          </a:ln>
        </p:spPr>
      </p:sp>
      <p:sp>
        <p:nvSpPr>
          <p:cNvPr id="5" name="text-214"/>
          <p:cNvSpPr txBox="1"/>
          <p:nvPr/>
        </p:nvSpPr>
        <p:spPr>
          <a:xfrm>
            <a:off x="822960" y="2057400"/>
            <a:ext cx="914400" cy="457200"/>
          </a:xfrm>
          <a:prstGeom prst="rect">
            <a:avLst/>
          </a:prstGeom>
          <a:noFill/>
          <a:ln/>
        </p:spPr>
        <p:txBody>
          <a:bodyPr wrap="square" lIns="0" tIns="0" rIns="0" bIns="0" rtlCol="0" anchor="t"/>
          <a:lstStyle/>
          <a:p>
            <a:pPr marL="0" indent="0">
              <a:buNone/>
            </a:pPr>
            <a:r>
              <a:rPr lang="en-US" sz="2600" dirty="0">
                <a:solidFill>
                  <a:schemeClr val="accent1"/>
                </a:solidFill>
                <a:latin typeface="Cormorant Garamond SemiBold" pitchFamily="34" charset="0"/>
                <a:ea typeface="Cormorant Garamond SemiBold" pitchFamily="34" charset="-122"/>
                <a:cs typeface="Cormorant Garamond SemiBold" pitchFamily="34" charset="-120"/>
              </a:rPr>
              <a:t>01</a:t>
            </a:r>
            <a:endParaRPr lang="en-US" sz="2600" dirty="0"/>
          </a:p>
        </p:txBody>
      </p:sp>
      <p:sp>
        <p:nvSpPr>
          <p:cNvPr id="6" name="text-215"/>
          <p:cNvSpPr txBox="1"/>
          <p:nvPr/>
        </p:nvSpPr>
        <p:spPr>
          <a:xfrm>
            <a:off x="822960" y="2560320"/>
            <a:ext cx="2194560" cy="365760"/>
          </a:xfrm>
          <a:prstGeom prst="rect">
            <a:avLst/>
          </a:prstGeom>
          <a:noFill/>
          <a:ln/>
        </p:spPr>
        <p:txBody>
          <a:bodyPr wrap="square" lIns="0" tIns="0" rIns="0" bIns="0" rtlCol="0" anchor="t"/>
          <a:lstStyle/>
          <a:p>
            <a:pPr marL="0" indent="0">
              <a:buNone/>
            </a:pPr>
            <a:r>
              <a:rPr lang="en-US" sz="1600" dirty="0">
                <a:solidFill>
                  <a:schemeClr val="tx1"/>
                </a:solidFill>
                <a:latin typeface="Manrope SemiBold" pitchFamily="34" charset="0"/>
                <a:ea typeface="Manrope SemiBold" pitchFamily="34" charset="-122"/>
                <a:cs typeface="Manrope SemiBold" pitchFamily="34" charset="-120"/>
              </a:rPr>
              <a:t>Google profile</a:t>
            </a:r>
            <a:endParaRPr lang="en-US" sz="1600" dirty="0"/>
          </a:p>
        </p:txBody>
      </p:sp>
      <p:sp>
        <p:nvSpPr>
          <p:cNvPr id="7" name="text-216"/>
          <p:cNvSpPr txBox="1"/>
          <p:nvPr/>
        </p:nvSpPr>
        <p:spPr>
          <a:xfrm>
            <a:off x="822960" y="2926080"/>
            <a:ext cx="2194560" cy="640080"/>
          </a:xfrm>
          <a:prstGeom prst="rect">
            <a:avLst/>
          </a:prstGeom>
          <a:noFill/>
          <a:ln/>
        </p:spPr>
        <p:txBody>
          <a:bodyPr wrap="square" lIns="0" tIns="0" rIns="0" bIns="0" rtlCol="0" anchor="t"/>
          <a:lstStyle/>
          <a:p>
            <a:pPr marL="0" indent="0">
              <a:buNone/>
            </a:pPr>
            <a:r>
              <a:rPr lang="en-US" sz="1300" dirty="0">
                <a:solidFill>
                  <a:schemeClr val="tx2"/>
                </a:solidFill>
              </a:rPr>
              <a:t>Maps listing with photos, hours, Reserve and Order links</a:t>
            </a:r>
            <a:endParaRPr lang="en-US" sz="1300" dirty="0"/>
          </a:p>
        </p:txBody>
      </p:sp>
      <p:sp>
        <p:nvSpPr>
          <p:cNvPr id="8" name="card-217"/>
          <p:cNvSpPr/>
          <p:nvPr/>
        </p:nvSpPr>
        <p:spPr>
          <a:xfrm>
            <a:off x="3355848" y="1828800"/>
            <a:ext cx="2651760" cy="1847088"/>
          </a:xfrm>
          <a:prstGeom prst="roundRect">
            <a:avLst>
              <a:gd name="adj" fmla="val 4950"/>
            </a:avLst>
          </a:prstGeom>
          <a:solidFill>
            <a:schemeClr val="bg2"/>
          </a:solidFill>
          <a:ln w="12700">
            <a:solidFill>
              <a:schemeClr val="bg2"/>
            </a:solidFill>
            <a:prstDash val="solid"/>
          </a:ln>
        </p:spPr>
      </p:sp>
      <p:sp>
        <p:nvSpPr>
          <p:cNvPr id="9" name="text-218"/>
          <p:cNvSpPr txBox="1"/>
          <p:nvPr/>
        </p:nvSpPr>
        <p:spPr>
          <a:xfrm>
            <a:off x="3630168" y="2057400"/>
            <a:ext cx="914400" cy="457200"/>
          </a:xfrm>
          <a:prstGeom prst="rect">
            <a:avLst/>
          </a:prstGeom>
          <a:noFill/>
          <a:ln/>
        </p:spPr>
        <p:txBody>
          <a:bodyPr wrap="square" lIns="0" tIns="0" rIns="0" bIns="0" rtlCol="0" anchor="t"/>
          <a:lstStyle/>
          <a:p>
            <a:pPr marL="0" indent="0">
              <a:buNone/>
            </a:pPr>
            <a:r>
              <a:rPr lang="en-US" sz="2600" dirty="0">
                <a:solidFill>
                  <a:schemeClr val="accent1"/>
                </a:solidFill>
                <a:latin typeface="Cormorant Garamond SemiBold" pitchFamily="34" charset="0"/>
                <a:ea typeface="Cormorant Garamond SemiBold" pitchFamily="34" charset="-122"/>
                <a:cs typeface="Cormorant Garamond SemiBold" pitchFamily="34" charset="-120"/>
              </a:rPr>
              <a:t>02</a:t>
            </a:r>
            <a:endParaRPr lang="en-US" sz="2600" dirty="0"/>
          </a:p>
        </p:txBody>
      </p:sp>
      <p:sp>
        <p:nvSpPr>
          <p:cNvPr id="10" name="text-219"/>
          <p:cNvSpPr txBox="1"/>
          <p:nvPr/>
        </p:nvSpPr>
        <p:spPr>
          <a:xfrm>
            <a:off x="3630168" y="2560320"/>
            <a:ext cx="2194560" cy="365760"/>
          </a:xfrm>
          <a:prstGeom prst="rect">
            <a:avLst/>
          </a:prstGeom>
          <a:noFill/>
          <a:ln/>
        </p:spPr>
        <p:txBody>
          <a:bodyPr wrap="square" lIns="0" tIns="0" rIns="0" bIns="0" rtlCol="0" anchor="t"/>
          <a:lstStyle/>
          <a:p>
            <a:pPr marL="0" indent="0">
              <a:buNone/>
            </a:pPr>
            <a:r>
              <a:rPr lang="en-US" sz="1600" dirty="0">
                <a:solidFill>
                  <a:schemeClr val="tx1"/>
                </a:solidFill>
                <a:latin typeface="Manrope SemiBold" pitchFamily="34" charset="0"/>
                <a:ea typeface="Manrope SemiBold" pitchFamily="34" charset="-122"/>
                <a:cs typeface="Manrope SemiBold" pitchFamily="34" charset="-120"/>
              </a:rPr>
              <a:t>30-day social calendar</a:t>
            </a:r>
            <a:endParaRPr lang="en-US" sz="1600" dirty="0"/>
          </a:p>
        </p:txBody>
      </p:sp>
      <p:sp>
        <p:nvSpPr>
          <p:cNvPr id="11" name="text-220"/>
          <p:cNvSpPr txBox="1"/>
          <p:nvPr/>
        </p:nvSpPr>
        <p:spPr>
          <a:xfrm>
            <a:off x="3630168" y="2926080"/>
            <a:ext cx="2194560" cy="640080"/>
          </a:xfrm>
          <a:prstGeom prst="rect">
            <a:avLst/>
          </a:prstGeom>
          <a:noFill/>
          <a:ln/>
        </p:spPr>
        <p:txBody>
          <a:bodyPr wrap="square" lIns="0" tIns="0" rIns="0" bIns="0" rtlCol="0" anchor="t"/>
          <a:lstStyle/>
          <a:p>
            <a:pPr marL="0" indent="0">
              <a:buNone/>
            </a:pPr>
            <a:r>
              <a:rPr lang="en-US" sz="1300" dirty="0">
                <a:solidFill>
                  <a:schemeClr val="tx2"/>
                </a:solidFill>
              </a:rPr>
              <a:t>Instagram Reels and TikTok, daily</a:t>
            </a:r>
            <a:endParaRPr lang="en-US" sz="1300" dirty="0"/>
          </a:p>
        </p:txBody>
      </p:sp>
      <p:sp>
        <p:nvSpPr>
          <p:cNvPr id="12" name="card-221"/>
          <p:cNvSpPr/>
          <p:nvPr/>
        </p:nvSpPr>
        <p:spPr>
          <a:xfrm>
            <a:off x="6163056" y="1828800"/>
            <a:ext cx="2651760" cy="1847088"/>
          </a:xfrm>
          <a:prstGeom prst="roundRect">
            <a:avLst>
              <a:gd name="adj" fmla="val 4950"/>
            </a:avLst>
          </a:prstGeom>
          <a:solidFill>
            <a:schemeClr val="bg2"/>
          </a:solidFill>
          <a:ln w="12700">
            <a:solidFill>
              <a:schemeClr val="bg2"/>
            </a:solidFill>
            <a:prstDash val="solid"/>
          </a:ln>
        </p:spPr>
      </p:sp>
      <p:sp>
        <p:nvSpPr>
          <p:cNvPr id="13" name="text-222"/>
          <p:cNvSpPr txBox="1"/>
          <p:nvPr/>
        </p:nvSpPr>
        <p:spPr>
          <a:xfrm>
            <a:off x="6437376" y="2057400"/>
            <a:ext cx="914400" cy="457200"/>
          </a:xfrm>
          <a:prstGeom prst="rect">
            <a:avLst/>
          </a:prstGeom>
          <a:noFill/>
          <a:ln/>
        </p:spPr>
        <p:txBody>
          <a:bodyPr wrap="square" lIns="0" tIns="0" rIns="0" bIns="0" rtlCol="0" anchor="t"/>
          <a:lstStyle/>
          <a:p>
            <a:pPr marL="0" indent="0">
              <a:buNone/>
            </a:pPr>
            <a:r>
              <a:rPr lang="en-US" sz="2600" dirty="0">
                <a:solidFill>
                  <a:schemeClr val="accent1"/>
                </a:solidFill>
                <a:latin typeface="Cormorant Garamond SemiBold" pitchFamily="34" charset="0"/>
                <a:ea typeface="Cormorant Garamond SemiBold" pitchFamily="34" charset="-122"/>
                <a:cs typeface="Cormorant Garamond SemiBold" pitchFamily="34" charset="-120"/>
              </a:rPr>
              <a:t>03</a:t>
            </a:r>
            <a:endParaRPr lang="en-US" sz="2600" dirty="0"/>
          </a:p>
        </p:txBody>
      </p:sp>
      <p:sp>
        <p:nvSpPr>
          <p:cNvPr id="14" name="text-223"/>
          <p:cNvSpPr txBox="1"/>
          <p:nvPr/>
        </p:nvSpPr>
        <p:spPr>
          <a:xfrm>
            <a:off x="6437376" y="2560320"/>
            <a:ext cx="2194560" cy="365760"/>
          </a:xfrm>
          <a:prstGeom prst="rect">
            <a:avLst/>
          </a:prstGeom>
          <a:noFill/>
          <a:ln/>
        </p:spPr>
        <p:txBody>
          <a:bodyPr wrap="square" lIns="0" tIns="0" rIns="0" bIns="0" rtlCol="0" anchor="t"/>
          <a:lstStyle/>
          <a:p>
            <a:pPr marL="0" indent="0">
              <a:buNone/>
            </a:pPr>
            <a:r>
              <a:rPr lang="en-US" sz="1600" dirty="0">
                <a:solidFill>
                  <a:schemeClr val="tx1"/>
                </a:solidFill>
                <a:latin typeface="Manrope SemiBold" pitchFamily="34" charset="0"/>
                <a:ea typeface="Manrope SemiBold" pitchFamily="34" charset="-122"/>
                <a:cs typeface="Manrope SemiBold" pitchFamily="34" charset="-120"/>
              </a:rPr>
              <a:t>Influencers</a:t>
            </a:r>
            <a:endParaRPr lang="en-US" sz="1600" dirty="0"/>
          </a:p>
        </p:txBody>
      </p:sp>
      <p:sp>
        <p:nvSpPr>
          <p:cNvPr id="15" name="text-224"/>
          <p:cNvSpPr txBox="1"/>
          <p:nvPr/>
        </p:nvSpPr>
        <p:spPr>
          <a:xfrm>
            <a:off x="6437376" y="2926080"/>
            <a:ext cx="2194560" cy="640080"/>
          </a:xfrm>
          <a:prstGeom prst="rect">
            <a:avLst/>
          </a:prstGeom>
          <a:noFill/>
          <a:ln/>
        </p:spPr>
        <p:txBody>
          <a:bodyPr wrap="square" lIns="0" tIns="0" rIns="0" bIns="0" rtlCol="0" anchor="t"/>
          <a:lstStyle/>
          <a:p>
            <a:pPr marL="0" indent="0">
              <a:buNone/>
            </a:pPr>
            <a:r>
              <a:rPr lang="en-US" sz="1300" dirty="0">
                <a:solidFill>
                  <a:schemeClr val="tx2"/>
                </a:solidFill>
              </a:rPr>
              <a:t>Lagos food creators, each with a code</a:t>
            </a:r>
            <a:endParaRPr lang="en-US" sz="1300" dirty="0"/>
          </a:p>
        </p:txBody>
      </p:sp>
      <p:sp>
        <p:nvSpPr>
          <p:cNvPr id="16" name="card-225"/>
          <p:cNvSpPr/>
          <p:nvPr/>
        </p:nvSpPr>
        <p:spPr>
          <a:xfrm>
            <a:off x="8970264" y="1828800"/>
            <a:ext cx="2651760" cy="1847088"/>
          </a:xfrm>
          <a:prstGeom prst="roundRect">
            <a:avLst>
              <a:gd name="adj" fmla="val 4950"/>
            </a:avLst>
          </a:prstGeom>
          <a:solidFill>
            <a:schemeClr val="bg2"/>
          </a:solidFill>
          <a:ln w="12700">
            <a:solidFill>
              <a:schemeClr val="bg2"/>
            </a:solidFill>
            <a:prstDash val="solid"/>
          </a:ln>
        </p:spPr>
      </p:sp>
      <p:sp>
        <p:nvSpPr>
          <p:cNvPr id="17" name="text-226"/>
          <p:cNvSpPr txBox="1"/>
          <p:nvPr/>
        </p:nvSpPr>
        <p:spPr>
          <a:xfrm>
            <a:off x="9244584" y="2057400"/>
            <a:ext cx="914400" cy="457200"/>
          </a:xfrm>
          <a:prstGeom prst="rect">
            <a:avLst/>
          </a:prstGeom>
          <a:noFill/>
          <a:ln/>
        </p:spPr>
        <p:txBody>
          <a:bodyPr wrap="square" lIns="0" tIns="0" rIns="0" bIns="0" rtlCol="0" anchor="t"/>
          <a:lstStyle/>
          <a:p>
            <a:pPr marL="0" indent="0">
              <a:buNone/>
            </a:pPr>
            <a:r>
              <a:rPr lang="en-US" sz="2600" dirty="0">
                <a:solidFill>
                  <a:schemeClr val="accent1"/>
                </a:solidFill>
                <a:latin typeface="Cormorant Garamond SemiBold" pitchFamily="34" charset="0"/>
                <a:ea typeface="Cormorant Garamond SemiBold" pitchFamily="34" charset="-122"/>
                <a:cs typeface="Cormorant Garamond SemiBold" pitchFamily="34" charset="-120"/>
              </a:rPr>
              <a:t>04</a:t>
            </a:r>
            <a:endParaRPr lang="en-US" sz="2600" dirty="0"/>
          </a:p>
        </p:txBody>
      </p:sp>
      <p:sp>
        <p:nvSpPr>
          <p:cNvPr id="18" name="text-227"/>
          <p:cNvSpPr txBox="1"/>
          <p:nvPr/>
        </p:nvSpPr>
        <p:spPr>
          <a:xfrm>
            <a:off x="9244584" y="2560320"/>
            <a:ext cx="2194560" cy="365760"/>
          </a:xfrm>
          <a:prstGeom prst="rect">
            <a:avLst/>
          </a:prstGeom>
          <a:noFill/>
          <a:ln/>
        </p:spPr>
        <p:txBody>
          <a:bodyPr wrap="square" lIns="0" tIns="0" rIns="0" bIns="0" rtlCol="0" anchor="t"/>
          <a:lstStyle/>
          <a:p>
            <a:pPr marL="0" indent="0">
              <a:buNone/>
            </a:pPr>
            <a:r>
              <a:rPr lang="en-US" sz="1600" dirty="0">
                <a:solidFill>
                  <a:schemeClr val="tx1"/>
                </a:solidFill>
                <a:latin typeface="Manrope SemiBold" pitchFamily="34" charset="0"/>
                <a:ea typeface="Manrope SemiBold" pitchFamily="34" charset="-122"/>
                <a:cs typeface="Manrope SemiBold" pitchFamily="34" charset="-120"/>
              </a:rPr>
              <a:t>WhatsApp Business</a:t>
            </a:r>
            <a:endParaRPr lang="en-US" sz="1600" dirty="0"/>
          </a:p>
        </p:txBody>
      </p:sp>
      <p:sp>
        <p:nvSpPr>
          <p:cNvPr id="19" name="text-228"/>
          <p:cNvSpPr txBox="1"/>
          <p:nvPr/>
        </p:nvSpPr>
        <p:spPr>
          <a:xfrm>
            <a:off x="9244584" y="2926080"/>
            <a:ext cx="2194560" cy="640080"/>
          </a:xfrm>
          <a:prstGeom prst="rect">
            <a:avLst/>
          </a:prstGeom>
          <a:noFill/>
          <a:ln/>
        </p:spPr>
        <p:txBody>
          <a:bodyPr wrap="square" lIns="0" tIns="0" rIns="0" bIns="0" rtlCol="0" anchor="t"/>
          <a:lstStyle/>
          <a:p>
            <a:pPr marL="0" indent="0">
              <a:buNone/>
            </a:pPr>
            <a:r>
              <a:rPr lang="en-US" sz="1300" dirty="0">
                <a:solidFill>
                  <a:schemeClr val="tx2"/>
                </a:solidFill>
              </a:rPr>
              <a:t>Catalogue linked to every dish</a:t>
            </a:r>
            <a:endParaRPr lang="en-US" sz="1300" dirty="0"/>
          </a:p>
        </p:txBody>
      </p:sp>
      <p:sp>
        <p:nvSpPr>
          <p:cNvPr id="20" name="card-229"/>
          <p:cNvSpPr/>
          <p:nvPr/>
        </p:nvSpPr>
        <p:spPr>
          <a:xfrm>
            <a:off x="548640" y="3886200"/>
            <a:ext cx="2651760" cy="1847088"/>
          </a:xfrm>
          <a:prstGeom prst="roundRect">
            <a:avLst>
              <a:gd name="adj" fmla="val 4950"/>
            </a:avLst>
          </a:prstGeom>
          <a:solidFill>
            <a:schemeClr val="bg2"/>
          </a:solidFill>
          <a:ln w="12700">
            <a:solidFill>
              <a:schemeClr val="bg2"/>
            </a:solidFill>
            <a:prstDash val="solid"/>
          </a:ln>
        </p:spPr>
      </p:sp>
      <p:sp>
        <p:nvSpPr>
          <p:cNvPr id="21" name="text-230"/>
          <p:cNvSpPr txBox="1"/>
          <p:nvPr/>
        </p:nvSpPr>
        <p:spPr>
          <a:xfrm>
            <a:off x="822960" y="4114800"/>
            <a:ext cx="914400" cy="457200"/>
          </a:xfrm>
          <a:prstGeom prst="rect">
            <a:avLst/>
          </a:prstGeom>
          <a:noFill/>
          <a:ln/>
        </p:spPr>
        <p:txBody>
          <a:bodyPr wrap="square" lIns="0" tIns="0" rIns="0" bIns="0" rtlCol="0" anchor="t"/>
          <a:lstStyle/>
          <a:p>
            <a:pPr marL="0" indent="0">
              <a:buNone/>
            </a:pPr>
            <a:r>
              <a:rPr lang="en-US" sz="2600" dirty="0">
                <a:solidFill>
                  <a:schemeClr val="accent1"/>
                </a:solidFill>
                <a:latin typeface="Cormorant Garamond SemiBold" pitchFamily="34" charset="0"/>
                <a:ea typeface="Cormorant Garamond SemiBold" pitchFamily="34" charset="-122"/>
                <a:cs typeface="Cormorant Garamond SemiBold" pitchFamily="34" charset="-120"/>
              </a:rPr>
              <a:t>05</a:t>
            </a:r>
            <a:endParaRPr lang="en-US" sz="2600" dirty="0"/>
          </a:p>
        </p:txBody>
      </p:sp>
      <p:sp>
        <p:nvSpPr>
          <p:cNvPr id="22" name="text-231"/>
          <p:cNvSpPr txBox="1"/>
          <p:nvPr/>
        </p:nvSpPr>
        <p:spPr>
          <a:xfrm>
            <a:off x="822960" y="4617720"/>
            <a:ext cx="2194560" cy="365760"/>
          </a:xfrm>
          <a:prstGeom prst="rect">
            <a:avLst/>
          </a:prstGeom>
          <a:noFill/>
          <a:ln/>
        </p:spPr>
        <p:txBody>
          <a:bodyPr wrap="square" lIns="0" tIns="0" rIns="0" bIns="0" rtlCol="0" anchor="t"/>
          <a:lstStyle/>
          <a:p>
            <a:pPr marL="0" indent="0">
              <a:buNone/>
            </a:pPr>
            <a:r>
              <a:rPr lang="en-US" sz="1600" dirty="0">
                <a:solidFill>
                  <a:schemeClr val="tx1"/>
                </a:solidFill>
                <a:latin typeface="Manrope SemiBold" pitchFamily="34" charset="0"/>
                <a:ea typeface="Manrope SemiBold" pitchFamily="34" charset="-122"/>
                <a:cs typeface="Manrope SemiBold" pitchFamily="34" charset="-120"/>
              </a:rPr>
              <a:t>Chowdeck &amp; Glovo</a:t>
            </a:r>
            <a:endParaRPr lang="en-US" sz="1600" dirty="0"/>
          </a:p>
        </p:txBody>
      </p:sp>
      <p:sp>
        <p:nvSpPr>
          <p:cNvPr id="23" name="text-232"/>
          <p:cNvSpPr txBox="1"/>
          <p:nvPr/>
        </p:nvSpPr>
        <p:spPr>
          <a:xfrm>
            <a:off x="822960" y="4983480"/>
            <a:ext cx="2194560" cy="640080"/>
          </a:xfrm>
          <a:prstGeom prst="rect">
            <a:avLst/>
          </a:prstGeom>
          <a:noFill/>
          <a:ln/>
        </p:spPr>
        <p:txBody>
          <a:bodyPr wrap="square" lIns="0" tIns="0" rIns="0" bIns="0" rtlCol="0" anchor="t"/>
          <a:lstStyle/>
          <a:p>
            <a:pPr marL="0" indent="0">
              <a:buNone/>
            </a:pPr>
            <a:r>
              <a:rPr lang="en-US" sz="1300" dirty="0">
                <a:solidFill>
                  <a:schemeClr val="tx2"/>
                </a:solidFill>
              </a:rPr>
              <a:t>A delivery menu that travels well</a:t>
            </a:r>
            <a:endParaRPr lang="en-US" sz="1300" dirty="0"/>
          </a:p>
        </p:txBody>
      </p:sp>
      <p:sp>
        <p:nvSpPr>
          <p:cNvPr id="24" name="card-233"/>
          <p:cNvSpPr/>
          <p:nvPr/>
        </p:nvSpPr>
        <p:spPr>
          <a:xfrm>
            <a:off x="3355848" y="3886200"/>
            <a:ext cx="2651760" cy="1847088"/>
          </a:xfrm>
          <a:prstGeom prst="roundRect">
            <a:avLst>
              <a:gd name="adj" fmla="val 4950"/>
            </a:avLst>
          </a:prstGeom>
          <a:solidFill>
            <a:schemeClr val="bg2"/>
          </a:solidFill>
          <a:ln w="12700">
            <a:solidFill>
              <a:schemeClr val="bg2"/>
            </a:solidFill>
            <a:prstDash val="solid"/>
          </a:ln>
        </p:spPr>
      </p:sp>
      <p:sp>
        <p:nvSpPr>
          <p:cNvPr id="25" name="text-234"/>
          <p:cNvSpPr txBox="1"/>
          <p:nvPr/>
        </p:nvSpPr>
        <p:spPr>
          <a:xfrm>
            <a:off x="3630168" y="4114800"/>
            <a:ext cx="914400" cy="457200"/>
          </a:xfrm>
          <a:prstGeom prst="rect">
            <a:avLst/>
          </a:prstGeom>
          <a:noFill/>
          <a:ln/>
        </p:spPr>
        <p:txBody>
          <a:bodyPr wrap="square" lIns="0" tIns="0" rIns="0" bIns="0" rtlCol="0" anchor="t"/>
          <a:lstStyle/>
          <a:p>
            <a:pPr marL="0" indent="0">
              <a:buNone/>
            </a:pPr>
            <a:r>
              <a:rPr lang="en-US" sz="2600" dirty="0">
                <a:solidFill>
                  <a:schemeClr val="accent1"/>
                </a:solidFill>
                <a:latin typeface="Cormorant Garamond SemiBold" pitchFamily="34" charset="0"/>
                <a:ea typeface="Cormorant Garamond SemiBold" pitchFamily="34" charset="-122"/>
                <a:cs typeface="Cormorant Garamond SemiBold" pitchFamily="34" charset="-120"/>
              </a:rPr>
              <a:t>06</a:t>
            </a:r>
            <a:endParaRPr lang="en-US" sz="2600" dirty="0"/>
          </a:p>
        </p:txBody>
      </p:sp>
      <p:sp>
        <p:nvSpPr>
          <p:cNvPr id="26" name="text-235"/>
          <p:cNvSpPr txBox="1"/>
          <p:nvPr/>
        </p:nvSpPr>
        <p:spPr>
          <a:xfrm>
            <a:off x="3630168" y="4617720"/>
            <a:ext cx="2194560" cy="365760"/>
          </a:xfrm>
          <a:prstGeom prst="rect">
            <a:avLst/>
          </a:prstGeom>
          <a:noFill/>
          <a:ln/>
        </p:spPr>
        <p:txBody>
          <a:bodyPr wrap="square" lIns="0" tIns="0" rIns="0" bIns="0" rtlCol="0" anchor="t"/>
          <a:lstStyle/>
          <a:p>
            <a:pPr marL="0" indent="0">
              <a:buNone/>
            </a:pPr>
            <a:r>
              <a:rPr lang="en-US" sz="1600" dirty="0">
                <a:solidFill>
                  <a:schemeClr val="tx1"/>
                </a:solidFill>
                <a:latin typeface="Manrope SemiBold" pitchFamily="34" charset="0"/>
                <a:ea typeface="Manrope SemiBold" pitchFamily="34" charset="-122"/>
                <a:cs typeface="Manrope SemiBold" pitchFamily="34" charset="-120"/>
              </a:rPr>
              <a:t>Polish community</a:t>
            </a:r>
            <a:endParaRPr lang="en-US" sz="1600" dirty="0"/>
          </a:p>
        </p:txBody>
      </p:sp>
      <p:sp>
        <p:nvSpPr>
          <p:cNvPr id="27" name="text-236"/>
          <p:cNvSpPr txBox="1"/>
          <p:nvPr/>
        </p:nvSpPr>
        <p:spPr>
          <a:xfrm>
            <a:off x="3630168" y="4983480"/>
            <a:ext cx="2194560" cy="640080"/>
          </a:xfrm>
          <a:prstGeom prst="rect">
            <a:avLst/>
          </a:prstGeom>
          <a:noFill/>
          <a:ln/>
        </p:spPr>
        <p:txBody>
          <a:bodyPr wrap="square" lIns="0" tIns="0" rIns="0" bIns="0" rtlCol="0" anchor="t"/>
          <a:lstStyle/>
          <a:p>
            <a:pPr marL="0" indent="0">
              <a:buNone/>
            </a:pPr>
            <a:r>
              <a:rPr lang="en-US" sz="1300" dirty="0">
                <a:solidFill>
                  <a:schemeClr val="tx2"/>
                </a:solidFill>
              </a:rPr>
              <a:t>Embassy, groups and Taste of Home nights</a:t>
            </a:r>
            <a:endParaRPr lang="en-US" sz="1300" dirty="0"/>
          </a:p>
        </p:txBody>
      </p:sp>
      <p:sp>
        <p:nvSpPr>
          <p:cNvPr id="28" name="card-237"/>
          <p:cNvSpPr/>
          <p:nvPr/>
        </p:nvSpPr>
        <p:spPr>
          <a:xfrm>
            <a:off x="6163056" y="3886200"/>
            <a:ext cx="2651760" cy="1847088"/>
          </a:xfrm>
          <a:prstGeom prst="roundRect">
            <a:avLst>
              <a:gd name="adj" fmla="val 4950"/>
            </a:avLst>
          </a:prstGeom>
          <a:solidFill>
            <a:schemeClr val="bg2"/>
          </a:solidFill>
          <a:ln w="12700">
            <a:solidFill>
              <a:schemeClr val="bg2"/>
            </a:solidFill>
            <a:prstDash val="solid"/>
          </a:ln>
        </p:spPr>
      </p:sp>
      <p:sp>
        <p:nvSpPr>
          <p:cNvPr id="29" name="text-238"/>
          <p:cNvSpPr txBox="1"/>
          <p:nvPr/>
        </p:nvSpPr>
        <p:spPr>
          <a:xfrm>
            <a:off x="6437376" y="4114800"/>
            <a:ext cx="914400" cy="457200"/>
          </a:xfrm>
          <a:prstGeom prst="rect">
            <a:avLst/>
          </a:prstGeom>
          <a:noFill/>
          <a:ln/>
        </p:spPr>
        <p:txBody>
          <a:bodyPr wrap="square" lIns="0" tIns="0" rIns="0" bIns="0" rtlCol="0" anchor="t"/>
          <a:lstStyle/>
          <a:p>
            <a:pPr marL="0" indent="0">
              <a:buNone/>
            </a:pPr>
            <a:r>
              <a:rPr lang="en-US" sz="2600" dirty="0">
                <a:solidFill>
                  <a:schemeClr val="accent1"/>
                </a:solidFill>
                <a:latin typeface="Cormorant Garamond SemiBold" pitchFamily="34" charset="0"/>
                <a:ea typeface="Cormorant Garamond SemiBold" pitchFamily="34" charset="-122"/>
                <a:cs typeface="Cormorant Garamond SemiBold" pitchFamily="34" charset="-120"/>
              </a:rPr>
              <a:t>07</a:t>
            </a:r>
            <a:endParaRPr lang="en-US" sz="2600" dirty="0"/>
          </a:p>
        </p:txBody>
      </p:sp>
      <p:sp>
        <p:nvSpPr>
          <p:cNvPr id="30" name="text-239"/>
          <p:cNvSpPr txBox="1"/>
          <p:nvPr/>
        </p:nvSpPr>
        <p:spPr>
          <a:xfrm>
            <a:off x="6437376" y="4617720"/>
            <a:ext cx="2194560" cy="365760"/>
          </a:xfrm>
          <a:prstGeom prst="rect">
            <a:avLst/>
          </a:prstGeom>
          <a:noFill/>
          <a:ln/>
        </p:spPr>
        <p:txBody>
          <a:bodyPr wrap="square" lIns="0" tIns="0" rIns="0" bIns="0" rtlCol="0" anchor="t"/>
          <a:lstStyle/>
          <a:p>
            <a:pPr marL="0" indent="0">
              <a:buNone/>
            </a:pPr>
            <a:r>
              <a:rPr lang="en-US" sz="1600" dirty="0">
                <a:solidFill>
                  <a:schemeClr val="tx1"/>
                </a:solidFill>
                <a:latin typeface="Manrope SemiBold" pitchFamily="34" charset="0"/>
                <a:ea typeface="Manrope SemiBold" pitchFamily="34" charset="-122"/>
                <a:cs typeface="Manrope SemiBold" pitchFamily="34" charset="-120"/>
              </a:rPr>
              <a:t>Corporate lunches</a:t>
            </a:r>
            <a:endParaRPr lang="en-US" sz="1600" dirty="0"/>
          </a:p>
        </p:txBody>
      </p:sp>
      <p:sp>
        <p:nvSpPr>
          <p:cNvPr id="31" name="text-240"/>
          <p:cNvSpPr txBox="1"/>
          <p:nvPr/>
        </p:nvSpPr>
        <p:spPr>
          <a:xfrm>
            <a:off x="6437376" y="4983480"/>
            <a:ext cx="2194560" cy="640080"/>
          </a:xfrm>
          <a:prstGeom prst="rect">
            <a:avLst/>
          </a:prstGeom>
          <a:noFill/>
          <a:ln/>
        </p:spPr>
        <p:txBody>
          <a:bodyPr wrap="square" lIns="0" tIns="0" rIns="0" bIns="0" rtlCol="0" anchor="t"/>
          <a:lstStyle/>
          <a:p>
            <a:pPr marL="0" indent="0">
              <a:buNone/>
            </a:pPr>
            <a:r>
              <a:rPr lang="en-US" sz="1300" dirty="0">
                <a:solidFill>
                  <a:schemeClr val="tx2"/>
                </a:solidFill>
              </a:rPr>
              <a:t>Express lunch and client packages</a:t>
            </a:r>
            <a:endParaRPr lang="en-US" sz="1300" dirty="0"/>
          </a:p>
        </p:txBody>
      </p:sp>
      <p:sp>
        <p:nvSpPr>
          <p:cNvPr id="32" name="card-241"/>
          <p:cNvSpPr/>
          <p:nvPr/>
        </p:nvSpPr>
        <p:spPr>
          <a:xfrm>
            <a:off x="8970264" y="3886200"/>
            <a:ext cx="2651760" cy="1847088"/>
          </a:xfrm>
          <a:prstGeom prst="roundRect">
            <a:avLst>
              <a:gd name="adj" fmla="val 4950"/>
            </a:avLst>
          </a:prstGeom>
          <a:solidFill>
            <a:schemeClr val="bg2"/>
          </a:solidFill>
          <a:ln w="12700">
            <a:solidFill>
              <a:schemeClr val="bg2"/>
            </a:solidFill>
            <a:prstDash val="solid"/>
          </a:ln>
        </p:spPr>
      </p:sp>
      <p:sp>
        <p:nvSpPr>
          <p:cNvPr id="33" name="text-242"/>
          <p:cNvSpPr txBox="1"/>
          <p:nvPr/>
        </p:nvSpPr>
        <p:spPr>
          <a:xfrm>
            <a:off x="9244584" y="4114800"/>
            <a:ext cx="914400" cy="457200"/>
          </a:xfrm>
          <a:prstGeom prst="rect">
            <a:avLst/>
          </a:prstGeom>
          <a:noFill/>
          <a:ln/>
        </p:spPr>
        <p:txBody>
          <a:bodyPr wrap="square" lIns="0" tIns="0" rIns="0" bIns="0" rtlCol="0" anchor="t"/>
          <a:lstStyle/>
          <a:p>
            <a:pPr marL="0" indent="0">
              <a:buNone/>
            </a:pPr>
            <a:r>
              <a:rPr lang="en-US" sz="2600" dirty="0">
                <a:solidFill>
                  <a:schemeClr val="accent1"/>
                </a:solidFill>
                <a:latin typeface="Cormorant Garamond SemiBold" pitchFamily="34" charset="0"/>
                <a:ea typeface="Cormorant Garamond SemiBold" pitchFamily="34" charset="-122"/>
                <a:cs typeface="Cormorant Garamond SemiBold" pitchFamily="34" charset="-120"/>
              </a:rPr>
              <a:t>08</a:t>
            </a:r>
            <a:endParaRPr lang="en-US" sz="2600" dirty="0"/>
          </a:p>
        </p:txBody>
      </p:sp>
      <p:sp>
        <p:nvSpPr>
          <p:cNvPr id="34" name="text-243"/>
          <p:cNvSpPr txBox="1"/>
          <p:nvPr/>
        </p:nvSpPr>
        <p:spPr>
          <a:xfrm>
            <a:off x="9244584" y="4617720"/>
            <a:ext cx="2194560" cy="365760"/>
          </a:xfrm>
          <a:prstGeom prst="rect">
            <a:avLst/>
          </a:prstGeom>
          <a:noFill/>
          <a:ln/>
        </p:spPr>
        <p:txBody>
          <a:bodyPr wrap="square" lIns="0" tIns="0" rIns="0" bIns="0" rtlCol="0" anchor="t"/>
          <a:lstStyle/>
          <a:p>
            <a:pPr marL="0" indent="0">
              <a:buNone/>
            </a:pPr>
            <a:r>
              <a:rPr lang="en-US" sz="1600" dirty="0">
                <a:solidFill>
                  <a:schemeClr val="tx1"/>
                </a:solidFill>
                <a:latin typeface="Manrope SemiBold" pitchFamily="34" charset="0"/>
                <a:ea typeface="Manrope SemiBold" pitchFamily="34" charset="-122"/>
                <a:cs typeface="Manrope SemiBold" pitchFamily="34" charset="-120"/>
              </a:rPr>
              <a:t>Reviews</a:t>
            </a:r>
            <a:endParaRPr lang="en-US" sz="1600" dirty="0"/>
          </a:p>
        </p:txBody>
      </p:sp>
      <p:sp>
        <p:nvSpPr>
          <p:cNvPr id="35" name="text-244"/>
          <p:cNvSpPr txBox="1"/>
          <p:nvPr/>
        </p:nvSpPr>
        <p:spPr>
          <a:xfrm>
            <a:off x="9244584" y="4983480"/>
            <a:ext cx="2194560" cy="640080"/>
          </a:xfrm>
          <a:prstGeom prst="rect">
            <a:avLst/>
          </a:prstGeom>
          <a:noFill/>
          <a:ln/>
        </p:spPr>
        <p:txBody>
          <a:bodyPr wrap="square" lIns="0" tIns="0" rIns="0" bIns="0" rtlCol="0" anchor="t"/>
          <a:lstStyle/>
          <a:p>
            <a:pPr marL="0" indent="0">
              <a:buNone/>
            </a:pPr>
            <a:r>
              <a:rPr lang="en-US" sz="1300" dirty="0">
                <a:solidFill>
                  <a:schemeClr val="tx2"/>
                </a:solidFill>
              </a:rPr>
              <a:t>100 Google reviews at 4.5★ in 90 days</a:t>
            </a:r>
            <a:endParaRPr lang="en-US" sz="1300" dirty="0"/>
          </a:p>
        </p:txBody>
      </p:sp>
      <p:sp>
        <p:nvSpPr>
          <p:cNvPr id="36" name="Slide Number Placeholder 0"/>
          <p:cNvSpPr>
            <a:spLocks noGrp="1"/>
          </p:cNvSpPr>
          <p:nvPr>
            <p:ph type="sldNum" sz="quarter" idx="4294967295"/>
          </p:nvPr>
        </p:nvSpPr>
        <p:spPr>
          <a:xfrm>
            <a:off x="10500055" y="6309360"/>
            <a:ext cx="73152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Manrope"/>
                <a:ea typeface="Manrope"/>
                <a:cs typeface="Manrope"/>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84048"/>
            <a:ext cx="8229600" cy="310896"/>
          </a:xfrm>
          <a:prstGeom prst="rect">
            <a:avLst/>
          </a:prstGeom>
          <a:noFill/>
          <a:ln/>
        </p:spPr>
        <p:txBody>
          <a:bodyPr wrap="square" lIns="0" tIns="0" rIns="0" bIns="0" rtlCol="0"/>
          <a:lstStyle/>
          <a:p>
            <a:pPr marL="0" indent="0">
              <a:buNone/>
            </a:pPr>
            <a:r>
              <a:rPr lang="en-US" sz="1200" kern="0" spc="300" dirty="0">
                <a:solidFill>
                  <a:schemeClr val="accent1"/>
                </a:solidFill>
                <a:latin typeface="Manrope SemiBold" pitchFamily="34" charset="0"/>
                <a:ea typeface="Manrope SemiBold" pitchFamily="34" charset="-122"/>
                <a:cs typeface="Manrope SemiBold" pitchFamily="34" charset="-120"/>
              </a:rPr>
              <a:t>14 · ROADMAP</a:t>
            </a:r>
            <a:endParaRPr lang="en-US" sz="1200" dirty="0"/>
          </a:p>
        </p:txBody>
      </p:sp>
      <p:sp>
        <p:nvSpPr>
          <p:cNvPr id="3" name="Text 0"/>
          <p:cNvSpPr>
            <a:spLocks noGrp="1"/>
          </p:cNvSpPr>
          <p:nvPr>
            <p:ph type="title" idx="102" hasCustomPrompt="1"/>
          </p:nvPr>
        </p:nvSpPr>
        <p:spPr>
          <a:xfrm>
            <a:off x="548640" y="676656"/>
            <a:ext cx="11094415" cy="786384"/>
          </a:xfrm>
          <a:prstGeom prst="rect">
            <a:avLst/>
          </a:prstGeom>
          <a:noFill/>
          <a:ln/>
        </p:spPr>
        <p:txBody>
          <a:bodyPr wrap="square" lIns="0" tIns="0" rIns="0" bIns="0" rtlCol="0" anchor="t"/>
          <a:lstStyle/>
          <a:p>
            <a:pPr marL="0" indent="0" algn="l">
              <a:buNone/>
            </a:pPr>
            <a:r>
              <a:rPr lang="en-US" sz="3800" dirty="0">
                <a:solidFill>
                  <a:schemeClr val="tx1"/>
                </a:solidFill>
              </a:rPr>
              <a:t>From approval to opening night, then growth</a:t>
            </a:r>
            <a:endParaRPr lang="en-US" sz="3800" dirty="0"/>
          </a:p>
        </p:txBody>
      </p:sp>
      <p:sp>
        <p:nvSpPr>
          <p:cNvPr id="4" name="roadmap-line"/>
          <p:cNvSpPr/>
          <p:nvPr/>
        </p:nvSpPr>
        <p:spPr>
          <a:xfrm>
            <a:off x="731520" y="2148840"/>
            <a:ext cx="10728655" cy="0"/>
          </a:xfrm>
          <a:prstGeom prst="line">
            <a:avLst/>
          </a:prstGeom>
          <a:noFill/>
          <a:ln w="15875">
            <a:solidFill>
              <a:schemeClr val="accent1">
                <a:alpha val="60000"/>
              </a:schemeClr>
            </a:solidFill>
            <a:prstDash val="solid"/>
          </a:ln>
        </p:spPr>
      </p:sp>
      <p:sp>
        <p:nvSpPr>
          <p:cNvPr id="5" name="dot-245"/>
          <p:cNvSpPr/>
          <p:nvPr/>
        </p:nvSpPr>
        <p:spPr>
          <a:xfrm>
            <a:off x="731520" y="1984248"/>
            <a:ext cx="329184" cy="329184"/>
          </a:xfrm>
          <a:prstGeom prst="ellipse">
            <a:avLst/>
          </a:prstGeom>
          <a:solidFill>
            <a:schemeClr val="bg2"/>
          </a:solidFill>
          <a:ln w="12700">
            <a:solidFill>
              <a:schemeClr val="bg2"/>
            </a:solidFill>
            <a:prstDash val="solid"/>
          </a:ln>
        </p:spPr>
      </p:sp>
      <p:sp>
        <p:nvSpPr>
          <p:cNvPr id="6" name="ring-246"/>
          <p:cNvSpPr/>
          <p:nvPr/>
        </p:nvSpPr>
        <p:spPr>
          <a:xfrm>
            <a:off x="731520" y="1984248"/>
            <a:ext cx="329184" cy="329184"/>
          </a:xfrm>
          <a:prstGeom prst="ellipse">
            <a:avLst/>
          </a:prstGeom>
          <a:solidFill>
            <a:schemeClr val="accent1">
              <a:alpha val="0"/>
            </a:schemeClr>
          </a:solidFill>
          <a:ln w="12700">
            <a:solidFill>
              <a:schemeClr val="accent1"/>
            </a:solidFill>
            <a:prstDash val="solid"/>
          </a:ln>
        </p:spPr>
      </p:sp>
      <p:sp>
        <p:nvSpPr>
          <p:cNvPr id="7" name="text-247"/>
          <p:cNvSpPr txBox="1"/>
          <p:nvPr/>
        </p:nvSpPr>
        <p:spPr>
          <a:xfrm>
            <a:off x="731520" y="2606040"/>
            <a:ext cx="1898843" cy="274320"/>
          </a:xfrm>
          <a:prstGeom prst="rect">
            <a:avLst/>
          </a:prstGeom>
          <a:noFill/>
          <a:ln/>
        </p:spPr>
        <p:txBody>
          <a:bodyPr wrap="square" lIns="0" tIns="0" rIns="0" bIns="0" rtlCol="0" anchor="t"/>
          <a:lstStyle/>
          <a:p>
            <a:pPr marL="0" indent="0">
              <a:buNone/>
            </a:pPr>
            <a:r>
              <a:rPr lang="en-US" sz="1200" kern="0" spc="200" dirty="0">
                <a:solidFill>
                  <a:schemeClr val="accent1"/>
                </a:solidFill>
                <a:latin typeface="Manrope SemiBold" pitchFamily="34" charset="0"/>
                <a:ea typeface="Manrope SemiBold" pitchFamily="34" charset="-122"/>
                <a:cs typeface="Manrope SemiBold" pitchFamily="34" charset="-120"/>
              </a:rPr>
              <a:t>NOW</a:t>
            </a:r>
            <a:endParaRPr lang="en-US" sz="1200" dirty="0"/>
          </a:p>
        </p:txBody>
      </p:sp>
      <p:sp>
        <p:nvSpPr>
          <p:cNvPr id="8" name="text-248"/>
          <p:cNvSpPr txBox="1"/>
          <p:nvPr/>
        </p:nvSpPr>
        <p:spPr>
          <a:xfrm>
            <a:off x="731520" y="2926080"/>
            <a:ext cx="1898843" cy="502920"/>
          </a:xfrm>
          <a:prstGeom prst="rect">
            <a:avLst/>
          </a:prstGeom>
          <a:noFill/>
          <a:ln/>
        </p:spPr>
        <p:txBody>
          <a:bodyPr wrap="square" lIns="0" tIns="0" rIns="0" bIns="0" rtlCol="0" anchor="t"/>
          <a:lstStyle/>
          <a:p>
            <a:pPr marL="0" indent="0">
              <a:buNone/>
            </a:pPr>
            <a:r>
              <a:rPr lang="en-US" sz="2600" dirty="0">
                <a:solidFill>
                  <a:schemeClr val="tx1"/>
                </a:solidFill>
                <a:latin typeface="Cormorant Garamond SemiBold" pitchFamily="34" charset="0"/>
                <a:ea typeface="Cormorant Garamond SemiBold" pitchFamily="34" charset="-122"/>
                <a:cs typeface="Cormorant Garamond SemiBold" pitchFamily="34" charset="-120"/>
              </a:rPr>
              <a:t>Approve</a:t>
            </a:r>
            <a:endParaRPr lang="en-US" sz="2600" dirty="0"/>
          </a:p>
        </p:txBody>
      </p:sp>
      <p:sp>
        <p:nvSpPr>
          <p:cNvPr id="9" name="text-249"/>
          <p:cNvSpPr txBox="1"/>
          <p:nvPr/>
        </p:nvSpPr>
        <p:spPr>
          <a:xfrm>
            <a:off x="731520" y="3520440"/>
            <a:ext cx="1898843" cy="1463040"/>
          </a:xfrm>
          <a:prstGeom prst="rect">
            <a:avLst/>
          </a:prstGeom>
          <a:noFill/>
          <a:ln/>
        </p:spPr>
        <p:txBody>
          <a:bodyPr wrap="square" lIns="0" tIns="0" rIns="0" bIns="0" rtlCol="0" anchor="t"/>
          <a:lstStyle/>
          <a:p>
            <a:pPr marL="0" indent="0">
              <a:buNone/>
            </a:pPr>
            <a:r>
              <a:rPr lang="en-US" sz="1400" dirty="0">
                <a:solidFill>
                  <a:schemeClr val="tx2"/>
                </a:solidFill>
              </a:rPr>
              <a:t>Feedback on this demo; final content, prices and photos</a:t>
            </a:r>
            <a:endParaRPr lang="en-US" sz="1400" dirty="0"/>
          </a:p>
        </p:txBody>
      </p:sp>
      <p:sp>
        <p:nvSpPr>
          <p:cNvPr id="10" name="dot-250"/>
          <p:cNvSpPr/>
          <p:nvPr/>
        </p:nvSpPr>
        <p:spPr>
          <a:xfrm>
            <a:off x="2950403" y="1984248"/>
            <a:ext cx="329184" cy="329184"/>
          </a:xfrm>
          <a:prstGeom prst="ellipse">
            <a:avLst/>
          </a:prstGeom>
          <a:solidFill>
            <a:schemeClr val="bg2"/>
          </a:solidFill>
          <a:ln w="12700">
            <a:solidFill>
              <a:schemeClr val="bg2"/>
            </a:solidFill>
            <a:prstDash val="solid"/>
          </a:ln>
        </p:spPr>
      </p:sp>
      <p:sp>
        <p:nvSpPr>
          <p:cNvPr id="11" name="ring-251"/>
          <p:cNvSpPr/>
          <p:nvPr/>
        </p:nvSpPr>
        <p:spPr>
          <a:xfrm>
            <a:off x="2950403" y="1984248"/>
            <a:ext cx="329184" cy="329184"/>
          </a:xfrm>
          <a:prstGeom prst="ellipse">
            <a:avLst/>
          </a:prstGeom>
          <a:solidFill>
            <a:schemeClr val="accent1">
              <a:alpha val="0"/>
            </a:schemeClr>
          </a:solidFill>
          <a:ln w="12700">
            <a:solidFill>
              <a:schemeClr val="accent1"/>
            </a:solidFill>
            <a:prstDash val="solid"/>
          </a:ln>
        </p:spPr>
      </p:sp>
      <p:sp>
        <p:nvSpPr>
          <p:cNvPr id="12" name="text-252"/>
          <p:cNvSpPr txBox="1"/>
          <p:nvPr/>
        </p:nvSpPr>
        <p:spPr>
          <a:xfrm>
            <a:off x="2950403" y="2606040"/>
            <a:ext cx="1898843" cy="274320"/>
          </a:xfrm>
          <a:prstGeom prst="rect">
            <a:avLst/>
          </a:prstGeom>
          <a:noFill/>
          <a:ln/>
        </p:spPr>
        <p:txBody>
          <a:bodyPr wrap="square" lIns="0" tIns="0" rIns="0" bIns="0" rtlCol="0" anchor="t"/>
          <a:lstStyle/>
          <a:p>
            <a:pPr marL="0" indent="0">
              <a:buNone/>
            </a:pPr>
            <a:r>
              <a:rPr lang="en-US" sz="1200" kern="0" spc="200" dirty="0">
                <a:solidFill>
                  <a:schemeClr val="accent1"/>
                </a:solidFill>
                <a:latin typeface="Manrope SemiBold" pitchFamily="34" charset="0"/>
                <a:ea typeface="Manrope SemiBold" pitchFamily="34" charset="-122"/>
                <a:cs typeface="Manrope SemiBold" pitchFamily="34" charset="-120"/>
              </a:rPr>
              <a:t>WEEKS 1–2</a:t>
            </a:r>
            <a:endParaRPr lang="en-US" sz="1200" dirty="0"/>
          </a:p>
        </p:txBody>
      </p:sp>
      <p:sp>
        <p:nvSpPr>
          <p:cNvPr id="13" name="text-253"/>
          <p:cNvSpPr txBox="1"/>
          <p:nvPr/>
        </p:nvSpPr>
        <p:spPr>
          <a:xfrm>
            <a:off x="2950403" y="2926080"/>
            <a:ext cx="1898843" cy="502920"/>
          </a:xfrm>
          <a:prstGeom prst="rect">
            <a:avLst/>
          </a:prstGeom>
          <a:noFill/>
          <a:ln/>
        </p:spPr>
        <p:txBody>
          <a:bodyPr wrap="square" lIns="0" tIns="0" rIns="0" bIns="0" rtlCol="0" anchor="t"/>
          <a:lstStyle/>
          <a:p>
            <a:pPr marL="0" indent="0">
              <a:buNone/>
            </a:pPr>
            <a:r>
              <a:rPr lang="en-US" sz="2600" dirty="0">
                <a:solidFill>
                  <a:schemeClr val="tx1"/>
                </a:solidFill>
                <a:latin typeface="Cormorant Garamond SemiBold" pitchFamily="34" charset="0"/>
                <a:ea typeface="Cormorant Garamond SemiBold" pitchFamily="34" charset="-122"/>
                <a:cs typeface="Cormorant Garamond SemiBold" pitchFamily="34" charset="-120"/>
              </a:rPr>
              <a:t>Prepare</a:t>
            </a:r>
            <a:endParaRPr lang="en-US" sz="2600" dirty="0"/>
          </a:p>
        </p:txBody>
      </p:sp>
      <p:sp>
        <p:nvSpPr>
          <p:cNvPr id="14" name="text-254"/>
          <p:cNvSpPr txBox="1"/>
          <p:nvPr/>
        </p:nvSpPr>
        <p:spPr>
          <a:xfrm>
            <a:off x="2950403" y="3520440"/>
            <a:ext cx="1898843" cy="1463040"/>
          </a:xfrm>
          <a:prstGeom prst="rect">
            <a:avLst/>
          </a:prstGeom>
          <a:noFill/>
          <a:ln/>
        </p:spPr>
        <p:txBody>
          <a:bodyPr wrap="square" lIns="0" tIns="0" rIns="0" bIns="0" rtlCol="0" anchor="t"/>
          <a:lstStyle/>
          <a:p>
            <a:pPr marL="0" indent="0">
              <a:buNone/>
            </a:pPr>
            <a:r>
              <a:rPr lang="en-US" sz="1400" dirty="0">
                <a:solidFill>
                  <a:schemeClr val="tx2"/>
                </a:solidFill>
              </a:rPr>
              <a:t>Domain, hosting, Paystack verification, email, legal review of Rewards Terms</a:t>
            </a:r>
            <a:endParaRPr lang="en-US" sz="1400" dirty="0"/>
          </a:p>
        </p:txBody>
      </p:sp>
      <p:sp>
        <p:nvSpPr>
          <p:cNvPr id="15" name="dot-255"/>
          <p:cNvSpPr/>
          <p:nvPr/>
        </p:nvSpPr>
        <p:spPr>
          <a:xfrm>
            <a:off x="5169286" y="1984248"/>
            <a:ext cx="329184" cy="329184"/>
          </a:xfrm>
          <a:prstGeom prst="ellipse">
            <a:avLst/>
          </a:prstGeom>
          <a:solidFill>
            <a:schemeClr val="bg2"/>
          </a:solidFill>
          <a:ln w="12700">
            <a:solidFill>
              <a:schemeClr val="bg2"/>
            </a:solidFill>
            <a:prstDash val="solid"/>
          </a:ln>
        </p:spPr>
      </p:sp>
      <p:sp>
        <p:nvSpPr>
          <p:cNvPr id="16" name="ring-256"/>
          <p:cNvSpPr/>
          <p:nvPr/>
        </p:nvSpPr>
        <p:spPr>
          <a:xfrm>
            <a:off x="5169286" y="1984248"/>
            <a:ext cx="329184" cy="329184"/>
          </a:xfrm>
          <a:prstGeom prst="ellipse">
            <a:avLst/>
          </a:prstGeom>
          <a:solidFill>
            <a:schemeClr val="accent1">
              <a:alpha val="0"/>
            </a:schemeClr>
          </a:solidFill>
          <a:ln w="12700">
            <a:solidFill>
              <a:schemeClr val="accent1"/>
            </a:solidFill>
            <a:prstDash val="solid"/>
          </a:ln>
        </p:spPr>
      </p:sp>
      <p:sp>
        <p:nvSpPr>
          <p:cNvPr id="17" name="text-257"/>
          <p:cNvSpPr txBox="1"/>
          <p:nvPr/>
        </p:nvSpPr>
        <p:spPr>
          <a:xfrm>
            <a:off x="5169286" y="2606040"/>
            <a:ext cx="1898843" cy="274320"/>
          </a:xfrm>
          <a:prstGeom prst="rect">
            <a:avLst/>
          </a:prstGeom>
          <a:noFill/>
          <a:ln/>
        </p:spPr>
        <p:txBody>
          <a:bodyPr wrap="square" lIns="0" tIns="0" rIns="0" bIns="0" rtlCol="0" anchor="t"/>
          <a:lstStyle/>
          <a:p>
            <a:pPr marL="0" indent="0">
              <a:buNone/>
            </a:pPr>
            <a:r>
              <a:rPr lang="en-US" sz="1200" kern="0" spc="200" dirty="0">
                <a:solidFill>
                  <a:schemeClr val="accent1"/>
                </a:solidFill>
                <a:latin typeface="Manrope SemiBold" pitchFamily="34" charset="0"/>
                <a:ea typeface="Manrope SemiBold" pitchFamily="34" charset="-122"/>
                <a:cs typeface="Manrope SemiBold" pitchFamily="34" charset="-120"/>
              </a:rPr>
              <a:t>WEEK 3</a:t>
            </a:r>
            <a:endParaRPr lang="en-US" sz="1200" dirty="0"/>
          </a:p>
        </p:txBody>
      </p:sp>
      <p:sp>
        <p:nvSpPr>
          <p:cNvPr id="18" name="text-258"/>
          <p:cNvSpPr txBox="1"/>
          <p:nvPr/>
        </p:nvSpPr>
        <p:spPr>
          <a:xfrm>
            <a:off x="5169286" y="2926080"/>
            <a:ext cx="1898843" cy="502920"/>
          </a:xfrm>
          <a:prstGeom prst="rect">
            <a:avLst/>
          </a:prstGeom>
          <a:noFill/>
          <a:ln/>
        </p:spPr>
        <p:txBody>
          <a:bodyPr wrap="square" lIns="0" tIns="0" rIns="0" bIns="0" rtlCol="0" anchor="t"/>
          <a:lstStyle/>
          <a:p>
            <a:pPr marL="0" indent="0">
              <a:buNone/>
            </a:pPr>
            <a:r>
              <a:rPr lang="en-US" sz="2600" dirty="0">
                <a:solidFill>
                  <a:schemeClr val="tx1"/>
                </a:solidFill>
                <a:latin typeface="Cormorant Garamond SemiBold" pitchFamily="34" charset="0"/>
                <a:ea typeface="Cormorant Garamond SemiBold" pitchFamily="34" charset="-122"/>
                <a:cs typeface="Cormorant Garamond SemiBold" pitchFamily="34" charset="-120"/>
              </a:rPr>
              <a:t>Soft launch</a:t>
            </a:r>
            <a:endParaRPr lang="en-US" sz="2600" dirty="0"/>
          </a:p>
        </p:txBody>
      </p:sp>
      <p:sp>
        <p:nvSpPr>
          <p:cNvPr id="19" name="text-259"/>
          <p:cNvSpPr txBox="1"/>
          <p:nvPr/>
        </p:nvSpPr>
        <p:spPr>
          <a:xfrm>
            <a:off x="5169286" y="3520440"/>
            <a:ext cx="1898843" cy="1463040"/>
          </a:xfrm>
          <a:prstGeom prst="rect">
            <a:avLst/>
          </a:prstGeom>
          <a:noFill/>
          <a:ln/>
        </p:spPr>
        <p:txBody>
          <a:bodyPr wrap="square" lIns="0" tIns="0" rIns="0" bIns="0" rtlCol="0" anchor="t"/>
          <a:lstStyle/>
          <a:p>
            <a:pPr marL="0" indent="0">
              <a:buNone/>
            </a:pPr>
            <a:r>
              <a:rPr lang="en-US" sz="1400" dirty="0">
                <a:solidFill>
                  <a:schemeClr val="tx2"/>
                </a:solidFill>
              </a:rPr>
              <a:t>Friends and family, staff training, real test payments</a:t>
            </a:r>
            <a:endParaRPr lang="en-US" sz="1400" dirty="0"/>
          </a:p>
        </p:txBody>
      </p:sp>
      <p:sp>
        <p:nvSpPr>
          <p:cNvPr id="20" name="dot-260"/>
          <p:cNvSpPr/>
          <p:nvPr/>
        </p:nvSpPr>
        <p:spPr>
          <a:xfrm>
            <a:off x="7388169" y="1984248"/>
            <a:ext cx="329184" cy="329184"/>
          </a:xfrm>
          <a:prstGeom prst="ellipse">
            <a:avLst/>
          </a:prstGeom>
          <a:solidFill>
            <a:schemeClr val="accent1"/>
          </a:solidFill>
          <a:ln w="12700">
            <a:solidFill>
              <a:schemeClr val="accent1"/>
            </a:solidFill>
            <a:prstDash val="solid"/>
          </a:ln>
        </p:spPr>
      </p:sp>
      <p:sp>
        <p:nvSpPr>
          <p:cNvPr id="21" name="ring-261"/>
          <p:cNvSpPr/>
          <p:nvPr/>
        </p:nvSpPr>
        <p:spPr>
          <a:xfrm>
            <a:off x="7388169" y="1984248"/>
            <a:ext cx="329184" cy="329184"/>
          </a:xfrm>
          <a:prstGeom prst="ellipse">
            <a:avLst/>
          </a:prstGeom>
          <a:solidFill>
            <a:schemeClr val="accent1">
              <a:alpha val="0"/>
            </a:schemeClr>
          </a:solidFill>
          <a:ln w="12700">
            <a:solidFill>
              <a:schemeClr val="accent1"/>
            </a:solidFill>
            <a:prstDash val="solid"/>
          </a:ln>
        </p:spPr>
      </p:sp>
      <p:sp>
        <p:nvSpPr>
          <p:cNvPr id="22" name="text-262"/>
          <p:cNvSpPr txBox="1"/>
          <p:nvPr/>
        </p:nvSpPr>
        <p:spPr>
          <a:xfrm>
            <a:off x="7388169" y="2606040"/>
            <a:ext cx="1898843" cy="274320"/>
          </a:xfrm>
          <a:prstGeom prst="rect">
            <a:avLst/>
          </a:prstGeom>
          <a:noFill/>
          <a:ln/>
        </p:spPr>
        <p:txBody>
          <a:bodyPr wrap="square" lIns="0" tIns="0" rIns="0" bIns="0" rtlCol="0" anchor="t"/>
          <a:lstStyle/>
          <a:p>
            <a:pPr marL="0" indent="0">
              <a:buNone/>
            </a:pPr>
            <a:r>
              <a:rPr lang="en-US" sz="1200" kern="0" spc="200" dirty="0">
                <a:solidFill>
                  <a:schemeClr val="accent1"/>
                </a:solidFill>
                <a:latin typeface="Manrope SemiBold" pitchFamily="34" charset="0"/>
                <a:ea typeface="Manrope SemiBold" pitchFamily="34" charset="-122"/>
                <a:cs typeface="Manrope SemiBold" pitchFamily="34" charset="-120"/>
              </a:rPr>
              <a:t>WEEK 4</a:t>
            </a:r>
            <a:endParaRPr lang="en-US" sz="1200" dirty="0"/>
          </a:p>
        </p:txBody>
      </p:sp>
      <p:sp>
        <p:nvSpPr>
          <p:cNvPr id="23" name="text-263"/>
          <p:cNvSpPr txBox="1"/>
          <p:nvPr/>
        </p:nvSpPr>
        <p:spPr>
          <a:xfrm>
            <a:off x="7388169" y="2926080"/>
            <a:ext cx="1898843" cy="502920"/>
          </a:xfrm>
          <a:prstGeom prst="rect">
            <a:avLst/>
          </a:prstGeom>
          <a:noFill/>
          <a:ln/>
        </p:spPr>
        <p:txBody>
          <a:bodyPr wrap="square" lIns="0" tIns="0" rIns="0" bIns="0" rtlCol="0" anchor="t"/>
          <a:lstStyle/>
          <a:p>
            <a:pPr marL="0" indent="0">
              <a:buNone/>
            </a:pPr>
            <a:r>
              <a:rPr lang="en-US" sz="2600" dirty="0">
                <a:solidFill>
                  <a:schemeClr val="tx1"/>
                </a:solidFill>
                <a:latin typeface="Cormorant Garamond SemiBold" pitchFamily="34" charset="0"/>
                <a:ea typeface="Cormorant Garamond SemiBold" pitchFamily="34" charset="-122"/>
                <a:cs typeface="Cormorant Garamond SemiBold" pitchFamily="34" charset="-120"/>
              </a:rPr>
              <a:t>Launch</a:t>
            </a:r>
            <a:endParaRPr lang="en-US" sz="2600" dirty="0"/>
          </a:p>
        </p:txBody>
      </p:sp>
      <p:sp>
        <p:nvSpPr>
          <p:cNvPr id="24" name="text-264"/>
          <p:cNvSpPr txBox="1"/>
          <p:nvPr/>
        </p:nvSpPr>
        <p:spPr>
          <a:xfrm>
            <a:off x="7388169" y="3520440"/>
            <a:ext cx="1898843" cy="1463040"/>
          </a:xfrm>
          <a:prstGeom prst="rect">
            <a:avLst/>
          </a:prstGeom>
          <a:noFill/>
          <a:ln/>
        </p:spPr>
        <p:txBody>
          <a:bodyPr wrap="square" lIns="0" tIns="0" rIns="0" bIns="0" rtlCol="0" anchor="t"/>
          <a:lstStyle/>
          <a:p>
            <a:pPr marL="0" indent="0">
              <a:buNone/>
            </a:pPr>
            <a:r>
              <a:rPr lang="en-US" sz="1400" dirty="0">
                <a:solidFill>
                  <a:schemeClr val="tx2"/>
                </a:solidFill>
              </a:rPr>
              <a:t>Website live, marketing plan starts, opening night</a:t>
            </a:r>
            <a:endParaRPr lang="en-US" sz="1400" dirty="0"/>
          </a:p>
        </p:txBody>
      </p:sp>
      <p:sp>
        <p:nvSpPr>
          <p:cNvPr id="25" name="dot-265"/>
          <p:cNvSpPr/>
          <p:nvPr/>
        </p:nvSpPr>
        <p:spPr>
          <a:xfrm>
            <a:off x="9607052" y="1984248"/>
            <a:ext cx="329184" cy="329184"/>
          </a:xfrm>
          <a:prstGeom prst="ellipse">
            <a:avLst/>
          </a:prstGeom>
          <a:solidFill>
            <a:schemeClr val="bg2"/>
          </a:solidFill>
          <a:ln w="12700">
            <a:solidFill>
              <a:schemeClr val="bg2"/>
            </a:solidFill>
            <a:prstDash val="solid"/>
          </a:ln>
        </p:spPr>
      </p:sp>
      <p:sp>
        <p:nvSpPr>
          <p:cNvPr id="26" name="ring-266"/>
          <p:cNvSpPr/>
          <p:nvPr/>
        </p:nvSpPr>
        <p:spPr>
          <a:xfrm>
            <a:off x="9607052" y="1984248"/>
            <a:ext cx="329184" cy="329184"/>
          </a:xfrm>
          <a:prstGeom prst="ellipse">
            <a:avLst/>
          </a:prstGeom>
          <a:solidFill>
            <a:schemeClr val="accent1">
              <a:alpha val="0"/>
            </a:schemeClr>
          </a:solidFill>
          <a:ln w="12700">
            <a:solidFill>
              <a:schemeClr val="accent1"/>
            </a:solidFill>
            <a:prstDash val="solid"/>
          </a:ln>
        </p:spPr>
      </p:sp>
      <p:sp>
        <p:nvSpPr>
          <p:cNvPr id="27" name="text-267"/>
          <p:cNvSpPr txBox="1"/>
          <p:nvPr/>
        </p:nvSpPr>
        <p:spPr>
          <a:xfrm>
            <a:off x="9607052" y="2606040"/>
            <a:ext cx="1898843" cy="274320"/>
          </a:xfrm>
          <a:prstGeom prst="rect">
            <a:avLst/>
          </a:prstGeom>
          <a:noFill/>
          <a:ln/>
        </p:spPr>
        <p:txBody>
          <a:bodyPr wrap="square" lIns="0" tIns="0" rIns="0" bIns="0" rtlCol="0" anchor="t"/>
          <a:lstStyle/>
          <a:p>
            <a:pPr marL="0" indent="0">
              <a:buNone/>
            </a:pPr>
            <a:r>
              <a:rPr lang="en-US" sz="1200" kern="0" spc="200" dirty="0">
                <a:solidFill>
                  <a:schemeClr val="accent1"/>
                </a:solidFill>
                <a:latin typeface="Manrope SemiBold" pitchFamily="34" charset="0"/>
                <a:ea typeface="Manrope SemiBold" pitchFamily="34" charset="-122"/>
                <a:cs typeface="Manrope SemiBold" pitchFamily="34" charset="-120"/>
              </a:rPr>
              <a:t>MONTHS 2–3</a:t>
            </a:r>
            <a:endParaRPr lang="en-US" sz="1200" dirty="0"/>
          </a:p>
        </p:txBody>
      </p:sp>
      <p:sp>
        <p:nvSpPr>
          <p:cNvPr id="28" name="text-268"/>
          <p:cNvSpPr txBox="1"/>
          <p:nvPr/>
        </p:nvSpPr>
        <p:spPr>
          <a:xfrm>
            <a:off x="9607052" y="2926080"/>
            <a:ext cx="1898843" cy="502920"/>
          </a:xfrm>
          <a:prstGeom prst="rect">
            <a:avLst/>
          </a:prstGeom>
          <a:noFill/>
          <a:ln/>
        </p:spPr>
        <p:txBody>
          <a:bodyPr wrap="square" lIns="0" tIns="0" rIns="0" bIns="0" rtlCol="0" anchor="t"/>
          <a:lstStyle/>
          <a:p>
            <a:pPr marL="0" indent="0">
              <a:buNone/>
            </a:pPr>
            <a:r>
              <a:rPr lang="en-US" sz="2600" dirty="0">
                <a:solidFill>
                  <a:schemeClr val="tx1"/>
                </a:solidFill>
                <a:latin typeface="Cormorant Garamond SemiBold" pitchFamily="34" charset="0"/>
                <a:ea typeface="Cormorant Garamond SemiBold" pitchFamily="34" charset="-122"/>
                <a:cs typeface="Cormorant Garamond SemiBold" pitchFamily="34" charset="-120"/>
              </a:rPr>
              <a:t>Grow</a:t>
            </a:r>
            <a:endParaRPr lang="en-US" sz="2600" dirty="0"/>
          </a:p>
        </p:txBody>
      </p:sp>
      <p:sp>
        <p:nvSpPr>
          <p:cNvPr id="29" name="text-269"/>
          <p:cNvSpPr txBox="1"/>
          <p:nvPr/>
        </p:nvSpPr>
        <p:spPr>
          <a:xfrm>
            <a:off x="9607052" y="3520440"/>
            <a:ext cx="1898843" cy="1463040"/>
          </a:xfrm>
          <a:prstGeom prst="rect">
            <a:avLst/>
          </a:prstGeom>
          <a:noFill/>
          <a:ln/>
        </p:spPr>
        <p:txBody>
          <a:bodyPr wrap="square" lIns="0" tIns="0" rIns="0" bIns="0" rtlCol="0" anchor="t"/>
          <a:lstStyle/>
          <a:p>
            <a:pPr marL="0" indent="0">
              <a:buNone/>
            </a:pPr>
            <a:r>
              <a:rPr lang="en-US" sz="1400" dirty="0">
                <a:solidFill>
                  <a:schemeClr val="tx2"/>
                </a:solidFill>
              </a:rPr>
              <a:t>Gift cards, WhatsApp ordering, delivery-app integration, a menu in Polish</a:t>
            </a:r>
            <a:endParaRPr lang="en-US" sz="1400" dirty="0"/>
          </a:p>
        </p:txBody>
      </p:sp>
      <p:sp>
        <p:nvSpPr>
          <p:cNvPr id="30" name="card-270"/>
          <p:cNvSpPr/>
          <p:nvPr/>
        </p:nvSpPr>
        <p:spPr>
          <a:xfrm>
            <a:off x="548640" y="5074920"/>
            <a:ext cx="11094415" cy="914400"/>
          </a:xfrm>
          <a:prstGeom prst="roundRect">
            <a:avLst>
              <a:gd name="adj" fmla="val 10000"/>
            </a:avLst>
          </a:prstGeom>
          <a:solidFill>
            <a:schemeClr val="bg2"/>
          </a:solidFill>
          <a:ln w="12700">
            <a:solidFill>
              <a:schemeClr val="bg2"/>
            </a:solidFill>
            <a:prstDash val="solid"/>
          </a:ln>
        </p:spPr>
      </p:sp>
      <p:sp>
        <p:nvSpPr>
          <p:cNvPr id="31" name="text-271"/>
          <p:cNvSpPr txBox="1"/>
          <p:nvPr/>
        </p:nvSpPr>
        <p:spPr>
          <a:xfrm>
            <a:off x="914400" y="5074920"/>
            <a:ext cx="10362895" cy="914400"/>
          </a:xfrm>
          <a:prstGeom prst="rect">
            <a:avLst/>
          </a:prstGeom>
          <a:noFill/>
          <a:ln/>
        </p:spPr>
        <p:txBody>
          <a:bodyPr wrap="square" lIns="0" tIns="0" rIns="0" bIns="0" rtlCol="0" anchor="ctr"/>
          <a:lstStyle/>
          <a:p>
            <a:pPr marL="0" indent="0">
              <a:buNone/>
            </a:pPr>
            <a:r>
              <a:rPr lang="en-US" sz="1800" dirty="0">
                <a:solidFill>
                  <a:schemeClr val="tx1"/>
                </a:solidFill>
              </a:rPr>
              <a:t>About four weeks from approval to opening night, once the business details and Paystack verification are in.</a:t>
            </a:r>
            <a:endParaRPr lang="en-US" sz="1800" dirty="0"/>
          </a:p>
        </p:txBody>
      </p:sp>
      <p:sp>
        <p:nvSpPr>
          <p:cNvPr id="32" name="Slide Number Placeholder 0"/>
          <p:cNvSpPr>
            <a:spLocks noGrp="1"/>
          </p:cNvSpPr>
          <p:nvPr>
            <p:ph type="sldNum" sz="quarter" idx="4294967295"/>
          </p:nvPr>
        </p:nvSpPr>
        <p:spPr>
          <a:xfrm>
            <a:off x="10500055" y="6309360"/>
            <a:ext cx="73152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Manrope"/>
                <a:ea typeface="Manrope"/>
                <a:cs typeface="Manrope"/>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84048"/>
            <a:ext cx="8229600" cy="310896"/>
          </a:xfrm>
          <a:prstGeom prst="rect">
            <a:avLst/>
          </a:prstGeom>
          <a:noFill/>
          <a:ln/>
        </p:spPr>
        <p:txBody>
          <a:bodyPr wrap="square" lIns="0" tIns="0" rIns="0" bIns="0" rtlCol="0"/>
          <a:lstStyle/>
          <a:p>
            <a:pPr marL="0" indent="0">
              <a:buNone/>
            </a:pPr>
            <a:r>
              <a:rPr lang="en-US" sz="1200" kern="0" spc="300" dirty="0">
                <a:solidFill>
                  <a:schemeClr val="accent1"/>
                </a:solidFill>
                <a:latin typeface="Manrope SemiBold" pitchFamily="34" charset="0"/>
                <a:ea typeface="Manrope SemiBold" pitchFamily="34" charset="-122"/>
                <a:cs typeface="Manrope SemiBold" pitchFamily="34" charset="-120"/>
              </a:rPr>
              <a:t>15 · MAINTENANCE &amp; SUPPORT</a:t>
            </a:r>
            <a:endParaRPr lang="en-US" sz="1200" dirty="0"/>
          </a:p>
        </p:txBody>
      </p:sp>
      <p:sp>
        <p:nvSpPr>
          <p:cNvPr id="3" name="Text 0"/>
          <p:cNvSpPr>
            <a:spLocks noGrp="1"/>
          </p:cNvSpPr>
          <p:nvPr>
            <p:ph type="title" idx="102" hasCustomPrompt="1"/>
          </p:nvPr>
        </p:nvSpPr>
        <p:spPr>
          <a:xfrm>
            <a:off x="548640" y="676656"/>
            <a:ext cx="11094415" cy="786384"/>
          </a:xfrm>
          <a:prstGeom prst="rect">
            <a:avLst/>
          </a:prstGeom>
          <a:noFill/>
          <a:ln/>
        </p:spPr>
        <p:txBody>
          <a:bodyPr wrap="square" lIns="0" tIns="0" rIns="0" bIns="0" rtlCol="0" anchor="t"/>
          <a:lstStyle/>
          <a:p>
            <a:pPr marL="0" indent="0" algn="l">
              <a:buNone/>
            </a:pPr>
            <a:r>
              <a:rPr lang="en-US" sz="3800" dirty="0">
                <a:solidFill>
                  <a:schemeClr val="tx1"/>
                </a:solidFill>
              </a:rPr>
              <a:t>Three ways we keep it running</a:t>
            </a:r>
            <a:endParaRPr lang="en-US" sz="3800" dirty="0"/>
          </a:p>
        </p:txBody>
      </p:sp>
      <p:sp>
        <p:nvSpPr>
          <p:cNvPr id="4" name="package-272"/>
          <p:cNvSpPr/>
          <p:nvPr/>
        </p:nvSpPr>
        <p:spPr>
          <a:xfrm>
            <a:off x="548640" y="1783080"/>
            <a:ext cx="3566160" cy="4251960"/>
          </a:xfrm>
          <a:prstGeom prst="roundRect">
            <a:avLst>
              <a:gd name="adj" fmla="val 3077"/>
            </a:avLst>
          </a:prstGeom>
          <a:solidFill>
            <a:schemeClr val="bg2"/>
          </a:solidFill>
          <a:ln w="9525">
            <a:solidFill>
              <a:schemeClr val="bg2"/>
            </a:solidFill>
            <a:prstDash val="solid"/>
          </a:ln>
        </p:spPr>
      </p:sp>
      <p:sp>
        <p:nvSpPr>
          <p:cNvPr id="5" name="text-273"/>
          <p:cNvSpPr txBox="1"/>
          <p:nvPr/>
        </p:nvSpPr>
        <p:spPr>
          <a:xfrm>
            <a:off x="868680" y="2057400"/>
            <a:ext cx="2926080" cy="548640"/>
          </a:xfrm>
          <a:prstGeom prst="rect">
            <a:avLst/>
          </a:prstGeom>
          <a:noFill/>
          <a:ln/>
        </p:spPr>
        <p:txBody>
          <a:bodyPr wrap="square" lIns="0" tIns="0" rIns="0" bIns="0" rtlCol="0" anchor="t"/>
          <a:lstStyle/>
          <a:p>
            <a:pPr marL="0" indent="0">
              <a:buNone/>
            </a:pPr>
            <a:r>
              <a:rPr lang="en-US" sz="3000" dirty="0">
                <a:solidFill>
                  <a:schemeClr val="tx1"/>
                </a:solidFill>
                <a:latin typeface="Cormorant Garamond SemiBold" pitchFamily="34" charset="0"/>
                <a:ea typeface="Cormorant Garamond SemiBold" pitchFamily="34" charset="-122"/>
                <a:cs typeface="Cormorant Garamond SemiBold" pitchFamily="34" charset="-120"/>
              </a:rPr>
              <a:t>Essential</a:t>
            </a:r>
            <a:endParaRPr lang="en-US" sz="3000" dirty="0"/>
          </a:p>
        </p:txBody>
      </p:sp>
      <p:sp>
        <p:nvSpPr>
          <p:cNvPr id="6" name="text-274"/>
          <p:cNvSpPr txBox="1"/>
          <p:nvPr/>
        </p:nvSpPr>
        <p:spPr>
          <a:xfrm>
            <a:off x="868680" y="2633472"/>
            <a:ext cx="2926080" cy="274320"/>
          </a:xfrm>
          <a:prstGeom prst="rect">
            <a:avLst/>
          </a:prstGeom>
          <a:noFill/>
          <a:ln/>
        </p:spPr>
        <p:txBody>
          <a:bodyPr wrap="square" lIns="0" tIns="0" rIns="0" bIns="0" rtlCol="0" anchor="t"/>
          <a:lstStyle/>
          <a:p>
            <a:pPr marL="0" indent="0">
              <a:buNone/>
            </a:pPr>
            <a:r>
              <a:rPr lang="en-US" sz="1300" dirty="0">
                <a:solidFill>
                  <a:schemeClr val="accent5"/>
                </a:solidFill>
              </a:rPr>
              <a:t>Peace of mind</a:t>
            </a:r>
            <a:endParaRPr lang="en-US" sz="1300" dirty="0"/>
          </a:p>
        </p:txBody>
      </p:sp>
      <p:sp>
        <p:nvSpPr>
          <p:cNvPr id="7" name="bullets-275"/>
          <p:cNvSpPr txBox="1"/>
          <p:nvPr/>
        </p:nvSpPr>
        <p:spPr>
          <a:xfrm>
            <a:off x="868680" y="3154680"/>
            <a:ext cx="2971800" cy="237744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chemeClr val="tx1"/>
                </a:solidFill>
              </a:rPr>
              <a:t>Hosting and security updates</a:t>
            </a:r>
            <a:endParaRPr lang="en-US" sz="1400" dirty="0"/>
          </a:p>
          <a:p>
            <a:pPr marL="203200" indent="-203200">
              <a:spcAft>
                <a:spcPts val="900"/>
              </a:spcAft>
              <a:buSzPct val="100000"/>
              <a:buChar char="•"/>
            </a:pPr>
            <a:r>
              <a:rPr lang="en-US" sz="1400" dirty="0">
                <a:solidFill>
                  <a:schemeClr val="tx1"/>
                </a:solidFill>
              </a:rPr>
              <a:t>Daily backups, monthly restore test</a:t>
            </a:r>
            <a:endParaRPr lang="en-US" sz="1400" dirty="0"/>
          </a:p>
          <a:p>
            <a:pPr marL="203200" indent="-203200">
              <a:spcAft>
                <a:spcPts val="900"/>
              </a:spcAft>
              <a:buSzPct val="100000"/>
              <a:buChar char="•"/>
            </a:pPr>
            <a:r>
              <a:rPr lang="en-US" sz="1400" dirty="0">
                <a:solidFill>
                  <a:schemeClr val="tx1"/>
                </a:solidFill>
              </a:rPr>
              <a:t>Uptime monitoring</a:t>
            </a:r>
            <a:endParaRPr lang="en-US" sz="1400" dirty="0"/>
          </a:p>
          <a:p>
            <a:pPr marL="203200" indent="-203200">
              <a:spcAft>
                <a:spcPts val="900"/>
              </a:spcAft>
              <a:buSzPct val="100000"/>
              <a:buChar char="•"/>
            </a:pPr>
            <a:r>
              <a:rPr lang="en-US" sz="1400" dirty="0">
                <a:solidFill>
                  <a:schemeClr val="tx1"/>
                </a:solidFill>
              </a:rPr>
              <a:t>Fixes within 2 working days</a:t>
            </a:r>
            <a:endParaRPr lang="en-US" sz="1400" dirty="0"/>
          </a:p>
        </p:txBody>
      </p:sp>
      <p:sp>
        <p:nvSpPr>
          <p:cNvPr id="8" name="package-276"/>
          <p:cNvSpPr/>
          <p:nvPr/>
        </p:nvSpPr>
        <p:spPr>
          <a:xfrm>
            <a:off x="4306824" y="1783080"/>
            <a:ext cx="3566160" cy="4251960"/>
          </a:xfrm>
          <a:prstGeom prst="roundRect">
            <a:avLst>
              <a:gd name="adj" fmla="val 3077"/>
            </a:avLst>
          </a:prstGeom>
          <a:solidFill>
            <a:schemeClr val="bg2"/>
          </a:solidFill>
          <a:ln w="19050">
            <a:solidFill>
              <a:schemeClr val="accent1"/>
            </a:solidFill>
            <a:prstDash val="solid"/>
          </a:ln>
        </p:spPr>
      </p:sp>
      <p:sp>
        <p:nvSpPr>
          <p:cNvPr id="9" name="text-277"/>
          <p:cNvSpPr txBox="1"/>
          <p:nvPr/>
        </p:nvSpPr>
        <p:spPr>
          <a:xfrm>
            <a:off x="4626864" y="2057400"/>
            <a:ext cx="2926080" cy="548640"/>
          </a:xfrm>
          <a:prstGeom prst="rect">
            <a:avLst/>
          </a:prstGeom>
          <a:noFill/>
          <a:ln/>
        </p:spPr>
        <p:txBody>
          <a:bodyPr wrap="square" lIns="0" tIns="0" rIns="0" bIns="0" rtlCol="0" anchor="t"/>
          <a:lstStyle/>
          <a:p>
            <a:pPr marL="0" indent="0">
              <a:buNone/>
            </a:pPr>
            <a:r>
              <a:rPr lang="en-US" sz="3000" dirty="0">
                <a:solidFill>
                  <a:schemeClr val="accent1"/>
                </a:solidFill>
                <a:latin typeface="Cormorant Garamond SemiBold" pitchFamily="34" charset="0"/>
                <a:ea typeface="Cormorant Garamond SemiBold" pitchFamily="34" charset="-122"/>
                <a:cs typeface="Cormorant Garamond SemiBold" pitchFamily="34" charset="-120"/>
              </a:rPr>
              <a:t>Growth</a:t>
            </a:r>
            <a:endParaRPr lang="en-US" sz="3000" dirty="0"/>
          </a:p>
        </p:txBody>
      </p:sp>
      <p:sp>
        <p:nvSpPr>
          <p:cNvPr id="10" name="text-278"/>
          <p:cNvSpPr txBox="1"/>
          <p:nvPr/>
        </p:nvSpPr>
        <p:spPr>
          <a:xfrm>
            <a:off x="4626864" y="2633472"/>
            <a:ext cx="2926080" cy="274320"/>
          </a:xfrm>
          <a:prstGeom prst="rect">
            <a:avLst/>
          </a:prstGeom>
          <a:noFill/>
          <a:ln/>
        </p:spPr>
        <p:txBody>
          <a:bodyPr wrap="square" lIns="0" tIns="0" rIns="0" bIns="0" rtlCol="0" anchor="t"/>
          <a:lstStyle/>
          <a:p>
            <a:pPr marL="0" indent="0">
              <a:buNone/>
            </a:pPr>
            <a:r>
              <a:rPr lang="en-US" sz="1300" dirty="0">
                <a:solidFill>
                  <a:schemeClr val="accent5"/>
                </a:solidFill>
              </a:rPr>
              <a:t>Most restaurants choose this</a:t>
            </a:r>
            <a:endParaRPr lang="en-US" sz="1300" dirty="0"/>
          </a:p>
        </p:txBody>
      </p:sp>
      <p:sp>
        <p:nvSpPr>
          <p:cNvPr id="11" name="bullets-279"/>
          <p:cNvSpPr txBox="1"/>
          <p:nvPr/>
        </p:nvSpPr>
        <p:spPr>
          <a:xfrm>
            <a:off x="4626864" y="3154680"/>
            <a:ext cx="2971800" cy="237744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chemeClr val="tx1"/>
                </a:solidFill>
              </a:rPr>
              <a:t>Everything in Essential</a:t>
            </a:r>
            <a:endParaRPr lang="en-US" sz="1400" dirty="0"/>
          </a:p>
          <a:p>
            <a:pPr marL="203200" indent="-203200">
              <a:spcAft>
                <a:spcPts val="900"/>
              </a:spcAft>
              <a:buSzPct val="100000"/>
              <a:buChar char="•"/>
            </a:pPr>
            <a:r>
              <a:rPr lang="en-US" sz="1400" dirty="0">
                <a:solidFill>
                  <a:schemeClr val="tx1"/>
                </a:solidFill>
              </a:rPr>
              <a:t>Up to 6 hours of changes a month</a:t>
            </a:r>
            <a:endParaRPr lang="en-US" sz="1400" dirty="0"/>
          </a:p>
          <a:p>
            <a:pPr marL="203200" indent="-203200">
              <a:spcAft>
                <a:spcPts val="900"/>
              </a:spcAft>
              <a:buSzPct val="100000"/>
              <a:buChar char="•"/>
            </a:pPr>
            <a:r>
              <a:rPr lang="en-US" sz="1400" dirty="0">
                <a:solidFill>
                  <a:schemeClr val="tx1"/>
                </a:solidFill>
              </a:rPr>
              <a:t>Monthly report: orders, bookings, members</a:t>
            </a:r>
            <a:endParaRPr lang="en-US" sz="1400" dirty="0"/>
          </a:p>
          <a:p>
            <a:pPr marL="203200" indent="-203200">
              <a:spcAft>
                <a:spcPts val="900"/>
              </a:spcAft>
              <a:buSzPct val="100000"/>
              <a:buChar char="•"/>
            </a:pPr>
            <a:r>
              <a:rPr lang="en-US" sz="1400" dirty="0">
                <a:solidFill>
                  <a:schemeClr val="tx1"/>
                </a:solidFill>
              </a:rPr>
              <a:t>Fixes within 1 working day</a:t>
            </a:r>
            <a:endParaRPr lang="en-US" sz="1400" dirty="0"/>
          </a:p>
        </p:txBody>
      </p:sp>
      <p:sp>
        <p:nvSpPr>
          <p:cNvPr id="12" name="package-280"/>
          <p:cNvSpPr/>
          <p:nvPr/>
        </p:nvSpPr>
        <p:spPr>
          <a:xfrm>
            <a:off x="8065008" y="1783080"/>
            <a:ext cx="3566160" cy="4251960"/>
          </a:xfrm>
          <a:prstGeom prst="roundRect">
            <a:avLst>
              <a:gd name="adj" fmla="val 3077"/>
            </a:avLst>
          </a:prstGeom>
          <a:solidFill>
            <a:schemeClr val="bg2"/>
          </a:solidFill>
          <a:ln w="9525">
            <a:solidFill>
              <a:schemeClr val="bg2"/>
            </a:solidFill>
            <a:prstDash val="solid"/>
          </a:ln>
        </p:spPr>
      </p:sp>
      <p:sp>
        <p:nvSpPr>
          <p:cNvPr id="13" name="text-281"/>
          <p:cNvSpPr txBox="1"/>
          <p:nvPr/>
        </p:nvSpPr>
        <p:spPr>
          <a:xfrm>
            <a:off x="8385048" y="2057400"/>
            <a:ext cx="2926080" cy="548640"/>
          </a:xfrm>
          <a:prstGeom prst="rect">
            <a:avLst/>
          </a:prstGeom>
          <a:noFill/>
          <a:ln/>
        </p:spPr>
        <p:txBody>
          <a:bodyPr wrap="square" lIns="0" tIns="0" rIns="0" bIns="0" rtlCol="0" anchor="t"/>
          <a:lstStyle/>
          <a:p>
            <a:pPr marL="0" indent="0">
              <a:buNone/>
            </a:pPr>
            <a:r>
              <a:rPr lang="en-US" sz="3000" dirty="0">
                <a:solidFill>
                  <a:schemeClr val="tx1"/>
                </a:solidFill>
                <a:latin typeface="Cormorant Garamond SemiBold" pitchFamily="34" charset="0"/>
                <a:ea typeface="Cormorant Garamond SemiBold" pitchFamily="34" charset="-122"/>
                <a:cs typeface="Cormorant Garamond SemiBold" pitchFamily="34" charset="-120"/>
              </a:rPr>
              <a:t>Premium</a:t>
            </a:r>
            <a:endParaRPr lang="en-US" sz="3000" dirty="0"/>
          </a:p>
        </p:txBody>
      </p:sp>
      <p:sp>
        <p:nvSpPr>
          <p:cNvPr id="14" name="text-282"/>
          <p:cNvSpPr txBox="1"/>
          <p:nvPr/>
        </p:nvSpPr>
        <p:spPr>
          <a:xfrm>
            <a:off x="8385048" y="2633472"/>
            <a:ext cx="2926080" cy="274320"/>
          </a:xfrm>
          <a:prstGeom prst="rect">
            <a:avLst/>
          </a:prstGeom>
          <a:noFill/>
          <a:ln/>
        </p:spPr>
        <p:txBody>
          <a:bodyPr wrap="square" lIns="0" tIns="0" rIns="0" bIns="0" rtlCol="0" anchor="t"/>
          <a:lstStyle/>
          <a:p>
            <a:pPr marL="0" indent="0">
              <a:buNone/>
            </a:pPr>
            <a:r>
              <a:rPr lang="en-US" sz="1300" dirty="0">
                <a:solidFill>
                  <a:schemeClr val="accent5"/>
                </a:solidFill>
              </a:rPr>
              <a:t>A digital team on call</a:t>
            </a:r>
            <a:endParaRPr lang="en-US" sz="1300" dirty="0"/>
          </a:p>
        </p:txBody>
      </p:sp>
      <p:sp>
        <p:nvSpPr>
          <p:cNvPr id="15" name="bullets-283"/>
          <p:cNvSpPr txBox="1"/>
          <p:nvPr/>
        </p:nvSpPr>
        <p:spPr>
          <a:xfrm>
            <a:off x="8385048" y="3154680"/>
            <a:ext cx="2971800" cy="237744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chemeClr val="tx1"/>
                </a:solidFill>
              </a:rPr>
              <a:t>Everything in Growth</a:t>
            </a:r>
            <a:endParaRPr lang="en-US" sz="1400" dirty="0"/>
          </a:p>
          <a:p>
            <a:pPr marL="203200" indent="-203200">
              <a:spcAft>
                <a:spcPts val="900"/>
              </a:spcAft>
              <a:buSzPct val="100000"/>
              <a:buChar char="•"/>
            </a:pPr>
            <a:r>
              <a:rPr lang="en-US" sz="1400" dirty="0">
                <a:solidFill>
                  <a:schemeClr val="tx1"/>
                </a:solidFill>
              </a:rPr>
              <a:t>Up to 15 hours a month</a:t>
            </a:r>
            <a:endParaRPr lang="en-US" sz="1400" dirty="0"/>
          </a:p>
          <a:p>
            <a:pPr marL="203200" indent="-203200">
              <a:spcAft>
                <a:spcPts val="900"/>
              </a:spcAft>
              <a:buSzPct val="100000"/>
              <a:buChar char="•"/>
            </a:pPr>
            <a:r>
              <a:rPr lang="en-US" sz="1400" dirty="0">
                <a:solidFill>
                  <a:schemeClr val="tx1"/>
                </a:solidFill>
              </a:rPr>
              <a:t>Campaign set-up: codes, offers, events</a:t>
            </a:r>
            <a:endParaRPr lang="en-US" sz="1400" dirty="0"/>
          </a:p>
          <a:p>
            <a:pPr marL="203200" indent="-203200">
              <a:spcAft>
                <a:spcPts val="900"/>
              </a:spcAft>
              <a:buSzPct val="100000"/>
              <a:buChar char="•"/>
            </a:pPr>
            <a:r>
              <a:rPr lang="en-US" sz="1400" dirty="0">
                <a:solidFill>
                  <a:schemeClr val="tx1"/>
                </a:solidFill>
              </a:rPr>
              <a:t>Same-day urgent fixes, 7 days</a:t>
            </a:r>
            <a:endParaRPr lang="en-US" sz="1400" dirty="0"/>
          </a:p>
        </p:txBody>
      </p:sp>
      <p:sp>
        <p:nvSpPr>
          <p:cNvPr id="16" name="text-284"/>
          <p:cNvSpPr txBox="1"/>
          <p:nvPr/>
        </p:nvSpPr>
        <p:spPr>
          <a:xfrm>
            <a:off x="548640" y="6144768"/>
            <a:ext cx="8229600" cy="274320"/>
          </a:xfrm>
          <a:prstGeom prst="rect">
            <a:avLst/>
          </a:prstGeom>
          <a:noFill/>
          <a:ln/>
        </p:spPr>
        <p:txBody>
          <a:bodyPr wrap="square" lIns="0" tIns="0" rIns="0" bIns="0" rtlCol="0" anchor="t"/>
          <a:lstStyle/>
          <a:p>
            <a:pPr marL="0" indent="0">
              <a:buNone/>
            </a:pPr>
            <a:r>
              <a:rPr lang="en-US" sz="1200" dirty="0">
                <a:solidFill>
                  <a:schemeClr val="accent5"/>
                </a:solidFill>
              </a:rPr>
              <a:t>Prices for each package are in the accompanying proposal. New features are quoted separately.</a:t>
            </a:r>
            <a:endParaRPr lang="en-US" sz="1200" dirty="0"/>
          </a:p>
        </p:txBody>
      </p:sp>
      <p:sp>
        <p:nvSpPr>
          <p:cNvPr id="25" name="Slide Number Placeholder 0"/>
          <p:cNvSpPr>
            <a:spLocks noGrp="1"/>
          </p:cNvSpPr>
          <p:nvPr>
            <p:ph type="sldNum" sz="quarter" idx="4294967295"/>
          </p:nvPr>
        </p:nvSpPr>
        <p:spPr>
          <a:xfrm>
            <a:off x="10500055" y="6309360"/>
            <a:ext cx="73152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Manrope"/>
                <a:ea typeface="Manrope"/>
                <a:cs typeface="Manrope"/>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chef-photo" descr="A chef plating a dish"/>
          <p:cNvPicPr>
            <a:picLocks noChangeAspect="1"/>
          </p:cNvPicPr>
          <p:nvPr/>
        </p:nvPicPr>
        <p:blipFill>
          <a:blip r:embed="rId3"/>
          <a:srcRect/>
          <a:stretch/>
        </p:blipFill>
        <p:spPr>
          <a:xfrm>
            <a:off x="7223760" y="0"/>
            <a:ext cx="4967935" cy="6858000"/>
          </a:xfrm>
          <a:prstGeom prst="rect">
            <a:avLst/>
          </a:prstGeom>
        </p:spPr>
      </p:pic>
      <p:sp>
        <p:nvSpPr>
          <p:cNvPr id="3" name="text-285"/>
          <p:cNvSpPr txBox="1"/>
          <p:nvPr/>
        </p:nvSpPr>
        <p:spPr>
          <a:xfrm>
            <a:off x="548640" y="548640"/>
            <a:ext cx="5486400" cy="274320"/>
          </a:xfrm>
          <a:prstGeom prst="rect">
            <a:avLst/>
          </a:prstGeom>
          <a:noFill/>
          <a:ln/>
        </p:spPr>
        <p:txBody>
          <a:bodyPr wrap="square" lIns="0" tIns="0" rIns="0" bIns="0" rtlCol="0" anchor="t"/>
          <a:lstStyle/>
          <a:p>
            <a:pPr marL="0" indent="0">
              <a:buNone/>
            </a:pPr>
            <a:r>
              <a:rPr lang="en-US" sz="1200" kern="0" spc="300" dirty="0">
                <a:solidFill>
                  <a:schemeClr val="accent1"/>
                </a:solidFill>
                <a:latin typeface="Manrope SemiBold" pitchFamily="34" charset="0"/>
                <a:ea typeface="Manrope SemiBold" pitchFamily="34" charset="-122"/>
                <a:cs typeface="Manrope SemiBold" pitchFamily="34" charset="-120"/>
              </a:rPr>
              <a:t>16 · LIVE DEMO</a:t>
            </a:r>
            <a:endParaRPr lang="en-US" sz="1200" dirty="0"/>
          </a:p>
        </p:txBody>
      </p:sp>
      <p:sp>
        <p:nvSpPr>
          <p:cNvPr id="4" name="text-286"/>
          <p:cNvSpPr txBox="1"/>
          <p:nvPr/>
        </p:nvSpPr>
        <p:spPr>
          <a:xfrm>
            <a:off x="548640" y="868680"/>
            <a:ext cx="6400800" cy="822960"/>
          </a:xfrm>
          <a:prstGeom prst="rect">
            <a:avLst/>
          </a:prstGeom>
          <a:noFill/>
          <a:ln/>
        </p:spPr>
        <p:txBody>
          <a:bodyPr wrap="square" lIns="0" tIns="0" rIns="0" bIns="0" rtlCol="0" anchor="t"/>
          <a:lstStyle/>
          <a:p>
            <a:pPr marL="0" indent="0">
              <a:buNone/>
            </a:pPr>
            <a:r>
              <a:rPr lang="en-US" sz="4400" dirty="0">
                <a:solidFill>
                  <a:schemeClr val="tx1"/>
                </a:solidFill>
                <a:latin typeface="Cormorant Garamond SemiBold" pitchFamily="34" charset="0"/>
                <a:ea typeface="Cormorant Garamond SemiBold" pitchFamily="34" charset="-122"/>
                <a:cs typeface="Cormorant Garamond SemiBold" pitchFamily="34" charset="-120"/>
              </a:rPr>
              <a:t>Try it on your phone</a:t>
            </a:r>
            <a:endParaRPr lang="en-US" sz="4400" dirty="0"/>
          </a:p>
        </p:txBody>
      </p:sp>
      <p:sp>
        <p:nvSpPr>
          <p:cNvPr id="5" name="qr-panel"/>
          <p:cNvSpPr/>
          <p:nvPr/>
        </p:nvSpPr>
        <p:spPr>
          <a:xfrm>
            <a:off x="548640" y="2011680"/>
            <a:ext cx="2834640" cy="2834640"/>
          </a:xfrm>
          <a:prstGeom prst="roundRect">
            <a:avLst>
              <a:gd name="adj" fmla="val 3871"/>
            </a:avLst>
          </a:prstGeom>
          <a:solidFill>
            <a:srgbClr val="F6EFE3"/>
          </a:solidFill>
          <a:ln w="12700">
            <a:solidFill>
              <a:srgbClr val="F6EFE3"/>
            </a:solidFill>
            <a:prstDash val="solid"/>
          </a:ln>
        </p:spPr>
      </p:sp>
      <p:pic>
        <p:nvPicPr>
          <p:cNvPr id="6" name="qr-code" descr="QR code for the live demo"/>
          <p:cNvPicPr>
            <a:picLocks noChangeAspect="1"/>
          </p:cNvPicPr>
          <p:nvPr/>
        </p:nvPicPr>
        <p:blipFill>
          <a:blip r:embed="rId4"/>
          <a:stretch>
            <a:fillRect/>
          </a:stretch>
        </p:blipFill>
        <p:spPr>
          <a:xfrm>
            <a:off x="685800" y="2148840"/>
            <a:ext cx="2560320" cy="2560320"/>
          </a:xfrm>
          <a:prstGeom prst="rect">
            <a:avLst/>
          </a:prstGeom>
        </p:spPr>
      </p:pic>
      <p:sp>
        <p:nvSpPr>
          <p:cNvPr id="7" name="text-287">
            <a:hlinkClick r:id="rId5"/>
          </p:cNvPr>
          <p:cNvSpPr txBox="1"/>
          <p:nvPr/>
        </p:nvSpPr>
        <p:spPr>
          <a:xfrm>
            <a:off x="548640" y="5029200"/>
            <a:ext cx="6400800" cy="365760"/>
          </a:xfrm>
          <a:prstGeom prst="rect">
            <a:avLst/>
          </a:prstGeom>
          <a:noFill/>
          <a:ln/>
        </p:spPr>
        <p:txBody>
          <a:bodyPr wrap="square" lIns="0" tIns="0" rIns="0" bIns="0" rtlCol="0" anchor="t"/>
          <a:lstStyle/>
          <a:p>
            <a:pPr marL="0" indent="0">
              <a:buNone/>
            </a:pPr>
            <a:r>
              <a:rPr lang="en-US" sz="1800" u="sng" dirty="0">
                <a:solidFill>
                  <a:schemeClr val="accent6"/>
                </a:solidFill>
                <a:latin typeface="Manrope SemiBold" pitchFamily="34" charset="0"/>
                <a:ea typeface="Manrope SemiBold" pitchFamily="34" charset="-122"/>
                <a:cs typeface="Manrope SemiBold" pitchFamily="34" charset="-120"/>
                <a:hlinkClick r:id="rId5">
                  <a:extLst>
                    <a:ext uri="{A12FA001-AC4F-418D-AE19-62706E023703}">
                      <ahyp:hlinkClr xmlns:ahyp="http://schemas.microsoft.com/office/drawing/2018/hyperlinkcolor" val="tx"/>
                    </a:ext>
                  </a:extLst>
                </a:hlinkClick>
              </a:rPr>
              <a:t>alokwemsamuel.github.io/small-africa</a:t>
            </a:r>
            <a:endParaRPr lang="en-US" sz="1800" dirty="0"/>
          </a:p>
        </p:txBody>
      </p:sp>
      <p:sp>
        <p:nvSpPr>
          <p:cNvPr id="8" name="text-288"/>
          <p:cNvSpPr txBox="1"/>
          <p:nvPr/>
        </p:nvSpPr>
        <p:spPr>
          <a:xfrm>
            <a:off x="548640" y="5440680"/>
            <a:ext cx="6217920" cy="365760"/>
          </a:xfrm>
          <a:prstGeom prst="rect">
            <a:avLst/>
          </a:prstGeom>
          <a:noFill/>
          <a:ln/>
        </p:spPr>
        <p:txBody>
          <a:bodyPr wrap="square" lIns="0" tIns="0" rIns="0" bIns="0" rtlCol="0" anchor="t"/>
          <a:lstStyle/>
          <a:p>
            <a:pPr marL="0" indent="0">
              <a:buNone/>
            </a:pPr>
            <a:r>
              <a:rPr lang="en-US" sz="1400" dirty="0">
                <a:solidFill>
                  <a:schemeClr val="tx2"/>
                </a:solidFill>
              </a:rPr>
              <a:t>Everything works with invented data, and Reset demo data puts it back.</a:t>
            </a:r>
            <a:endParaRPr lang="en-US" sz="1400" dirty="0"/>
          </a:p>
        </p:txBody>
      </p:sp>
      <p:sp>
        <p:nvSpPr>
          <p:cNvPr id="9" name="text-289"/>
          <p:cNvSpPr txBox="1"/>
          <p:nvPr/>
        </p:nvSpPr>
        <p:spPr>
          <a:xfrm>
            <a:off x="3657600" y="2057400"/>
            <a:ext cx="3383280" cy="2743200"/>
          </a:xfrm>
          <a:prstGeom prst="rect">
            <a:avLst/>
          </a:prstGeom>
          <a:noFill/>
          <a:ln/>
        </p:spPr>
        <p:txBody>
          <a:bodyPr wrap="square" lIns="0" tIns="0" rIns="0" bIns="0" rtlCol="0" anchor="ctr"/>
          <a:lstStyle/>
          <a:p>
            <a:pPr marL="0" indent="0">
              <a:spcAft>
                <a:spcPts val="1400"/>
              </a:spcAft>
              <a:buNone/>
            </a:pPr>
            <a:r>
              <a:rPr lang="en-US" sz="1400" dirty="0">
                <a:solidFill>
                  <a:schemeClr val="tx1"/>
                </a:solidFill>
                <a:latin typeface="Manrope SemiBold" pitchFamily="34" charset="0"/>
                <a:ea typeface="Manrope SemiBold" pitchFamily="34" charset="-122"/>
                <a:cs typeface="Manrope SemiBold" pitchFamily="34" charset="-120"/>
              </a:rPr>
              <a:t>Member  </a:t>
            </a:r>
            <a:r>
              <a:rPr lang="en-US" sz="1400" dirty="0">
                <a:solidFill>
                  <a:schemeClr val="tx2"/>
                </a:solidFill>
              </a:rPr>
              <a:t>guest@smallafrica.demo  ·  SmallAfrica@Guest2026</a:t>
            </a:r>
            <a:endParaRPr lang="en-US" sz="1400" dirty="0"/>
          </a:p>
          <a:p>
            <a:pPr marL="0" indent="0">
              <a:spcAft>
                <a:spcPts val="1400"/>
              </a:spcAft>
              <a:buNone/>
            </a:pPr>
            <a:r>
              <a:rPr lang="en-US" sz="1400" dirty="0">
                <a:solidFill>
                  <a:schemeClr val="tx1"/>
                </a:solidFill>
                <a:latin typeface="Manrope SemiBold" pitchFamily="34" charset="0"/>
                <a:ea typeface="Manrope SemiBold" pitchFamily="34" charset="-122"/>
                <a:cs typeface="Manrope SemiBold" pitchFamily="34" charset="-120"/>
              </a:rPr>
              <a:t>Admin  </a:t>
            </a:r>
            <a:r>
              <a:rPr lang="en-US" sz="1400" dirty="0">
                <a:solidFill>
                  <a:schemeClr val="tx2"/>
                </a:solidFill>
              </a:rPr>
              <a:t>admin@smallafrica.demo  ·  SmallAfrica@Admin2026</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closing-photo" descr="The dining room"/>
          <p:cNvPicPr>
            <a:picLocks noChangeAspect="1"/>
          </p:cNvPicPr>
          <p:nvPr/>
        </p:nvPicPr>
        <p:blipFill>
          <a:blip r:embed="rId3"/>
          <a:srcRect/>
          <a:stretch/>
        </p:blipFill>
        <p:spPr>
          <a:xfrm>
            <a:off x="0" y="0"/>
            <a:ext cx="12191695" cy="6858000"/>
          </a:xfrm>
          <a:prstGeom prst="rect">
            <a:avLst/>
          </a:prstGeom>
        </p:spPr>
      </p:pic>
      <p:sp>
        <p:nvSpPr>
          <p:cNvPr id="3" name="closing-shade"/>
          <p:cNvSpPr/>
          <p:nvPr/>
        </p:nvSpPr>
        <p:spPr>
          <a:xfrm>
            <a:off x="0" y="0"/>
            <a:ext cx="12191695" cy="6858000"/>
          </a:xfrm>
          <a:prstGeom prst="rect">
            <a:avLst/>
          </a:prstGeom>
          <a:solidFill>
            <a:schemeClr val="bg1">
              <a:alpha val="82000"/>
            </a:schemeClr>
          </a:solidFill>
          <a:ln w="12700">
            <a:solidFill>
              <a:schemeClr val="bg1">
                <a:alpha val="0"/>
              </a:schemeClr>
            </a:solidFill>
            <a:prstDash val="solid"/>
          </a:ln>
        </p:spPr>
      </p:sp>
      <p:pic>
        <p:nvPicPr>
          <p:cNvPr id="4" name="closing-logo" descr="Small Africa logo"/>
          <p:cNvPicPr>
            <a:picLocks noChangeAspect="1"/>
          </p:cNvPicPr>
          <p:nvPr/>
        </p:nvPicPr>
        <p:blipFill>
          <a:blip r:embed="rId4"/>
          <a:stretch>
            <a:fillRect/>
          </a:stretch>
        </p:blipFill>
        <p:spPr>
          <a:xfrm>
            <a:off x="548640" y="640080"/>
            <a:ext cx="2743200" cy="811598"/>
          </a:xfrm>
          <a:prstGeom prst="rect">
            <a:avLst/>
          </a:prstGeom>
        </p:spPr>
      </p:pic>
      <p:sp>
        <p:nvSpPr>
          <p:cNvPr id="5" name="text-290"/>
          <p:cNvSpPr txBox="1"/>
          <p:nvPr/>
        </p:nvSpPr>
        <p:spPr>
          <a:xfrm>
            <a:off x="548640" y="1965960"/>
            <a:ext cx="7315200" cy="1005840"/>
          </a:xfrm>
          <a:prstGeom prst="rect">
            <a:avLst/>
          </a:prstGeom>
          <a:noFill/>
          <a:ln/>
        </p:spPr>
        <p:txBody>
          <a:bodyPr wrap="square" lIns="0" tIns="0" rIns="0" bIns="0" rtlCol="0" anchor="t"/>
          <a:lstStyle/>
          <a:p>
            <a:pPr marL="0" indent="0">
              <a:buNone/>
            </a:pPr>
            <a:r>
              <a:rPr lang="en-US" sz="6400" dirty="0">
                <a:solidFill>
                  <a:schemeClr val="tx1"/>
                </a:solidFill>
                <a:latin typeface="Cormorant Garamond SemiBold" pitchFamily="34" charset="0"/>
                <a:ea typeface="Cormorant Garamond SemiBold" pitchFamily="34" charset="-122"/>
                <a:cs typeface="Cormorant Garamond SemiBold" pitchFamily="34" charset="-120"/>
              </a:rPr>
              <a:t>Thank you</a:t>
            </a:r>
            <a:endParaRPr lang="en-US" sz="6400" dirty="0"/>
          </a:p>
        </p:txBody>
      </p:sp>
      <p:sp>
        <p:nvSpPr>
          <p:cNvPr id="6" name="text-291"/>
          <p:cNvSpPr txBox="1"/>
          <p:nvPr/>
        </p:nvSpPr>
        <p:spPr>
          <a:xfrm>
            <a:off x="548640" y="2926080"/>
            <a:ext cx="7315200" cy="548640"/>
          </a:xfrm>
          <a:prstGeom prst="rect">
            <a:avLst/>
          </a:prstGeom>
          <a:noFill/>
          <a:ln/>
        </p:spPr>
        <p:txBody>
          <a:bodyPr wrap="square" lIns="0" tIns="0" rIns="0" bIns="0" rtlCol="0" anchor="t"/>
          <a:lstStyle/>
          <a:p>
            <a:pPr marL="0" indent="0">
              <a:buNone/>
            </a:pPr>
            <a:r>
              <a:rPr lang="en-US" sz="3000" dirty="0">
                <a:solidFill>
                  <a:schemeClr val="accent6"/>
                </a:solidFill>
                <a:latin typeface="Italiana" pitchFamily="34" charset="0"/>
                <a:ea typeface="Italiana" pitchFamily="34" charset="-122"/>
                <a:cs typeface="Italiana" pitchFamily="34" charset="-120"/>
              </a:rPr>
              <a:t>Questions, and the next steps</a:t>
            </a:r>
            <a:endParaRPr lang="en-US" sz="3000" dirty="0"/>
          </a:p>
        </p:txBody>
      </p:sp>
      <p:sp>
        <p:nvSpPr>
          <p:cNvPr id="7" name="dot-292"/>
          <p:cNvSpPr/>
          <p:nvPr/>
        </p:nvSpPr>
        <p:spPr>
          <a:xfrm>
            <a:off x="548640" y="4014216"/>
            <a:ext cx="274320" cy="274320"/>
          </a:xfrm>
          <a:prstGeom prst="ellipse">
            <a:avLst/>
          </a:prstGeom>
          <a:solidFill>
            <a:schemeClr val="accent1"/>
          </a:solidFill>
          <a:ln w="12700">
            <a:solidFill>
              <a:schemeClr val="accent1"/>
            </a:solidFill>
            <a:prstDash val="solid"/>
          </a:ln>
        </p:spPr>
      </p:sp>
      <p:sp>
        <p:nvSpPr>
          <p:cNvPr id="8" name="text-293"/>
          <p:cNvSpPr txBox="1"/>
          <p:nvPr/>
        </p:nvSpPr>
        <p:spPr>
          <a:xfrm>
            <a:off x="548640" y="4014216"/>
            <a:ext cx="274320" cy="274320"/>
          </a:xfrm>
          <a:prstGeom prst="rect">
            <a:avLst/>
          </a:prstGeom>
          <a:noFill/>
          <a:ln/>
        </p:spPr>
        <p:txBody>
          <a:bodyPr wrap="square" lIns="0" tIns="0" rIns="0" bIns="0" rtlCol="0" anchor="ctr"/>
          <a:lstStyle/>
          <a:p>
            <a:pPr marL="0" indent="0" algn="ctr">
              <a:buNone/>
            </a:pPr>
            <a:r>
              <a:rPr lang="en-US" sz="1200" dirty="0">
                <a:solidFill>
                  <a:schemeClr val="bg1"/>
                </a:solidFill>
                <a:latin typeface="Manrope SemiBold" pitchFamily="34" charset="0"/>
                <a:ea typeface="Manrope SemiBold" pitchFamily="34" charset="-122"/>
                <a:cs typeface="Manrope SemiBold" pitchFamily="34" charset="-120"/>
              </a:rPr>
              <a:t>1</a:t>
            </a:r>
            <a:endParaRPr lang="en-US" sz="1200" dirty="0"/>
          </a:p>
        </p:txBody>
      </p:sp>
      <p:sp>
        <p:nvSpPr>
          <p:cNvPr id="9" name="text-294"/>
          <p:cNvSpPr txBox="1"/>
          <p:nvPr/>
        </p:nvSpPr>
        <p:spPr>
          <a:xfrm>
            <a:off x="1005840" y="3977640"/>
            <a:ext cx="6858000" cy="365760"/>
          </a:xfrm>
          <a:prstGeom prst="rect">
            <a:avLst/>
          </a:prstGeom>
          <a:noFill/>
          <a:ln/>
        </p:spPr>
        <p:txBody>
          <a:bodyPr wrap="square" lIns="0" tIns="0" rIns="0" bIns="0" rtlCol="0" anchor="t"/>
          <a:lstStyle/>
          <a:p>
            <a:pPr marL="0" indent="0">
              <a:buNone/>
            </a:pPr>
            <a:r>
              <a:rPr lang="en-US" sz="1700" dirty="0">
                <a:solidFill>
                  <a:schemeClr val="tx1"/>
                </a:solidFill>
              </a:rPr>
              <a:t>Feedback on the demo and any changes</a:t>
            </a:r>
            <a:endParaRPr lang="en-US" sz="1700" dirty="0"/>
          </a:p>
        </p:txBody>
      </p:sp>
      <p:sp>
        <p:nvSpPr>
          <p:cNvPr id="10" name="dot-295"/>
          <p:cNvSpPr/>
          <p:nvPr/>
        </p:nvSpPr>
        <p:spPr>
          <a:xfrm>
            <a:off x="548640" y="4517136"/>
            <a:ext cx="274320" cy="274320"/>
          </a:xfrm>
          <a:prstGeom prst="ellipse">
            <a:avLst/>
          </a:prstGeom>
          <a:solidFill>
            <a:schemeClr val="accent1"/>
          </a:solidFill>
          <a:ln w="12700">
            <a:solidFill>
              <a:schemeClr val="accent1"/>
            </a:solidFill>
            <a:prstDash val="solid"/>
          </a:ln>
        </p:spPr>
      </p:sp>
      <p:sp>
        <p:nvSpPr>
          <p:cNvPr id="11" name="text-296"/>
          <p:cNvSpPr txBox="1"/>
          <p:nvPr/>
        </p:nvSpPr>
        <p:spPr>
          <a:xfrm>
            <a:off x="548640" y="4517136"/>
            <a:ext cx="274320" cy="274320"/>
          </a:xfrm>
          <a:prstGeom prst="rect">
            <a:avLst/>
          </a:prstGeom>
          <a:noFill/>
          <a:ln/>
        </p:spPr>
        <p:txBody>
          <a:bodyPr wrap="square" lIns="0" tIns="0" rIns="0" bIns="0" rtlCol="0" anchor="ctr"/>
          <a:lstStyle/>
          <a:p>
            <a:pPr marL="0" indent="0" algn="ctr">
              <a:buNone/>
            </a:pPr>
            <a:r>
              <a:rPr lang="en-US" sz="1200" dirty="0">
                <a:solidFill>
                  <a:schemeClr val="bg1"/>
                </a:solidFill>
                <a:latin typeface="Manrope SemiBold" pitchFamily="34" charset="0"/>
                <a:ea typeface="Manrope SemiBold" pitchFamily="34" charset="-122"/>
                <a:cs typeface="Manrope SemiBold" pitchFamily="34" charset="-120"/>
              </a:rPr>
              <a:t>2</a:t>
            </a:r>
            <a:endParaRPr lang="en-US" sz="1200" dirty="0"/>
          </a:p>
        </p:txBody>
      </p:sp>
      <p:sp>
        <p:nvSpPr>
          <p:cNvPr id="12" name="text-297"/>
          <p:cNvSpPr txBox="1"/>
          <p:nvPr/>
        </p:nvSpPr>
        <p:spPr>
          <a:xfrm>
            <a:off x="1005840" y="4480560"/>
            <a:ext cx="6858000" cy="365760"/>
          </a:xfrm>
          <a:prstGeom prst="rect">
            <a:avLst/>
          </a:prstGeom>
          <a:noFill/>
          <a:ln/>
        </p:spPr>
        <p:txBody>
          <a:bodyPr wrap="square" lIns="0" tIns="0" rIns="0" bIns="0" rtlCol="0" anchor="t"/>
          <a:lstStyle/>
          <a:p>
            <a:pPr marL="0" indent="0">
              <a:buNone/>
            </a:pPr>
            <a:r>
              <a:rPr lang="en-US" sz="1700" dirty="0">
                <a:solidFill>
                  <a:schemeClr val="tx1"/>
                </a:solidFill>
              </a:rPr>
              <a:t>Business details: address, phone, WhatsApp, hours</a:t>
            </a:r>
            <a:endParaRPr lang="en-US" sz="1700" dirty="0"/>
          </a:p>
        </p:txBody>
      </p:sp>
      <p:sp>
        <p:nvSpPr>
          <p:cNvPr id="13" name="dot-298"/>
          <p:cNvSpPr/>
          <p:nvPr/>
        </p:nvSpPr>
        <p:spPr>
          <a:xfrm>
            <a:off x="548640" y="5020056"/>
            <a:ext cx="274320" cy="274320"/>
          </a:xfrm>
          <a:prstGeom prst="ellipse">
            <a:avLst/>
          </a:prstGeom>
          <a:solidFill>
            <a:schemeClr val="accent1"/>
          </a:solidFill>
          <a:ln w="12700">
            <a:solidFill>
              <a:schemeClr val="accent1"/>
            </a:solidFill>
            <a:prstDash val="solid"/>
          </a:ln>
        </p:spPr>
      </p:sp>
      <p:sp>
        <p:nvSpPr>
          <p:cNvPr id="14" name="text-299"/>
          <p:cNvSpPr txBox="1"/>
          <p:nvPr/>
        </p:nvSpPr>
        <p:spPr>
          <a:xfrm>
            <a:off x="548640" y="5020056"/>
            <a:ext cx="274320" cy="274320"/>
          </a:xfrm>
          <a:prstGeom prst="rect">
            <a:avLst/>
          </a:prstGeom>
          <a:noFill/>
          <a:ln/>
        </p:spPr>
        <p:txBody>
          <a:bodyPr wrap="square" lIns="0" tIns="0" rIns="0" bIns="0" rtlCol="0" anchor="ctr"/>
          <a:lstStyle/>
          <a:p>
            <a:pPr marL="0" indent="0" algn="ctr">
              <a:buNone/>
            </a:pPr>
            <a:r>
              <a:rPr lang="en-US" sz="1200" dirty="0">
                <a:solidFill>
                  <a:schemeClr val="bg1"/>
                </a:solidFill>
                <a:latin typeface="Manrope SemiBold" pitchFamily="34" charset="0"/>
                <a:ea typeface="Manrope SemiBold" pitchFamily="34" charset="-122"/>
                <a:cs typeface="Manrope SemiBold" pitchFamily="34" charset="-120"/>
              </a:rPr>
              <a:t>3</a:t>
            </a:r>
            <a:endParaRPr lang="en-US" sz="1200" dirty="0"/>
          </a:p>
        </p:txBody>
      </p:sp>
      <p:sp>
        <p:nvSpPr>
          <p:cNvPr id="15" name="text-300"/>
          <p:cNvSpPr txBox="1"/>
          <p:nvPr/>
        </p:nvSpPr>
        <p:spPr>
          <a:xfrm>
            <a:off x="1005840" y="4983480"/>
            <a:ext cx="6858000" cy="365760"/>
          </a:xfrm>
          <a:prstGeom prst="rect">
            <a:avLst/>
          </a:prstGeom>
          <a:noFill/>
          <a:ln/>
        </p:spPr>
        <p:txBody>
          <a:bodyPr wrap="square" lIns="0" tIns="0" rIns="0" bIns="0" rtlCol="0" anchor="t"/>
          <a:lstStyle/>
          <a:p>
            <a:pPr marL="0" indent="0">
              <a:buNone/>
            </a:pPr>
            <a:r>
              <a:rPr lang="en-US" sz="1700" dirty="0">
                <a:solidFill>
                  <a:schemeClr val="tx1"/>
                </a:solidFill>
              </a:rPr>
              <a:t>Paystack business verification</a:t>
            </a:r>
            <a:endParaRPr lang="en-US" sz="1700" dirty="0"/>
          </a:p>
        </p:txBody>
      </p:sp>
      <p:sp>
        <p:nvSpPr>
          <p:cNvPr id="16" name="dot-301"/>
          <p:cNvSpPr/>
          <p:nvPr/>
        </p:nvSpPr>
        <p:spPr>
          <a:xfrm>
            <a:off x="548640" y="5522976"/>
            <a:ext cx="274320" cy="274320"/>
          </a:xfrm>
          <a:prstGeom prst="ellipse">
            <a:avLst/>
          </a:prstGeom>
          <a:solidFill>
            <a:schemeClr val="accent1"/>
          </a:solidFill>
          <a:ln w="12700">
            <a:solidFill>
              <a:schemeClr val="accent1"/>
            </a:solidFill>
            <a:prstDash val="solid"/>
          </a:ln>
        </p:spPr>
      </p:sp>
      <p:sp>
        <p:nvSpPr>
          <p:cNvPr id="17" name="text-302"/>
          <p:cNvSpPr txBox="1"/>
          <p:nvPr/>
        </p:nvSpPr>
        <p:spPr>
          <a:xfrm>
            <a:off x="548640" y="5522976"/>
            <a:ext cx="274320" cy="274320"/>
          </a:xfrm>
          <a:prstGeom prst="rect">
            <a:avLst/>
          </a:prstGeom>
          <a:noFill/>
          <a:ln/>
        </p:spPr>
        <p:txBody>
          <a:bodyPr wrap="square" lIns="0" tIns="0" rIns="0" bIns="0" rtlCol="0" anchor="ctr"/>
          <a:lstStyle/>
          <a:p>
            <a:pPr marL="0" indent="0" algn="ctr">
              <a:buNone/>
            </a:pPr>
            <a:r>
              <a:rPr lang="en-US" sz="1200" dirty="0">
                <a:solidFill>
                  <a:schemeClr val="bg1"/>
                </a:solidFill>
                <a:latin typeface="Manrope SemiBold" pitchFamily="34" charset="0"/>
                <a:ea typeface="Manrope SemiBold" pitchFamily="34" charset="-122"/>
                <a:cs typeface="Manrope SemiBold" pitchFamily="34" charset="-120"/>
              </a:rPr>
              <a:t>4</a:t>
            </a:r>
            <a:endParaRPr lang="en-US" sz="1200" dirty="0"/>
          </a:p>
        </p:txBody>
      </p:sp>
      <p:sp>
        <p:nvSpPr>
          <p:cNvPr id="18" name="text-303"/>
          <p:cNvSpPr txBox="1"/>
          <p:nvPr/>
        </p:nvSpPr>
        <p:spPr>
          <a:xfrm>
            <a:off x="1005840" y="5486400"/>
            <a:ext cx="6858000" cy="365760"/>
          </a:xfrm>
          <a:prstGeom prst="rect">
            <a:avLst/>
          </a:prstGeom>
          <a:noFill/>
          <a:ln/>
        </p:spPr>
        <p:txBody>
          <a:bodyPr wrap="square" lIns="0" tIns="0" rIns="0" bIns="0" rtlCol="0" anchor="t"/>
          <a:lstStyle/>
          <a:p>
            <a:pPr marL="0" indent="0">
              <a:buNone/>
            </a:pPr>
            <a:r>
              <a:rPr lang="en-US" sz="1700" dirty="0">
                <a:solidFill>
                  <a:schemeClr val="tx1"/>
                </a:solidFill>
              </a:rPr>
              <a:t>Choose hosting, domain and a support package</a:t>
            </a:r>
            <a:endParaRPr lang="en-US" sz="1700" dirty="0"/>
          </a:p>
        </p:txBody>
      </p:sp>
    </p:spTree>
  </p:cSld>
  <p:clrMapOvr>
    <a:masterClrMapping/>
  </p:clrMapOvr>
</p:sld>
</file>

<file path=ppt/theme/theme1.xml><?xml version="1.0" encoding="utf-8"?>
<a:theme xmlns:a="http://schemas.openxmlformats.org/drawingml/2006/main" name="Small Africa">
  <a:themeElements>
    <a:clrScheme name="Small Africa">
      <a:dk1>
        <a:srgbClr val="F6EFE3"/>
      </a:dk1>
      <a:lt1>
        <a:srgbClr val="0E0C0A"/>
      </a:lt1>
      <a:dk2>
        <a:srgbClr val="E7D9C4"/>
      </a:dk2>
      <a:lt2>
        <a:srgbClr val="1A1612"/>
      </a:lt2>
      <a:accent1>
        <a:srgbClr val="C9A24B"/>
      </a:accent1>
      <a:accent2>
        <a:srgbClr val="B4492F"/>
      </a:accent2>
      <a:accent3>
        <a:srgbClr val="A3243B"/>
      </a:accent3>
      <a:accent4>
        <a:srgbClr val="2E4A3B"/>
      </a:accent4>
      <a:accent5>
        <a:srgbClr val="8A8178"/>
      </a:accent5>
      <a:accent6>
        <a:srgbClr val="E6C97A"/>
      </a:accent6>
      <a:hlink>
        <a:srgbClr val="E6C97A"/>
      </a:hlink>
      <a:folHlink>
        <a:srgbClr val="C9A24B"/>
      </a:folHlink>
    </a:clrScheme>
    <a:fontScheme name="Small Africa">
      <a:majorFont>
        <a:latin typeface="Cormorant Garamond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nrop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2669</Words>
  <Application>Microsoft Office PowerPoint</Application>
  <PresentationFormat>Widescreen</PresentationFormat>
  <Paragraphs>297</Paragraphs>
  <Slides>18</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Cormorant Garamond SemiBold</vt:lpstr>
      <vt:lpstr>Calibri</vt:lpstr>
      <vt:lpstr>Manrope SemiBold</vt:lpstr>
      <vt:lpstr>Italiana</vt:lpstr>
      <vt:lpstr>Manrope</vt:lpstr>
      <vt:lpstr>Arial</vt:lpstr>
      <vt:lpstr>Small Africa</vt:lpstr>
      <vt:lpstr>PowerPoint Presentation</vt:lpstr>
      <vt:lpstr>The table Lagos talks about, and the easiest one to book</vt:lpstr>
      <vt:lpstr>Great food is not enough to fill a room</vt:lpstr>
      <vt:lpstr>One platform for the guest and the team</vt:lpstr>
      <vt:lpstr>Gold on obsidian, with the warmth of three kitchens</vt:lpstr>
      <vt:lpstr>From a post on Instagram to a regular at the table</vt:lpstr>
      <vt:lpstr>Fifty-four dishes, each with its own page</vt:lpstr>
      <vt:lpstr>Tables that book themselves</vt:lpstr>
      <vt:lpstr>Order in a minute, pay the way Lagos pays</vt:lpstr>
      <vt:lpstr>Dining credit that earns interest</vt:lpstr>
      <vt:lpstr>The whole restaurant on one screen</vt:lpstr>
      <vt:lpstr>Built to protect guests, payments and the business</vt:lpstr>
      <vt:lpstr>Fast on a phone, even on a weak signal</vt:lpstr>
      <vt:lpstr>Ninety days to a full room and a thousand members</vt:lpstr>
      <vt:lpstr>From approval to opening night, then growth</vt:lpstr>
      <vt:lpstr>Three ways we keep it running</vt:lpstr>
      <vt:lpstr>PowerPoint Presentation</vt:lpstr>
      <vt:lpstr>PowerPoint Presentation</vt:lpstr>
    </vt:vector>
  </TitlesOfParts>
  <Company>Small Africa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Small Africa: client presentation</dc:title>
  <dc:subject>PptxGenJS Presentation</dc:subject>
  <dc:creator>Small Africa project team</dc:creator>
  <cp:lastModifiedBy>Samuel ozioma</cp:lastModifiedBy>
  <cp:revision>2</cp:revision>
  <dcterms:created xsi:type="dcterms:W3CDTF">2026-10-27T21:32:23Z</dcterms:created>
  <dcterms:modified xsi:type="dcterms:W3CDTF">2026-10-27T21:32:31Z</dcterms:modified>
</cp:coreProperties>
</file>